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Lato Light"/>
      <p:regular r:id="rId24"/>
      <p:bold r:id="rId25"/>
      <p:italic r:id="rId26"/>
      <p:boldItalic r:id="rId27"/>
    </p:embeddedFont>
    <p:embeddedFont>
      <p:font typeface="Helvetica Neue"/>
      <p:regular r:id="rId28"/>
      <p:bold r:id="rId29"/>
      <p:italic r:id="rId30"/>
      <p:boldItalic r:id="rId31"/>
    </p:embeddedFont>
    <p:embeddedFont>
      <p:font typeface="Roboto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LatoLight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LatoLight-italic.fntdata"/><Relationship Id="rId25" Type="http://schemas.openxmlformats.org/officeDocument/2006/relationships/font" Target="fonts/LatoLight-bold.fntdata"/><Relationship Id="rId28" Type="http://schemas.openxmlformats.org/officeDocument/2006/relationships/font" Target="fonts/HelveticaNeue-regular.fntdata"/><Relationship Id="rId27" Type="http://schemas.openxmlformats.org/officeDocument/2006/relationships/font" Target="fonts/LatoLight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HelveticaNeue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4.xml"/><Relationship Id="rId33" Type="http://schemas.openxmlformats.org/officeDocument/2006/relationships/font" Target="fonts/RobotoMono-bold.fntdata"/><Relationship Id="rId10" Type="http://schemas.openxmlformats.org/officeDocument/2006/relationships/slide" Target="slides/slide3.xml"/><Relationship Id="rId32" Type="http://schemas.openxmlformats.org/officeDocument/2006/relationships/font" Target="fonts/RobotoMono-regular.fntdata"/><Relationship Id="rId13" Type="http://schemas.openxmlformats.org/officeDocument/2006/relationships/slide" Target="slides/slide6.xml"/><Relationship Id="rId35" Type="http://schemas.openxmlformats.org/officeDocument/2006/relationships/font" Target="fonts/RobotoMono-boldItalic.fntdata"/><Relationship Id="rId12" Type="http://schemas.openxmlformats.org/officeDocument/2006/relationships/slide" Target="slides/slide5.xml"/><Relationship Id="rId34" Type="http://schemas.openxmlformats.org/officeDocument/2006/relationships/font" Target="fonts/RobotoMono-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f464ce461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1f464ce4615_0_42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f464ce4615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1f464ce4615_0_971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f464ce4615_0_2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1f464ce4615_0_2193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f49ad4e520_3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g1f49ad4e520_3_23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50bf8ab9e3a31e4b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50bf8ab9e3a31e4b_10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50bf8ab9e3a31e4b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g50bf8ab9e3a31e4b_28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50bf8ab9e3a31e4b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50bf8ab9e3a31e4b_37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50bf8ab9e3a31e4b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g50bf8ab9e3a31e4b_55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50bf8ab9e3a31e4b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g50bf8ab9e3a31e4b_64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50bf8ab9e3a31e4b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50bf8ab9e3a31e4b_82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50bf8ab9e3a31e4b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g50bf8ab9e3a31e4b_91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f464ce4615_0_2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g1f464ce4615_0_2056:notes"/>
          <p:cNvSpPr/>
          <p:nvPr>
            <p:ph idx="2" type="sldImg"/>
          </p:nvPr>
        </p:nvSpPr>
        <p:spPr>
          <a:xfrm>
            <a:off x="380206" y="685800"/>
            <a:ext cx="6097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">
  <p:cSld name="Blank_5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2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4" name="Google Shape;54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2">
  <p:cSld name="Diapositiva de título 2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1pPr>
            <a:lvl2pPr indent="-228600" lvl="1" marL="91440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2pPr>
            <a:lvl3pPr indent="-228600" lvl="2" marL="137160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3pPr>
            <a:lvl4pPr indent="-228600" lvl="3" marL="182880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4pPr>
            <a:lvl5pPr indent="-228600" lvl="4" marL="228600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5pPr>
            <a:lvl6pPr indent="-342900" lvl="5" marL="2743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8314188" y="4806394"/>
            <a:ext cx="2013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0" name="Google Shape;70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b="1" i="0" sz="3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5" name="Google Shape;7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b="0" i="0" sz="1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1"/>
          <p:cNvPicPr preferRelativeResize="0"/>
          <p:nvPr/>
        </p:nvPicPr>
        <p:blipFill rotWithShape="1">
          <a:blip r:embed="rId2">
            <a:alphaModFix/>
          </a:blip>
          <a:srcRect b="0" l="0" r="48272" t="0"/>
          <a:stretch/>
        </p:blipFill>
        <p:spPr>
          <a:xfrm>
            <a:off x="3" y="0"/>
            <a:ext cx="4003600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 123" id="79" name="Google Shape;79;p21"/>
          <p:cNvPicPr preferRelativeResize="0"/>
          <p:nvPr/>
        </p:nvPicPr>
        <p:blipFill rotWithShape="1">
          <a:blip r:embed="rId3">
            <a:alphaModFix/>
          </a:blip>
          <a:srcRect b="15707" l="35430" r="42082" t="18792"/>
          <a:stretch/>
        </p:blipFill>
        <p:spPr>
          <a:xfrm>
            <a:off x="8575725" y="4635525"/>
            <a:ext cx="307721" cy="41688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1"/>
          <p:cNvSpPr/>
          <p:nvPr/>
        </p:nvSpPr>
        <p:spPr>
          <a:xfrm>
            <a:off x="131225" y="4581175"/>
            <a:ext cx="786900" cy="47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17150" lIns="34300" spcFirstLastPara="1" rIns="34300" wrap="square" tIns="171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6">
  <p:cSld name="TITLE_16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17150" lIns="34300" spcFirstLastPara="1" rIns="34300" wrap="square" tIns="1715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5" name="Google Shape;85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17150" lIns="34300" spcFirstLastPara="1" rIns="34300" wrap="square" tIns="17150">
            <a:noAutofit/>
          </a:bodyPr>
          <a:lstStyle>
            <a:lvl1pPr lv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6" name="Google Shape;8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17150" lIns="34300" spcFirstLastPara="1" rIns="34300" wrap="square" tIns="171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 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type="title"/>
          </p:nvPr>
        </p:nvSpPr>
        <p:spPr>
          <a:xfrm>
            <a:off x="685800" y="1383507"/>
            <a:ext cx="7772400" cy="15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1371600" y="2914650"/>
            <a:ext cx="6400800" cy="22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indent="-228600" lvl="0" marL="45720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4"/>
          <p:cNvSpPr txBox="1"/>
          <p:nvPr>
            <p:ph idx="12" type="sldNum"/>
          </p:nvPr>
        </p:nvSpPr>
        <p:spPr>
          <a:xfrm>
            <a:off x="6553200" y="4780032"/>
            <a:ext cx="2133600" cy="2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>
  <p:cSld name="TITLE_17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idx="12" type="sldNum"/>
          </p:nvPr>
        </p:nvSpPr>
        <p:spPr>
          <a:xfrm>
            <a:off x="8321278" y="4802981"/>
            <a:ext cx="19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8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6"/>
          <p:cNvSpPr/>
          <p:nvPr/>
        </p:nvSpPr>
        <p:spPr>
          <a:xfrm>
            <a:off x="1" y="538593"/>
            <a:ext cx="92100" cy="671100"/>
          </a:xfrm>
          <a:prstGeom prst="rect">
            <a:avLst/>
          </a:prstGeom>
          <a:solidFill>
            <a:srgbClr val="FB3449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4E86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BF4E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n 4" id="95" name="Google Shape;95;p26"/>
          <p:cNvPicPr preferRelativeResize="0"/>
          <p:nvPr/>
        </p:nvPicPr>
        <p:blipFill rotWithShape="1">
          <a:blip r:embed="rId2">
            <a:alphaModFix/>
          </a:blip>
          <a:srcRect b="15712" l="35431" r="42082" t="18790"/>
          <a:stretch/>
        </p:blipFill>
        <p:spPr>
          <a:xfrm>
            <a:off x="8590951" y="4658500"/>
            <a:ext cx="307721" cy="416884"/>
          </a:xfrm>
          <a:prstGeom prst="rect">
            <a:avLst/>
          </a:prstGeom>
          <a:noFill/>
          <a:ln>
            <a:noFill/>
          </a:ln>
        </p:spPr>
      </p:pic>
      <p:sp>
        <p:nvSpPr>
          <p:cNvPr descr="Paralelogramo 4" id="96" name="Google Shape;96;p26"/>
          <p:cNvSpPr/>
          <p:nvPr/>
        </p:nvSpPr>
        <p:spPr>
          <a:xfrm>
            <a:off x="4357511" y="1"/>
            <a:ext cx="4786506" cy="5143500"/>
          </a:xfrm>
          <a:custGeom>
            <a:rect b="b" l="l" r="r" t="t"/>
            <a:pathLst>
              <a:path extrusionOk="0" h="21600" w="21600">
                <a:moveTo>
                  <a:pt x="0" y="21600"/>
                </a:moveTo>
                <a:lnTo>
                  <a:pt x="12884" y="0"/>
                </a:lnTo>
                <a:lnTo>
                  <a:pt x="21600" y="0"/>
                </a:lnTo>
                <a:lnTo>
                  <a:pt x="8716" y="21600"/>
                </a:lnTo>
                <a:close/>
              </a:path>
            </a:pathLst>
          </a:custGeom>
          <a:solidFill>
            <a:srgbClr val="808080">
              <a:alpha val="6669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 1">
  <p:cSld name="TITLE_19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 txBox="1"/>
          <p:nvPr>
            <p:ph idx="12" type="sldNum"/>
          </p:nvPr>
        </p:nvSpPr>
        <p:spPr>
          <a:xfrm>
            <a:off x="8321278" y="4802981"/>
            <a:ext cx="1929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 4 1 1">
  <p:cSld name="TITLE_2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8"/>
          <p:cNvSpPr txBox="1"/>
          <p:nvPr>
            <p:ph idx="12" type="sldNum"/>
          </p:nvPr>
        </p:nvSpPr>
        <p:spPr>
          <a:xfrm>
            <a:off x="8321278" y="4802981"/>
            <a:ext cx="192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_5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x">
  <p:cSld name="TITLE_AND_BOD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 123" id="109" name="Google Shape;109;p31"/>
          <p:cNvPicPr preferRelativeResize="0"/>
          <p:nvPr/>
        </p:nvPicPr>
        <p:blipFill rotWithShape="1">
          <a:blip r:embed="rId2">
            <a:alphaModFix/>
          </a:blip>
          <a:srcRect b="15707" l="35429" r="42081" t="18792"/>
          <a:stretch/>
        </p:blipFill>
        <p:spPr>
          <a:xfrm>
            <a:off x="8590950" y="4658500"/>
            <a:ext cx="307721" cy="416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1"/>
          <p:cNvSpPr txBox="1"/>
          <p:nvPr>
            <p:ph idx="12" type="sldNum"/>
          </p:nvPr>
        </p:nvSpPr>
        <p:spPr>
          <a:xfrm>
            <a:off x="8422858" y="4769513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2"/>
          <p:cNvSpPr txBox="1"/>
          <p:nvPr>
            <p:ph type="ctrTitle"/>
          </p:nvPr>
        </p:nvSpPr>
        <p:spPr>
          <a:xfrm>
            <a:off x="685800" y="1597820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2"/>
          <p:cNvSpPr txBox="1"/>
          <p:nvPr>
            <p:ph idx="1" type="subTitle"/>
          </p:nvPr>
        </p:nvSpPr>
        <p:spPr>
          <a:xfrm>
            <a:off x="1371600" y="2914650"/>
            <a:ext cx="64008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p32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2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2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3"/>
          <p:cNvSpPr txBox="1"/>
          <p:nvPr>
            <p:ph type="ctrTitle"/>
          </p:nvPr>
        </p:nvSpPr>
        <p:spPr>
          <a:xfrm>
            <a:off x="685800" y="1597820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/>
        </p:txBody>
      </p:sp>
      <p:sp>
        <p:nvSpPr>
          <p:cNvPr id="119" name="Google Shape;119;p33"/>
          <p:cNvSpPr txBox="1"/>
          <p:nvPr>
            <p:ph idx="1" type="subTitle"/>
          </p:nvPr>
        </p:nvSpPr>
        <p:spPr>
          <a:xfrm>
            <a:off x="1371600" y="2914650"/>
            <a:ext cx="64008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33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21" name="Google Shape;121;p33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22" name="Google Shape;122;p33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4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4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34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4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4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5"/>
          <p:cNvSpPr txBox="1"/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5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2" name="Google Shape;132;p35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5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5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6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6"/>
          <p:cNvSpPr txBox="1"/>
          <p:nvPr>
            <p:ph idx="1" type="body"/>
          </p:nvPr>
        </p:nvSpPr>
        <p:spPr>
          <a:xfrm>
            <a:off x="457200" y="900114"/>
            <a:ext cx="4038600" cy="25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8" name="Google Shape;138;p36"/>
          <p:cNvSpPr txBox="1"/>
          <p:nvPr>
            <p:ph idx="2" type="body"/>
          </p:nvPr>
        </p:nvSpPr>
        <p:spPr>
          <a:xfrm>
            <a:off x="4648200" y="900114"/>
            <a:ext cx="4038600" cy="25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39" name="Google Shape;139;p36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6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7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7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5" name="Google Shape;145;p37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6" name="Google Shape;146;p37"/>
          <p:cNvSpPr txBox="1"/>
          <p:nvPr>
            <p:ph idx="3" type="body"/>
          </p:nvPr>
        </p:nvSpPr>
        <p:spPr>
          <a:xfrm>
            <a:off x="4645028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47" name="Google Shape;147;p37"/>
          <p:cNvSpPr txBox="1"/>
          <p:nvPr>
            <p:ph idx="4" type="body"/>
          </p:nvPr>
        </p:nvSpPr>
        <p:spPr>
          <a:xfrm>
            <a:off x="4645028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8" name="Google Shape;148;p37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7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7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8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38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9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9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9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0"/>
          <p:cNvSpPr txBox="1"/>
          <p:nvPr>
            <p:ph type="title"/>
          </p:nvPr>
        </p:nvSpPr>
        <p:spPr>
          <a:xfrm>
            <a:off x="457203" y="204787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40"/>
          <p:cNvSpPr txBox="1"/>
          <p:nvPr>
            <p:ph idx="1" type="body"/>
          </p:nvPr>
        </p:nvSpPr>
        <p:spPr>
          <a:xfrm>
            <a:off x="3575050" y="204789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63" name="Google Shape;163;p40"/>
          <p:cNvSpPr txBox="1"/>
          <p:nvPr>
            <p:ph idx="2" type="body"/>
          </p:nvPr>
        </p:nvSpPr>
        <p:spPr>
          <a:xfrm>
            <a:off x="457203" y="1076327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4" name="Google Shape;164;p40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40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40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1"/>
          <p:cNvSpPr txBox="1"/>
          <p:nvPr>
            <p:ph type="title"/>
          </p:nvPr>
        </p:nvSpPr>
        <p:spPr>
          <a:xfrm>
            <a:off x="1792288" y="3600451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41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0" name="Google Shape;170;p41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1" name="Google Shape;171;p41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41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41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2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42"/>
          <p:cNvSpPr txBox="1"/>
          <p:nvPr>
            <p:ph idx="1" type="body"/>
          </p:nvPr>
        </p:nvSpPr>
        <p:spPr>
          <a:xfrm rot="5400000">
            <a:off x="2874750" y="-1217399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42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42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42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3"/>
          <p:cNvSpPr txBox="1"/>
          <p:nvPr>
            <p:ph type="title"/>
          </p:nvPr>
        </p:nvSpPr>
        <p:spPr>
          <a:xfrm rot="5400000">
            <a:off x="6012600" y="771582"/>
            <a:ext cx="32910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3"/>
          <p:cNvSpPr txBox="1"/>
          <p:nvPr>
            <p:ph idx="1" type="body"/>
          </p:nvPr>
        </p:nvSpPr>
        <p:spPr>
          <a:xfrm rot="5400000">
            <a:off x="1821600" y="-1209618"/>
            <a:ext cx="32910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43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43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43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4"/>
          <p:cNvSpPr txBox="1"/>
          <p:nvPr>
            <p:ph idx="12" type="sldNum"/>
          </p:nvPr>
        </p:nvSpPr>
        <p:spPr>
          <a:xfrm>
            <a:off x="8422818" y="4769564"/>
            <a:ext cx="2640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_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">
  <p:cSld name="TITLE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47"/>
          <p:cNvPicPr preferRelativeResize="0"/>
          <p:nvPr/>
        </p:nvPicPr>
        <p:blipFill rotWithShape="1">
          <a:blip r:embed="rId2">
            <a:alphaModFix/>
          </a:blip>
          <a:srcRect b="0" l="0" r="48272" t="0"/>
          <a:stretch/>
        </p:blipFill>
        <p:spPr>
          <a:xfrm>
            <a:off x="3" y="0"/>
            <a:ext cx="4003600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 123" id="192" name="Google Shape;192;p47"/>
          <p:cNvPicPr preferRelativeResize="0"/>
          <p:nvPr/>
        </p:nvPicPr>
        <p:blipFill rotWithShape="1">
          <a:blip r:embed="rId3">
            <a:alphaModFix/>
          </a:blip>
          <a:srcRect b="15707" l="35430" r="42082" t="18792"/>
          <a:stretch/>
        </p:blipFill>
        <p:spPr>
          <a:xfrm>
            <a:off x="8575725" y="4635525"/>
            <a:ext cx="307721" cy="41688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7"/>
          <p:cNvSpPr/>
          <p:nvPr/>
        </p:nvSpPr>
        <p:spPr>
          <a:xfrm>
            <a:off x="131225" y="4581175"/>
            <a:ext cx="786900" cy="47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9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8"/>
          <p:cNvSpPr txBox="1"/>
          <p:nvPr>
            <p:ph type="ctrTitle"/>
          </p:nvPr>
        </p:nvSpPr>
        <p:spPr>
          <a:xfrm>
            <a:off x="685800" y="1597820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48"/>
          <p:cNvSpPr txBox="1"/>
          <p:nvPr>
            <p:ph idx="1" type="subTitle"/>
          </p:nvPr>
        </p:nvSpPr>
        <p:spPr>
          <a:xfrm>
            <a:off x="1371600" y="2914650"/>
            <a:ext cx="6400800" cy="13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7" name="Google Shape;197;p48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8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8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 4 1">
  <p:cSld name="TITLE_2_2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9"/>
          <p:cNvSpPr txBox="1"/>
          <p:nvPr>
            <p:ph idx="12" type="sldNum"/>
          </p:nvPr>
        </p:nvSpPr>
        <p:spPr>
          <a:xfrm>
            <a:off x="8321278" y="4802981"/>
            <a:ext cx="192900" cy="2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20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4">
  <p:cSld name="TITLE_18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4" name="Google Shape;204;p50"/>
          <p:cNvSpPr txBox="1"/>
          <p:nvPr>
            <p:ph idx="1" type="subTitle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5" name="Google Shape;205;p5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6" name="Google Shape;206;p5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7" name="Google Shape;207;p5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lvetica Neue"/>
              <a:buNone/>
              <a:defRPr b="1" i="0" sz="3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Helvetica Neue"/>
              <a:buNone/>
              <a:defRPr b="0" i="0" sz="5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10" name="Google Shape;210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None/>
              <a:defRPr b="0" i="0" sz="1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 Mono"/>
              <a:buNone/>
              <a:defRPr b="0" i="0" sz="2800" u="none" cap="none" strike="noStrike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/>
        </p:txBody>
      </p:sp>
      <p:sp>
        <p:nvSpPr>
          <p:cNvPr id="211" name="Google Shape;21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6">
  <p:cSld name="TITLE_16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4" name="Google Shape;214;p5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5" name="Google Shape;21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 2">
  <p:cSld name="Diapositiva de título 2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3"/>
          <p:cNvSpPr txBox="1"/>
          <p:nvPr>
            <p:ph type="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34275" spcFirstLastPara="1" rIns="34275" wrap="square" tIns="34275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8" name="Google Shape;218;p53"/>
          <p:cNvSpPr txBox="1"/>
          <p:nvPr>
            <p:ph idx="1" type="body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1pPr>
            <a:lvl2pPr indent="-228600" lvl="1" marL="91440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2pPr>
            <a:lvl3pPr indent="-228600" lvl="2" marL="137160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3pPr>
            <a:lvl4pPr indent="-228600" lvl="3" marL="182880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4pPr>
            <a:lvl5pPr indent="-228600" lvl="4" marL="2286000" rtl="0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sz="1800"/>
            </a:lvl5pPr>
            <a:lvl6pPr indent="-342900" lvl="5" marL="2743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53"/>
          <p:cNvSpPr txBox="1"/>
          <p:nvPr>
            <p:ph idx="12" type="sldNum"/>
          </p:nvPr>
        </p:nvSpPr>
        <p:spPr>
          <a:xfrm>
            <a:off x="8314188" y="4806394"/>
            <a:ext cx="201300" cy="1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 sz="12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0.xml"/><Relationship Id="rId24" Type="http://schemas.openxmlformats.org/officeDocument/2006/relationships/theme" Target="../theme/theme4.xml"/><Relationship Id="rId12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50.xml"/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6.xml"/><Relationship Id="rId6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45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3549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11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11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11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11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0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4" name="Google Shape;104;p30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30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30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30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3549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4072" y="2261344"/>
            <a:ext cx="1515406" cy="620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3549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55"/>
          <p:cNvPicPr preferRelativeResize="0"/>
          <p:nvPr/>
        </p:nvPicPr>
        <p:blipFill rotWithShape="1">
          <a:blip r:embed="rId3">
            <a:alphaModFix/>
          </a:blip>
          <a:srcRect b="2067" l="1205" r="0" t="1750"/>
          <a:stretch/>
        </p:blipFill>
        <p:spPr>
          <a:xfrm rot="5400000">
            <a:off x="5334274" y="-244694"/>
            <a:ext cx="5943216" cy="434280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55"/>
          <p:cNvSpPr/>
          <p:nvPr/>
        </p:nvSpPr>
        <p:spPr>
          <a:xfrm>
            <a:off x="-86600" y="4655451"/>
            <a:ext cx="9486000" cy="692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pe 123" id="231" name="Google Shape;231;p55"/>
          <p:cNvPicPr preferRelativeResize="0"/>
          <p:nvPr/>
        </p:nvPicPr>
        <p:blipFill rotWithShape="1">
          <a:blip r:embed="rId4">
            <a:alphaModFix/>
          </a:blip>
          <a:srcRect b="15707" l="35428" r="42081" t="18792"/>
          <a:stretch/>
        </p:blipFill>
        <p:spPr>
          <a:xfrm>
            <a:off x="8740648" y="4795697"/>
            <a:ext cx="212093" cy="28726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55"/>
          <p:cNvSpPr txBox="1"/>
          <p:nvPr/>
        </p:nvSpPr>
        <p:spPr>
          <a:xfrm>
            <a:off x="1092500" y="893250"/>
            <a:ext cx="1293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5"/>
          <p:cNvSpPr txBox="1"/>
          <p:nvPr/>
        </p:nvSpPr>
        <p:spPr>
          <a:xfrm>
            <a:off x="713250" y="1585625"/>
            <a:ext cx="6482400" cy="10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i="1" lang="es" sz="3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Benchmark</a:t>
            </a:r>
            <a:endParaRPr i="1" sz="36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1" lang="es" sz="36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industria de interés_</a:t>
            </a:r>
            <a:endParaRPr b="1" i="1" sz="36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1" sz="3600" u="none" cap="none" strike="noStrike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1" lang="es" sz="3600" u="none" cap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0" i="1" sz="3600" u="none" cap="none" strike="noStrike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1" sz="2700" u="none" cap="none" strike="noStrike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1" sz="2700" u="none" cap="none" strike="noStrike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34" name="Google Shape;234;p55"/>
          <p:cNvPicPr preferRelativeResize="0"/>
          <p:nvPr/>
        </p:nvPicPr>
        <p:blipFill rotWithShape="1">
          <a:blip r:embed="rId5">
            <a:alphaModFix amt="55000"/>
          </a:blip>
          <a:srcRect b="3954" l="0" r="4452" t="4929"/>
          <a:stretch/>
        </p:blipFill>
        <p:spPr>
          <a:xfrm>
            <a:off x="4908793" y="-27628"/>
            <a:ext cx="4708116" cy="4654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6"/>
          <p:cNvSpPr/>
          <p:nvPr/>
        </p:nvSpPr>
        <p:spPr>
          <a:xfrm>
            <a:off x="-25" y="2571750"/>
            <a:ext cx="9144000" cy="2571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56"/>
          <p:cNvSpPr txBox="1"/>
          <p:nvPr/>
        </p:nvSpPr>
        <p:spPr>
          <a:xfrm>
            <a:off x="268423" y="941325"/>
            <a:ext cx="1841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Nombre estudiante - industria de interés</a:t>
            </a:r>
            <a:endParaRPr sz="8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41" name="Google Shape;241;p56"/>
          <p:cNvSpPr txBox="1"/>
          <p:nvPr/>
        </p:nvSpPr>
        <p:spPr>
          <a:xfrm>
            <a:off x="1044146" y="1354575"/>
            <a:ext cx="3454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RESUMEN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 un </a:t>
            </a:r>
            <a:r>
              <a:rPr i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twit</a:t>
            </a: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explicar qué hace.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¿Cuál es su propuesta de valor?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¿Qué problema pretende resolver?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56"/>
          <p:cNvSpPr txBox="1"/>
          <p:nvPr/>
        </p:nvSpPr>
        <p:spPr>
          <a:xfrm>
            <a:off x="268425" y="545700"/>
            <a:ext cx="5839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300">
                <a:solidFill>
                  <a:srgbClr val="363D48"/>
                </a:solidFill>
                <a:latin typeface="Roboto Mono"/>
                <a:ea typeface="Roboto Mono"/>
                <a:cs typeface="Roboto Mono"/>
                <a:sym typeface="Roboto Mono"/>
              </a:rPr>
              <a:t>Nombre Referente</a:t>
            </a:r>
            <a:endParaRPr b="1" sz="2300">
              <a:solidFill>
                <a:srgbClr val="363D4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43" name="Google Shape;243;p56"/>
          <p:cNvPicPr preferRelativeResize="0"/>
          <p:nvPr/>
        </p:nvPicPr>
        <p:blipFill rotWithShape="1">
          <a:blip r:embed="rId3">
            <a:alphaModFix amt="60000"/>
          </a:blip>
          <a:srcRect b="20242" l="0" r="0" t="0"/>
          <a:stretch/>
        </p:blipFill>
        <p:spPr>
          <a:xfrm>
            <a:off x="96462" y="4714325"/>
            <a:ext cx="699875" cy="30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 123" id="244" name="Google Shape;244;p56"/>
          <p:cNvPicPr preferRelativeResize="0"/>
          <p:nvPr/>
        </p:nvPicPr>
        <p:blipFill rotWithShape="1">
          <a:blip r:embed="rId4">
            <a:alphaModFix/>
          </a:blip>
          <a:srcRect b="15707" l="35428" r="42081" t="18792"/>
          <a:stretch/>
        </p:blipFill>
        <p:spPr>
          <a:xfrm>
            <a:off x="8740648" y="4722634"/>
            <a:ext cx="212093" cy="28726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56"/>
          <p:cNvSpPr/>
          <p:nvPr/>
        </p:nvSpPr>
        <p:spPr>
          <a:xfrm>
            <a:off x="321746" y="471897"/>
            <a:ext cx="249300" cy="28800"/>
          </a:xfrm>
          <a:prstGeom prst="rect">
            <a:avLst/>
          </a:prstGeom>
          <a:solidFill>
            <a:srgbClr val="F93549"/>
          </a:solidFill>
          <a:ln cap="flat" cmpd="sng" w="19050">
            <a:solidFill>
              <a:srgbClr val="F9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6"/>
          <p:cNvSpPr txBox="1"/>
          <p:nvPr/>
        </p:nvSpPr>
        <p:spPr>
          <a:xfrm>
            <a:off x="830975" y="3028950"/>
            <a:ext cx="7482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MODELO DE NEGOCIOS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Explicar un poco más en detalle que hace y cómo lo hace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-¿Cuál es su modelo de negocios?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-¿De dónde recibe ingresos?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-¿Cuáles son sus activos estratégicos?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-¿Quiénes son sus clientes?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-¿Qué mercados atiende? ¿Dónde atiende a sus clientes?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7" name="Google Shape;247;p56"/>
          <p:cNvSpPr txBox="1"/>
          <p:nvPr/>
        </p:nvSpPr>
        <p:spPr>
          <a:xfrm>
            <a:off x="5593868" y="1303166"/>
            <a:ext cx="23865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ATRIBUTO DIFERENCIADOR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¿Cuál es su factor X que lo hace que </a:t>
            </a: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tú</a:t>
            </a: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lo elijas como referente?</a:t>
            </a: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8" name="Google Shape;248;p56"/>
          <p:cNvCxnSpPr/>
          <p:nvPr/>
        </p:nvCxnSpPr>
        <p:spPr>
          <a:xfrm>
            <a:off x="4572000" y="1310925"/>
            <a:ext cx="0" cy="84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56"/>
          <p:cNvSpPr/>
          <p:nvPr/>
        </p:nvSpPr>
        <p:spPr>
          <a:xfrm>
            <a:off x="4859318" y="1329126"/>
            <a:ext cx="565800" cy="565800"/>
          </a:xfrm>
          <a:prstGeom prst="ellipse">
            <a:avLst/>
          </a:prstGeom>
          <a:solidFill>
            <a:srgbClr val="66666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9453" y="1444106"/>
            <a:ext cx="353700" cy="35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56"/>
          <p:cNvSpPr/>
          <p:nvPr/>
        </p:nvSpPr>
        <p:spPr>
          <a:xfrm>
            <a:off x="404993" y="1452676"/>
            <a:ext cx="565800" cy="565800"/>
          </a:xfrm>
          <a:prstGeom prst="ellipse">
            <a:avLst/>
          </a:prstGeom>
          <a:solidFill>
            <a:srgbClr val="66666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400" y="1633701"/>
            <a:ext cx="249300" cy="2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4400" y="2980050"/>
            <a:ext cx="353700" cy="3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7"/>
          <p:cNvSpPr txBox="1"/>
          <p:nvPr/>
        </p:nvSpPr>
        <p:spPr>
          <a:xfrm>
            <a:off x="268427" y="941325"/>
            <a:ext cx="3633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Nombre estudiante - Industria de interés - Nombre referente</a:t>
            </a:r>
            <a:endParaRPr sz="8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59" name="Google Shape;259;p57"/>
          <p:cNvSpPr/>
          <p:nvPr/>
        </p:nvSpPr>
        <p:spPr>
          <a:xfrm>
            <a:off x="7101321" y="4431250"/>
            <a:ext cx="54600" cy="54600"/>
          </a:xfrm>
          <a:prstGeom prst="ellipse">
            <a:avLst/>
          </a:prstGeom>
          <a:solidFill>
            <a:srgbClr val="88C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7"/>
          <p:cNvSpPr txBox="1"/>
          <p:nvPr/>
        </p:nvSpPr>
        <p:spPr>
          <a:xfrm>
            <a:off x="268425" y="545700"/>
            <a:ext cx="58395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300">
                <a:solidFill>
                  <a:srgbClr val="363D48"/>
                </a:solidFill>
                <a:latin typeface="Roboto Mono"/>
                <a:ea typeface="Roboto Mono"/>
                <a:cs typeface="Roboto Mono"/>
                <a:sym typeface="Roboto Mono"/>
              </a:rPr>
              <a:t>Imágenes de referencia</a:t>
            </a:r>
            <a:endParaRPr b="1" sz="2300">
              <a:solidFill>
                <a:srgbClr val="363D4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61" name="Google Shape;261;p57"/>
          <p:cNvPicPr preferRelativeResize="0"/>
          <p:nvPr/>
        </p:nvPicPr>
        <p:blipFill rotWithShape="1">
          <a:blip r:embed="rId3">
            <a:alphaModFix amt="60000"/>
          </a:blip>
          <a:srcRect b="20242" l="0" r="0" t="0"/>
          <a:stretch/>
        </p:blipFill>
        <p:spPr>
          <a:xfrm>
            <a:off x="96462" y="4714325"/>
            <a:ext cx="699875" cy="30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 123" id="262" name="Google Shape;262;p57"/>
          <p:cNvPicPr preferRelativeResize="0"/>
          <p:nvPr/>
        </p:nvPicPr>
        <p:blipFill rotWithShape="1">
          <a:blip r:embed="rId4">
            <a:alphaModFix/>
          </a:blip>
          <a:srcRect b="15707" l="35428" r="42081" t="18792"/>
          <a:stretch/>
        </p:blipFill>
        <p:spPr>
          <a:xfrm>
            <a:off x="8740648" y="4722634"/>
            <a:ext cx="212093" cy="28726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7"/>
          <p:cNvSpPr/>
          <p:nvPr/>
        </p:nvSpPr>
        <p:spPr>
          <a:xfrm>
            <a:off x="321746" y="471897"/>
            <a:ext cx="249300" cy="28800"/>
          </a:xfrm>
          <a:prstGeom prst="rect">
            <a:avLst/>
          </a:prstGeom>
          <a:solidFill>
            <a:srgbClr val="F93549"/>
          </a:solidFill>
          <a:ln cap="flat" cmpd="sng" w="19050">
            <a:solidFill>
              <a:srgbClr val="F9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8"/>
          <p:cNvSpPr/>
          <p:nvPr/>
        </p:nvSpPr>
        <p:spPr>
          <a:xfrm>
            <a:off x="-25" y="2571750"/>
            <a:ext cx="9144000" cy="2571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8"/>
          <p:cNvSpPr txBox="1"/>
          <p:nvPr/>
        </p:nvSpPr>
        <p:spPr>
          <a:xfrm>
            <a:off x="268423" y="941325"/>
            <a:ext cx="1841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Nombre estudiante - Industria de interés</a:t>
            </a:r>
            <a:endParaRPr sz="8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70" name="Google Shape;270;p58"/>
          <p:cNvSpPr txBox="1"/>
          <p:nvPr/>
        </p:nvSpPr>
        <p:spPr>
          <a:xfrm>
            <a:off x="1044146" y="1354575"/>
            <a:ext cx="3454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RESUMEN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 un </a:t>
            </a:r>
            <a:r>
              <a:rPr i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twit</a:t>
            </a: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explicar qué hace.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¿Cuál es su propuesta de valor?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¿Qué problema pretende resolver?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1" name="Google Shape;271;p58"/>
          <p:cNvSpPr txBox="1"/>
          <p:nvPr/>
        </p:nvSpPr>
        <p:spPr>
          <a:xfrm>
            <a:off x="268425" y="545700"/>
            <a:ext cx="5839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300">
                <a:solidFill>
                  <a:srgbClr val="363D48"/>
                </a:solidFill>
                <a:latin typeface="Roboto Mono"/>
                <a:ea typeface="Roboto Mono"/>
                <a:cs typeface="Roboto Mono"/>
                <a:sym typeface="Roboto Mono"/>
              </a:rPr>
              <a:t>Nombre Referente</a:t>
            </a:r>
            <a:endParaRPr b="1" sz="2300">
              <a:solidFill>
                <a:srgbClr val="363D4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72" name="Google Shape;272;p58"/>
          <p:cNvPicPr preferRelativeResize="0"/>
          <p:nvPr/>
        </p:nvPicPr>
        <p:blipFill rotWithShape="1">
          <a:blip r:embed="rId3">
            <a:alphaModFix amt="60000"/>
          </a:blip>
          <a:srcRect b="20242" l="0" r="0" t="0"/>
          <a:stretch/>
        </p:blipFill>
        <p:spPr>
          <a:xfrm>
            <a:off x="96462" y="4714325"/>
            <a:ext cx="699875" cy="30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 123" id="273" name="Google Shape;273;p58"/>
          <p:cNvPicPr preferRelativeResize="0"/>
          <p:nvPr/>
        </p:nvPicPr>
        <p:blipFill rotWithShape="1">
          <a:blip r:embed="rId4">
            <a:alphaModFix/>
          </a:blip>
          <a:srcRect b="15707" l="35428" r="42081" t="18792"/>
          <a:stretch/>
        </p:blipFill>
        <p:spPr>
          <a:xfrm>
            <a:off x="8740648" y="4722634"/>
            <a:ext cx="212093" cy="28726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58"/>
          <p:cNvSpPr/>
          <p:nvPr/>
        </p:nvSpPr>
        <p:spPr>
          <a:xfrm>
            <a:off x="321746" y="471897"/>
            <a:ext cx="249300" cy="28800"/>
          </a:xfrm>
          <a:prstGeom prst="rect">
            <a:avLst/>
          </a:prstGeom>
          <a:solidFill>
            <a:srgbClr val="F93549"/>
          </a:solidFill>
          <a:ln cap="flat" cmpd="sng" w="19050">
            <a:solidFill>
              <a:srgbClr val="F9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8"/>
          <p:cNvSpPr txBox="1"/>
          <p:nvPr/>
        </p:nvSpPr>
        <p:spPr>
          <a:xfrm>
            <a:off x="830975" y="3028950"/>
            <a:ext cx="7482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MODELO DE NEGOCIOS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Explicar un poco más en detalle que hace y cómo lo hace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-¿Cuál es su modelo de negocios?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-¿De dónde recibe ingresos?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-¿Cuáles son sus activos estratégicos?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-¿Quiénes son sus clientes?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-¿Qué mercados atiende? ¿Dónde atiende a sus clientes?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58"/>
          <p:cNvSpPr txBox="1"/>
          <p:nvPr/>
        </p:nvSpPr>
        <p:spPr>
          <a:xfrm>
            <a:off x="5593868" y="1303166"/>
            <a:ext cx="23865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ATRIBUTO DIFERENCIADOR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¿Cuál es su factor X que lo hace que </a:t>
            </a: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tú</a:t>
            </a: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lo elijas como referente? 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77" name="Google Shape;277;p58"/>
          <p:cNvCxnSpPr/>
          <p:nvPr/>
        </p:nvCxnSpPr>
        <p:spPr>
          <a:xfrm>
            <a:off x="4572000" y="1310925"/>
            <a:ext cx="0" cy="84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58"/>
          <p:cNvSpPr/>
          <p:nvPr/>
        </p:nvSpPr>
        <p:spPr>
          <a:xfrm>
            <a:off x="4859318" y="1329126"/>
            <a:ext cx="565800" cy="565800"/>
          </a:xfrm>
          <a:prstGeom prst="ellipse">
            <a:avLst/>
          </a:prstGeom>
          <a:solidFill>
            <a:srgbClr val="66666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9" name="Google Shape;279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9453" y="1444106"/>
            <a:ext cx="353700" cy="35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8"/>
          <p:cNvSpPr/>
          <p:nvPr/>
        </p:nvSpPr>
        <p:spPr>
          <a:xfrm>
            <a:off x="404993" y="1452676"/>
            <a:ext cx="565800" cy="565800"/>
          </a:xfrm>
          <a:prstGeom prst="ellipse">
            <a:avLst/>
          </a:prstGeom>
          <a:solidFill>
            <a:srgbClr val="66666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400" y="1633701"/>
            <a:ext cx="249300" cy="2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4400" y="2980050"/>
            <a:ext cx="353700" cy="3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9"/>
          <p:cNvSpPr txBox="1"/>
          <p:nvPr/>
        </p:nvSpPr>
        <p:spPr>
          <a:xfrm>
            <a:off x="268427" y="941325"/>
            <a:ext cx="3633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Nombre estudiante - Industria de interés - Nombre referente</a:t>
            </a:r>
            <a:endParaRPr sz="8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88" name="Google Shape;288;p59"/>
          <p:cNvSpPr/>
          <p:nvPr/>
        </p:nvSpPr>
        <p:spPr>
          <a:xfrm>
            <a:off x="7101321" y="4431250"/>
            <a:ext cx="54600" cy="54600"/>
          </a:xfrm>
          <a:prstGeom prst="ellipse">
            <a:avLst/>
          </a:prstGeom>
          <a:solidFill>
            <a:srgbClr val="88C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59"/>
          <p:cNvSpPr txBox="1"/>
          <p:nvPr/>
        </p:nvSpPr>
        <p:spPr>
          <a:xfrm>
            <a:off x="268425" y="545700"/>
            <a:ext cx="58395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300">
                <a:solidFill>
                  <a:srgbClr val="363D48"/>
                </a:solidFill>
                <a:latin typeface="Roboto Mono"/>
                <a:ea typeface="Roboto Mono"/>
                <a:cs typeface="Roboto Mono"/>
                <a:sym typeface="Roboto Mono"/>
              </a:rPr>
              <a:t>Imágenes de referencia</a:t>
            </a:r>
            <a:endParaRPr b="1" sz="2300">
              <a:solidFill>
                <a:srgbClr val="363D4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290" name="Google Shape;290;p59"/>
          <p:cNvPicPr preferRelativeResize="0"/>
          <p:nvPr/>
        </p:nvPicPr>
        <p:blipFill rotWithShape="1">
          <a:blip r:embed="rId3">
            <a:alphaModFix amt="60000"/>
          </a:blip>
          <a:srcRect b="20242" l="0" r="0" t="0"/>
          <a:stretch/>
        </p:blipFill>
        <p:spPr>
          <a:xfrm>
            <a:off x="96462" y="4714325"/>
            <a:ext cx="699875" cy="30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 123" id="291" name="Google Shape;291;p59"/>
          <p:cNvPicPr preferRelativeResize="0"/>
          <p:nvPr/>
        </p:nvPicPr>
        <p:blipFill rotWithShape="1">
          <a:blip r:embed="rId4">
            <a:alphaModFix/>
          </a:blip>
          <a:srcRect b="15707" l="35428" r="42081" t="18792"/>
          <a:stretch/>
        </p:blipFill>
        <p:spPr>
          <a:xfrm>
            <a:off x="8740648" y="4722634"/>
            <a:ext cx="212093" cy="28726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59"/>
          <p:cNvSpPr/>
          <p:nvPr/>
        </p:nvSpPr>
        <p:spPr>
          <a:xfrm>
            <a:off x="321746" y="471897"/>
            <a:ext cx="249300" cy="28800"/>
          </a:xfrm>
          <a:prstGeom prst="rect">
            <a:avLst/>
          </a:prstGeom>
          <a:solidFill>
            <a:srgbClr val="F93549"/>
          </a:solidFill>
          <a:ln cap="flat" cmpd="sng" w="19050">
            <a:solidFill>
              <a:srgbClr val="F9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60"/>
          <p:cNvSpPr/>
          <p:nvPr/>
        </p:nvSpPr>
        <p:spPr>
          <a:xfrm>
            <a:off x="-25" y="2571750"/>
            <a:ext cx="9144000" cy="2571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0"/>
          <p:cNvSpPr txBox="1"/>
          <p:nvPr/>
        </p:nvSpPr>
        <p:spPr>
          <a:xfrm>
            <a:off x="268423" y="941325"/>
            <a:ext cx="1841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Nombre estudiante - Industria de interés</a:t>
            </a:r>
            <a:endParaRPr sz="8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299" name="Google Shape;299;p60"/>
          <p:cNvSpPr txBox="1"/>
          <p:nvPr/>
        </p:nvSpPr>
        <p:spPr>
          <a:xfrm>
            <a:off x="1044146" y="1354575"/>
            <a:ext cx="3454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RESUMEN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 un </a:t>
            </a:r>
            <a:r>
              <a:rPr i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twit</a:t>
            </a: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explicar qué hace.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¿Cuál es su propuesta de valor?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¿Qué problema pretende resolver?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0" name="Google Shape;300;p60"/>
          <p:cNvSpPr txBox="1"/>
          <p:nvPr/>
        </p:nvSpPr>
        <p:spPr>
          <a:xfrm>
            <a:off x="268425" y="545700"/>
            <a:ext cx="5839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300">
                <a:solidFill>
                  <a:srgbClr val="363D48"/>
                </a:solidFill>
                <a:latin typeface="Roboto Mono"/>
                <a:ea typeface="Roboto Mono"/>
                <a:cs typeface="Roboto Mono"/>
                <a:sym typeface="Roboto Mono"/>
              </a:rPr>
              <a:t>Nombre Referente</a:t>
            </a:r>
            <a:endParaRPr b="1" sz="2300">
              <a:solidFill>
                <a:srgbClr val="363D4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01" name="Google Shape;301;p60"/>
          <p:cNvPicPr preferRelativeResize="0"/>
          <p:nvPr/>
        </p:nvPicPr>
        <p:blipFill rotWithShape="1">
          <a:blip r:embed="rId3">
            <a:alphaModFix amt="60000"/>
          </a:blip>
          <a:srcRect b="20242" l="0" r="0" t="0"/>
          <a:stretch/>
        </p:blipFill>
        <p:spPr>
          <a:xfrm>
            <a:off x="96462" y="4714325"/>
            <a:ext cx="699875" cy="30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 123" id="302" name="Google Shape;302;p60"/>
          <p:cNvPicPr preferRelativeResize="0"/>
          <p:nvPr/>
        </p:nvPicPr>
        <p:blipFill rotWithShape="1">
          <a:blip r:embed="rId4">
            <a:alphaModFix/>
          </a:blip>
          <a:srcRect b="15707" l="35428" r="42081" t="18792"/>
          <a:stretch/>
        </p:blipFill>
        <p:spPr>
          <a:xfrm>
            <a:off x="8740648" y="4722634"/>
            <a:ext cx="212093" cy="28726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60"/>
          <p:cNvSpPr/>
          <p:nvPr/>
        </p:nvSpPr>
        <p:spPr>
          <a:xfrm>
            <a:off x="321746" y="471897"/>
            <a:ext cx="249300" cy="28800"/>
          </a:xfrm>
          <a:prstGeom prst="rect">
            <a:avLst/>
          </a:prstGeom>
          <a:solidFill>
            <a:srgbClr val="F93549"/>
          </a:solidFill>
          <a:ln cap="flat" cmpd="sng" w="19050">
            <a:solidFill>
              <a:srgbClr val="F9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0"/>
          <p:cNvSpPr txBox="1"/>
          <p:nvPr/>
        </p:nvSpPr>
        <p:spPr>
          <a:xfrm>
            <a:off x="830975" y="3028950"/>
            <a:ext cx="7482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MODELO DE NEGOCIOS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Explicar un poco más en detalle que hace y cómo lo hace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-¿Cuál es su modelo de negocios?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-¿De dónde recibe ingresos?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-¿Cuáles son sus activos estratégicos?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-¿Quiénes son sus clientes?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-¿Qué mercados atiende? ¿Dónde atiende a sus clientes?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5" name="Google Shape;305;p60"/>
          <p:cNvSpPr txBox="1"/>
          <p:nvPr/>
        </p:nvSpPr>
        <p:spPr>
          <a:xfrm>
            <a:off x="5593868" y="1303166"/>
            <a:ext cx="23865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ATRIBUTO DIFERENCIADOR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¿Cuál es su factor X que lo hace que </a:t>
            </a: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tú</a:t>
            </a: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lo elijas como referente? 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06" name="Google Shape;306;p60"/>
          <p:cNvCxnSpPr/>
          <p:nvPr/>
        </p:nvCxnSpPr>
        <p:spPr>
          <a:xfrm>
            <a:off x="4572000" y="1310925"/>
            <a:ext cx="0" cy="84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60"/>
          <p:cNvSpPr/>
          <p:nvPr/>
        </p:nvSpPr>
        <p:spPr>
          <a:xfrm>
            <a:off x="4859318" y="1329126"/>
            <a:ext cx="565800" cy="565800"/>
          </a:xfrm>
          <a:prstGeom prst="ellipse">
            <a:avLst/>
          </a:prstGeom>
          <a:solidFill>
            <a:srgbClr val="66666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8" name="Google Shape;308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9453" y="1444106"/>
            <a:ext cx="353700" cy="353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0"/>
          <p:cNvSpPr/>
          <p:nvPr/>
        </p:nvSpPr>
        <p:spPr>
          <a:xfrm>
            <a:off x="404993" y="1452676"/>
            <a:ext cx="565800" cy="565800"/>
          </a:xfrm>
          <a:prstGeom prst="ellipse">
            <a:avLst/>
          </a:prstGeom>
          <a:solidFill>
            <a:srgbClr val="66666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400" y="1633701"/>
            <a:ext cx="249300" cy="2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4400" y="2980050"/>
            <a:ext cx="353700" cy="3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1"/>
          <p:cNvSpPr txBox="1"/>
          <p:nvPr/>
        </p:nvSpPr>
        <p:spPr>
          <a:xfrm>
            <a:off x="268427" y="941325"/>
            <a:ext cx="3633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Nombre estudiante - Industria de interés - Nombre referente</a:t>
            </a:r>
            <a:endParaRPr sz="8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17" name="Google Shape;317;p61"/>
          <p:cNvSpPr/>
          <p:nvPr/>
        </p:nvSpPr>
        <p:spPr>
          <a:xfrm>
            <a:off x="7101321" y="4431250"/>
            <a:ext cx="54600" cy="54600"/>
          </a:xfrm>
          <a:prstGeom prst="ellipse">
            <a:avLst/>
          </a:prstGeom>
          <a:solidFill>
            <a:srgbClr val="88C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61"/>
          <p:cNvSpPr txBox="1"/>
          <p:nvPr/>
        </p:nvSpPr>
        <p:spPr>
          <a:xfrm>
            <a:off x="268425" y="545700"/>
            <a:ext cx="58395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300">
                <a:solidFill>
                  <a:srgbClr val="363D48"/>
                </a:solidFill>
                <a:latin typeface="Roboto Mono"/>
                <a:ea typeface="Roboto Mono"/>
                <a:cs typeface="Roboto Mono"/>
                <a:sym typeface="Roboto Mono"/>
              </a:rPr>
              <a:t>Imágenes de referencia</a:t>
            </a:r>
            <a:endParaRPr b="1" sz="2300">
              <a:solidFill>
                <a:srgbClr val="363D4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19" name="Google Shape;319;p61"/>
          <p:cNvPicPr preferRelativeResize="0"/>
          <p:nvPr/>
        </p:nvPicPr>
        <p:blipFill rotWithShape="1">
          <a:blip r:embed="rId3">
            <a:alphaModFix amt="60000"/>
          </a:blip>
          <a:srcRect b="20242" l="0" r="0" t="0"/>
          <a:stretch/>
        </p:blipFill>
        <p:spPr>
          <a:xfrm>
            <a:off x="96462" y="4714325"/>
            <a:ext cx="699875" cy="30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 123" id="320" name="Google Shape;320;p61"/>
          <p:cNvPicPr preferRelativeResize="0"/>
          <p:nvPr/>
        </p:nvPicPr>
        <p:blipFill rotWithShape="1">
          <a:blip r:embed="rId4">
            <a:alphaModFix/>
          </a:blip>
          <a:srcRect b="15707" l="35428" r="42081" t="18792"/>
          <a:stretch/>
        </p:blipFill>
        <p:spPr>
          <a:xfrm>
            <a:off x="8740648" y="4722634"/>
            <a:ext cx="212093" cy="28726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61"/>
          <p:cNvSpPr/>
          <p:nvPr/>
        </p:nvSpPr>
        <p:spPr>
          <a:xfrm>
            <a:off x="321746" y="471897"/>
            <a:ext cx="249300" cy="28800"/>
          </a:xfrm>
          <a:prstGeom prst="rect">
            <a:avLst/>
          </a:prstGeom>
          <a:solidFill>
            <a:srgbClr val="F93549"/>
          </a:solidFill>
          <a:ln cap="flat" cmpd="sng" w="19050">
            <a:solidFill>
              <a:srgbClr val="F9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62"/>
          <p:cNvSpPr/>
          <p:nvPr/>
        </p:nvSpPr>
        <p:spPr>
          <a:xfrm>
            <a:off x="-25" y="2571750"/>
            <a:ext cx="9144000" cy="25719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62"/>
          <p:cNvSpPr txBox="1"/>
          <p:nvPr/>
        </p:nvSpPr>
        <p:spPr>
          <a:xfrm>
            <a:off x="268423" y="941325"/>
            <a:ext cx="18417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Nombre estudiante - Industria de interés</a:t>
            </a:r>
            <a:endParaRPr sz="8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28" name="Google Shape;328;p62"/>
          <p:cNvSpPr txBox="1"/>
          <p:nvPr/>
        </p:nvSpPr>
        <p:spPr>
          <a:xfrm>
            <a:off x="1044146" y="1354575"/>
            <a:ext cx="3454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RESUMEN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 un </a:t>
            </a:r>
            <a:r>
              <a:rPr i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twit</a:t>
            </a: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explicar qué hace.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¿Cuál es su propuesta de valor?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¿Qué problema pretende resolver?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9" name="Google Shape;329;p62"/>
          <p:cNvSpPr txBox="1"/>
          <p:nvPr/>
        </p:nvSpPr>
        <p:spPr>
          <a:xfrm>
            <a:off x="268425" y="545700"/>
            <a:ext cx="5839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300">
                <a:solidFill>
                  <a:srgbClr val="363D48"/>
                </a:solidFill>
                <a:latin typeface="Roboto Mono"/>
                <a:ea typeface="Roboto Mono"/>
                <a:cs typeface="Roboto Mono"/>
                <a:sym typeface="Roboto Mono"/>
              </a:rPr>
              <a:t>Nombre Referente</a:t>
            </a:r>
            <a:endParaRPr b="1" sz="2300">
              <a:solidFill>
                <a:srgbClr val="363D4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30" name="Google Shape;330;p62"/>
          <p:cNvPicPr preferRelativeResize="0"/>
          <p:nvPr/>
        </p:nvPicPr>
        <p:blipFill rotWithShape="1">
          <a:blip r:embed="rId3">
            <a:alphaModFix amt="60000"/>
          </a:blip>
          <a:srcRect b="20242" l="0" r="0" t="0"/>
          <a:stretch/>
        </p:blipFill>
        <p:spPr>
          <a:xfrm>
            <a:off x="96462" y="4714325"/>
            <a:ext cx="699875" cy="30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 123" id="331" name="Google Shape;331;p62"/>
          <p:cNvPicPr preferRelativeResize="0"/>
          <p:nvPr/>
        </p:nvPicPr>
        <p:blipFill rotWithShape="1">
          <a:blip r:embed="rId4">
            <a:alphaModFix/>
          </a:blip>
          <a:srcRect b="15707" l="35428" r="42081" t="18792"/>
          <a:stretch/>
        </p:blipFill>
        <p:spPr>
          <a:xfrm>
            <a:off x="8740648" y="4722634"/>
            <a:ext cx="212093" cy="28726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62"/>
          <p:cNvSpPr/>
          <p:nvPr/>
        </p:nvSpPr>
        <p:spPr>
          <a:xfrm>
            <a:off x="321746" y="471897"/>
            <a:ext cx="249300" cy="28800"/>
          </a:xfrm>
          <a:prstGeom prst="rect">
            <a:avLst/>
          </a:prstGeom>
          <a:solidFill>
            <a:srgbClr val="F93549"/>
          </a:solidFill>
          <a:ln cap="flat" cmpd="sng" w="19050">
            <a:solidFill>
              <a:srgbClr val="F9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2"/>
          <p:cNvSpPr txBox="1"/>
          <p:nvPr/>
        </p:nvSpPr>
        <p:spPr>
          <a:xfrm>
            <a:off x="830975" y="3028950"/>
            <a:ext cx="7482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MODELO DE NEGOCIOS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Explicar un poco más en detalle que hace y cómo lo hace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-¿Cuál es su modelo de negocios?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-¿De dónde recibe ingresos?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-¿Cuáles son sus activos estratégicos?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-¿Quiénes son sus clientes?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-¿Qué mercados atiende? ¿Dónde atiende a sus clientes?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4" name="Google Shape;334;p62"/>
          <p:cNvSpPr txBox="1"/>
          <p:nvPr/>
        </p:nvSpPr>
        <p:spPr>
          <a:xfrm>
            <a:off x="5593868" y="1303166"/>
            <a:ext cx="23865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ATRIBUTO DIFERENCIADOR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¿Cuál es su factor X que lo hace que </a:t>
            </a: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tú</a:t>
            </a: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lo elijas como referente? 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35" name="Google Shape;335;p62"/>
          <p:cNvCxnSpPr/>
          <p:nvPr/>
        </p:nvCxnSpPr>
        <p:spPr>
          <a:xfrm>
            <a:off x="4572000" y="1310925"/>
            <a:ext cx="0" cy="84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62"/>
          <p:cNvSpPr/>
          <p:nvPr/>
        </p:nvSpPr>
        <p:spPr>
          <a:xfrm>
            <a:off x="4859318" y="1329126"/>
            <a:ext cx="565800" cy="565800"/>
          </a:xfrm>
          <a:prstGeom prst="ellipse">
            <a:avLst/>
          </a:prstGeom>
          <a:solidFill>
            <a:srgbClr val="66666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9453" y="1444106"/>
            <a:ext cx="353700" cy="353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62"/>
          <p:cNvSpPr/>
          <p:nvPr/>
        </p:nvSpPr>
        <p:spPr>
          <a:xfrm>
            <a:off x="404993" y="1452676"/>
            <a:ext cx="565800" cy="565800"/>
          </a:xfrm>
          <a:prstGeom prst="ellipse">
            <a:avLst/>
          </a:prstGeom>
          <a:solidFill>
            <a:srgbClr val="66666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7400" y="1633701"/>
            <a:ext cx="249300" cy="24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4400" y="2980050"/>
            <a:ext cx="353700" cy="3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3"/>
          <p:cNvSpPr txBox="1"/>
          <p:nvPr/>
        </p:nvSpPr>
        <p:spPr>
          <a:xfrm>
            <a:off x="268427" y="941325"/>
            <a:ext cx="3633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Nombre estudiante - Industria de interés - Nombre referente</a:t>
            </a:r>
            <a:endParaRPr sz="8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46" name="Google Shape;346;p63"/>
          <p:cNvSpPr/>
          <p:nvPr/>
        </p:nvSpPr>
        <p:spPr>
          <a:xfrm>
            <a:off x="7101321" y="4431250"/>
            <a:ext cx="54600" cy="54600"/>
          </a:xfrm>
          <a:prstGeom prst="ellipse">
            <a:avLst/>
          </a:prstGeom>
          <a:solidFill>
            <a:srgbClr val="88C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63"/>
          <p:cNvSpPr txBox="1"/>
          <p:nvPr/>
        </p:nvSpPr>
        <p:spPr>
          <a:xfrm>
            <a:off x="268425" y="545700"/>
            <a:ext cx="58395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300">
                <a:solidFill>
                  <a:srgbClr val="363D48"/>
                </a:solidFill>
                <a:latin typeface="Roboto Mono"/>
                <a:ea typeface="Roboto Mono"/>
                <a:cs typeface="Roboto Mono"/>
                <a:sym typeface="Roboto Mono"/>
              </a:rPr>
              <a:t>Imágenes de referencia</a:t>
            </a:r>
            <a:endParaRPr b="1" sz="2300">
              <a:solidFill>
                <a:srgbClr val="363D4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48" name="Google Shape;348;p63"/>
          <p:cNvPicPr preferRelativeResize="0"/>
          <p:nvPr/>
        </p:nvPicPr>
        <p:blipFill rotWithShape="1">
          <a:blip r:embed="rId3">
            <a:alphaModFix amt="60000"/>
          </a:blip>
          <a:srcRect b="20242" l="0" r="0" t="0"/>
          <a:stretch/>
        </p:blipFill>
        <p:spPr>
          <a:xfrm>
            <a:off x="96462" y="4714325"/>
            <a:ext cx="699875" cy="30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 123" id="349" name="Google Shape;349;p63"/>
          <p:cNvPicPr preferRelativeResize="0"/>
          <p:nvPr/>
        </p:nvPicPr>
        <p:blipFill rotWithShape="1">
          <a:blip r:embed="rId4">
            <a:alphaModFix/>
          </a:blip>
          <a:srcRect b="15707" l="35428" r="42081" t="18792"/>
          <a:stretch/>
        </p:blipFill>
        <p:spPr>
          <a:xfrm>
            <a:off x="8740648" y="4722634"/>
            <a:ext cx="212093" cy="28726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63"/>
          <p:cNvSpPr/>
          <p:nvPr/>
        </p:nvSpPr>
        <p:spPr>
          <a:xfrm>
            <a:off x="321746" y="471897"/>
            <a:ext cx="249300" cy="28800"/>
          </a:xfrm>
          <a:prstGeom prst="rect">
            <a:avLst/>
          </a:prstGeom>
          <a:solidFill>
            <a:srgbClr val="F93549"/>
          </a:solidFill>
          <a:ln cap="flat" cmpd="sng" w="19050">
            <a:solidFill>
              <a:srgbClr val="F9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4"/>
          <p:cNvSpPr txBox="1"/>
          <p:nvPr/>
        </p:nvSpPr>
        <p:spPr>
          <a:xfrm>
            <a:off x="268427" y="941325"/>
            <a:ext cx="3633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Lato Light"/>
                <a:ea typeface="Lato Light"/>
                <a:cs typeface="Lato Light"/>
                <a:sym typeface="Lato Light"/>
              </a:rPr>
              <a:t>Industria de interés </a:t>
            </a:r>
            <a:endParaRPr sz="800">
              <a:solidFill>
                <a:srgbClr val="434343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56" name="Google Shape;356;p64"/>
          <p:cNvSpPr/>
          <p:nvPr/>
        </p:nvSpPr>
        <p:spPr>
          <a:xfrm>
            <a:off x="7101321" y="4431250"/>
            <a:ext cx="54600" cy="54600"/>
          </a:xfrm>
          <a:prstGeom prst="ellipse">
            <a:avLst/>
          </a:prstGeom>
          <a:solidFill>
            <a:srgbClr val="88C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64"/>
          <p:cNvSpPr txBox="1"/>
          <p:nvPr/>
        </p:nvSpPr>
        <p:spPr>
          <a:xfrm>
            <a:off x="268425" y="545700"/>
            <a:ext cx="58395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150" lIns="34300" spcFirstLastPara="1" rIns="34300" wrap="square" tIns="1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300">
                <a:solidFill>
                  <a:srgbClr val="363D48"/>
                </a:solidFill>
                <a:latin typeface="Roboto Mono"/>
                <a:ea typeface="Roboto Mono"/>
                <a:cs typeface="Roboto Mono"/>
                <a:sym typeface="Roboto Mono"/>
              </a:rPr>
              <a:t>Benchmark</a:t>
            </a:r>
            <a:endParaRPr b="1" sz="2300">
              <a:solidFill>
                <a:srgbClr val="363D4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358" name="Google Shape;358;p64"/>
          <p:cNvPicPr preferRelativeResize="0"/>
          <p:nvPr/>
        </p:nvPicPr>
        <p:blipFill rotWithShape="1">
          <a:blip r:embed="rId3">
            <a:alphaModFix amt="60000"/>
          </a:blip>
          <a:srcRect b="20242" l="0" r="0" t="0"/>
          <a:stretch/>
        </p:blipFill>
        <p:spPr>
          <a:xfrm>
            <a:off x="96462" y="4714325"/>
            <a:ext cx="699875" cy="30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pe 123" id="359" name="Google Shape;359;p64"/>
          <p:cNvPicPr preferRelativeResize="0"/>
          <p:nvPr/>
        </p:nvPicPr>
        <p:blipFill rotWithShape="1">
          <a:blip r:embed="rId4">
            <a:alphaModFix/>
          </a:blip>
          <a:srcRect b="15707" l="35428" r="42081" t="18792"/>
          <a:stretch/>
        </p:blipFill>
        <p:spPr>
          <a:xfrm>
            <a:off x="8740648" y="4722634"/>
            <a:ext cx="212093" cy="28726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64"/>
          <p:cNvSpPr/>
          <p:nvPr/>
        </p:nvSpPr>
        <p:spPr>
          <a:xfrm>
            <a:off x="321746" y="471897"/>
            <a:ext cx="249300" cy="28800"/>
          </a:xfrm>
          <a:prstGeom prst="rect">
            <a:avLst/>
          </a:prstGeom>
          <a:solidFill>
            <a:srgbClr val="F93549"/>
          </a:solidFill>
          <a:ln cap="flat" cmpd="sng" w="19050">
            <a:solidFill>
              <a:srgbClr val="F935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64"/>
          <p:cNvSpPr/>
          <p:nvPr/>
        </p:nvSpPr>
        <p:spPr>
          <a:xfrm>
            <a:off x="718875" y="1238463"/>
            <a:ext cx="1436400" cy="789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EFEFEF"/>
                </a:solidFill>
                <a:latin typeface="Roboto Mono"/>
                <a:ea typeface="Roboto Mono"/>
                <a:cs typeface="Roboto Mono"/>
                <a:sym typeface="Roboto Mono"/>
              </a:rPr>
              <a:t>(imágen referencia)</a:t>
            </a:r>
            <a:endParaRPr sz="600">
              <a:solidFill>
                <a:srgbClr val="EFEFE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2" name="Google Shape;362;p64"/>
          <p:cNvSpPr txBox="1"/>
          <p:nvPr/>
        </p:nvSpPr>
        <p:spPr>
          <a:xfrm>
            <a:off x="754798" y="2027763"/>
            <a:ext cx="14004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NOMBRE REFERENTE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¿Qué hace?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¿Por qué es de valor?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3" name="Google Shape;363;p64"/>
          <p:cNvCxnSpPr/>
          <p:nvPr/>
        </p:nvCxnSpPr>
        <p:spPr>
          <a:xfrm>
            <a:off x="2482056" y="1238465"/>
            <a:ext cx="0" cy="311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64" name="Google Shape;364;p64"/>
          <p:cNvSpPr/>
          <p:nvPr/>
        </p:nvSpPr>
        <p:spPr>
          <a:xfrm>
            <a:off x="2808825" y="1238463"/>
            <a:ext cx="1436400" cy="789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EFEFEF"/>
                </a:solidFill>
                <a:latin typeface="Roboto Mono"/>
                <a:ea typeface="Roboto Mono"/>
                <a:cs typeface="Roboto Mono"/>
                <a:sym typeface="Roboto Mono"/>
              </a:rPr>
              <a:t>(imágen referencia)</a:t>
            </a:r>
            <a:endParaRPr sz="600">
              <a:solidFill>
                <a:srgbClr val="EFEFE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5" name="Google Shape;365;p64"/>
          <p:cNvSpPr txBox="1"/>
          <p:nvPr/>
        </p:nvSpPr>
        <p:spPr>
          <a:xfrm>
            <a:off x="2844748" y="2027763"/>
            <a:ext cx="14004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NOMBRE REFERENTE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¿Qué hace?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¿Por qué es de valor?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6" name="Google Shape;366;p64"/>
          <p:cNvCxnSpPr/>
          <p:nvPr/>
        </p:nvCxnSpPr>
        <p:spPr>
          <a:xfrm>
            <a:off x="4572006" y="1238465"/>
            <a:ext cx="0" cy="311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67" name="Google Shape;367;p64"/>
          <p:cNvSpPr/>
          <p:nvPr/>
        </p:nvSpPr>
        <p:spPr>
          <a:xfrm>
            <a:off x="4898775" y="1213563"/>
            <a:ext cx="1436400" cy="789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EFEFEF"/>
                </a:solidFill>
                <a:latin typeface="Roboto Mono"/>
                <a:ea typeface="Roboto Mono"/>
                <a:cs typeface="Roboto Mono"/>
                <a:sym typeface="Roboto Mono"/>
              </a:rPr>
              <a:t>(imágen referencia)</a:t>
            </a:r>
            <a:endParaRPr sz="600">
              <a:solidFill>
                <a:srgbClr val="EFEFE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68" name="Google Shape;368;p64"/>
          <p:cNvSpPr txBox="1"/>
          <p:nvPr/>
        </p:nvSpPr>
        <p:spPr>
          <a:xfrm>
            <a:off x="4934698" y="2002863"/>
            <a:ext cx="14004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NOMBRE REFERENTE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¿Qué hace?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¿Por qué es de valor?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69" name="Google Shape;369;p64"/>
          <p:cNvCxnSpPr/>
          <p:nvPr/>
        </p:nvCxnSpPr>
        <p:spPr>
          <a:xfrm>
            <a:off x="6661956" y="1213565"/>
            <a:ext cx="0" cy="311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70" name="Google Shape;370;p64"/>
          <p:cNvSpPr/>
          <p:nvPr/>
        </p:nvSpPr>
        <p:spPr>
          <a:xfrm>
            <a:off x="6988725" y="1213563"/>
            <a:ext cx="1436400" cy="789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EFEFEF"/>
                </a:solidFill>
                <a:latin typeface="Roboto Mono"/>
                <a:ea typeface="Roboto Mono"/>
                <a:cs typeface="Roboto Mono"/>
                <a:sym typeface="Roboto Mono"/>
              </a:rPr>
              <a:t>(imágen referencia)</a:t>
            </a:r>
            <a:endParaRPr sz="600">
              <a:solidFill>
                <a:srgbClr val="EFEFE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371" name="Google Shape;371;p64"/>
          <p:cNvSpPr txBox="1"/>
          <p:nvPr/>
        </p:nvSpPr>
        <p:spPr>
          <a:xfrm>
            <a:off x="7024648" y="2002863"/>
            <a:ext cx="14004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NOMBRE REFERENTE</a:t>
            </a:r>
            <a:endParaRPr b="1"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¿Qué hace?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¿Por qué es de valor?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3549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4297" y="2261344"/>
            <a:ext cx="1515406" cy="620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TSQ - Walden Dark">
      <a:dk1>
        <a:srgbClr val="FFFFFF"/>
      </a:dk1>
      <a:lt1>
        <a:srgbClr val="FFFFFF"/>
      </a:lt1>
      <a:dk2>
        <a:srgbClr val="FFFFFF"/>
      </a:dk2>
      <a:lt2>
        <a:srgbClr val="363D48"/>
      </a:lt2>
      <a:accent1>
        <a:srgbClr val="264D89"/>
      </a:accent1>
      <a:accent2>
        <a:srgbClr val="3E67AA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Personalizar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1E71D5"/>
      </a:accent1>
      <a:accent2>
        <a:srgbClr val="C0504D"/>
      </a:accent2>
      <a:accent3>
        <a:srgbClr val="9BBB59"/>
      </a:accent3>
      <a:accent4>
        <a:srgbClr val="8064A2"/>
      </a:accent4>
      <a:accent5>
        <a:srgbClr val="32685B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