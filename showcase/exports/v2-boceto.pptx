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91695"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73152" cy="6729984"/>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188720"/>
            <a:ext cx="10058400" cy="457200"/>
          </a:xfrm>
          <a:prstGeom prst="rect">
            <a:avLst/>
          </a:prstGeom>
          <a:noFill/>
        </p:spPr>
        <p:txBody>
          <a:bodyPr wrap="square">
            <a:spAutoFit/>
          </a:bodyPr>
          <a:lstStyle/>
          <a:p>
            <a:pPr algn="ctr"/>
            <a:r>
              <a:rPr sz="1300" b="0" i="0">
                <a:solidFill>
                  <a:srgbClr val="6B7280"/>
                </a:solidFill>
                <a:latin typeface="Arial"/>
              </a:rPr>
              <a:t>FOLLOW-UP — TOUCHPOINT 2</a:t>
            </a:r>
          </a:p>
        </p:txBody>
      </p:sp>
      <p:sp>
        <p:nvSpPr>
          <p:cNvPr id="6" name="TextBox 5"/>
          <p:cNvSpPr txBox="1"/>
          <p:nvPr/>
        </p:nvSpPr>
        <p:spPr>
          <a:xfrm>
            <a:off x="1097280" y="1737360"/>
            <a:ext cx="10058400" cy="731520"/>
          </a:xfrm>
          <a:prstGeom prst="rect">
            <a:avLst/>
          </a:prstGeom>
          <a:noFill/>
        </p:spPr>
        <p:txBody>
          <a:bodyPr wrap="square">
            <a:spAutoFit/>
          </a:bodyPr>
          <a:lstStyle/>
          <a:p>
            <a:pPr algn="ctr"/>
            <a:r>
              <a:rPr sz="4200" b="1" i="0">
                <a:solidFill>
                  <a:srgbClr val="1A1A2E"/>
                </a:solidFill>
                <a:latin typeface="Arial"/>
              </a:rPr>
              <a:t>TIMINING CORE:</a:t>
            </a:r>
          </a:p>
        </p:txBody>
      </p:sp>
      <p:sp>
        <p:nvSpPr>
          <p:cNvPr id="7" name="TextBox 6"/>
          <p:cNvSpPr txBox="1"/>
          <p:nvPr/>
        </p:nvSpPr>
        <p:spPr>
          <a:xfrm>
            <a:off x="1097280" y="2423160"/>
            <a:ext cx="10058400" cy="731520"/>
          </a:xfrm>
          <a:prstGeom prst="rect">
            <a:avLst/>
          </a:prstGeom>
          <a:noFill/>
        </p:spPr>
        <p:txBody>
          <a:bodyPr wrap="square">
            <a:spAutoFit/>
          </a:bodyPr>
          <a:lstStyle/>
          <a:p>
            <a:pPr algn="ctr"/>
            <a:r>
              <a:rPr sz="4200" b="1" i="0">
                <a:solidFill>
                  <a:srgbClr val="0891B2"/>
                </a:solidFill>
                <a:latin typeface="Arial"/>
              </a:rPr>
              <a:t>REFINAMIENTO</a:t>
            </a:r>
          </a:p>
        </p:txBody>
      </p:sp>
      <p:sp>
        <p:nvSpPr>
          <p:cNvPr id="8" name="TextBox 7"/>
          <p:cNvSpPr txBox="1"/>
          <p:nvPr/>
        </p:nvSpPr>
        <p:spPr>
          <a:xfrm>
            <a:off x="1097280" y="3108960"/>
            <a:ext cx="10058400" cy="731520"/>
          </a:xfrm>
          <a:prstGeom prst="rect">
            <a:avLst/>
          </a:prstGeom>
          <a:noFill/>
        </p:spPr>
        <p:txBody>
          <a:bodyPr wrap="square">
            <a:spAutoFit/>
          </a:bodyPr>
          <a:lstStyle/>
          <a:p>
            <a:pPr algn="ctr"/>
            <a:r>
              <a:rPr sz="4200" b="1" i="0">
                <a:solidFill>
                  <a:srgbClr val="1A1A2E"/>
                </a:solidFill>
                <a:latin typeface="Arial"/>
              </a:rPr>
              <a:t>ESTRATÉGICO</a:t>
            </a:r>
          </a:p>
        </p:txBody>
      </p:sp>
      <p:sp>
        <p:nvSpPr>
          <p:cNvPr id="9" name="TextBox 8"/>
          <p:cNvSpPr txBox="1"/>
          <p:nvPr/>
        </p:nvSpPr>
        <p:spPr>
          <a:xfrm>
            <a:off x="1097280" y="4023360"/>
            <a:ext cx="10058400" cy="457200"/>
          </a:xfrm>
          <a:prstGeom prst="rect">
            <a:avLst/>
          </a:prstGeom>
          <a:noFill/>
        </p:spPr>
        <p:txBody>
          <a:bodyPr wrap="square">
            <a:spAutoFit/>
          </a:bodyPr>
          <a:lstStyle/>
          <a:p>
            <a:pPr algn="ctr"/>
            <a:r>
              <a:rPr sz="1600" b="0" i="1">
                <a:solidFill>
                  <a:srgbClr val="6B7280"/>
                </a:solidFill>
                <a:latin typeface="Arial"/>
              </a:rPr>
              <a:t>Lo que ajustamos con su feedback. Semana 5.</a:t>
            </a:r>
          </a:p>
        </p:txBody>
      </p:sp>
      <p:sp>
        <p:nvSpPr>
          <p:cNvPr id="10" name="TextBox 9"/>
          <p:cNvSpPr txBox="1"/>
          <p:nvPr/>
        </p:nvSpPr>
        <p:spPr>
          <a:xfrm>
            <a:off x="1097280" y="4754880"/>
            <a:ext cx="10058400" cy="365760"/>
          </a:xfrm>
          <a:prstGeom prst="rect">
            <a:avLst/>
          </a:prstGeom>
          <a:noFill/>
        </p:spPr>
        <p:txBody>
          <a:bodyPr wrap="square">
            <a:spAutoFit/>
          </a:bodyPr>
          <a:lstStyle/>
          <a:p>
            <a:pPr algn="ctr"/>
            <a:r>
              <a:rPr sz="1100" b="1" i="0">
                <a:solidFill>
                  <a:srgbClr val="6B7280"/>
                </a:solidFill>
                <a:latin typeface="Arial"/>
              </a:rPr>
              <a:t>IDEMAX</a:t>
            </a:r>
          </a:p>
        </p:txBody>
      </p:sp>
      <p:sp>
        <p:nvSpPr>
          <p:cNvPr id="11" name="TextBox 10"/>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Recap: Workshop + Insights</a:t>
            </a:r>
          </a:p>
        </p:txBody>
      </p:sp>
      <p:sp>
        <p:nvSpPr>
          <p:cNvPr id="3" name="TextBox 2"/>
          <p:cNvSpPr txBox="1"/>
          <p:nvPr/>
        </p:nvSpPr>
        <p:spPr>
          <a:xfrm>
            <a:off x="5303520" y="292608"/>
            <a:ext cx="1828800" cy="274320"/>
          </a:xfrm>
          <a:prstGeom prst="rect">
            <a:avLst/>
          </a:prstGeom>
          <a:noFill/>
        </p:spPr>
        <p:txBody>
          <a:bodyPr wrap="square">
            <a:spAutoFit/>
          </a:bodyPr>
          <a:lstStyle/>
          <a:p>
            <a:pPr algn="l"/>
            <a:r>
              <a:rPr sz="900" b="1" i="0">
                <a:solidFill>
                  <a:srgbClr val="0891B2"/>
                </a:solidFill>
                <a:latin typeface="Arial"/>
              </a:rPr>
              <a:t>CONDENSADO</a:t>
            </a:r>
          </a:p>
        </p:txBody>
      </p:sp>
      <p:sp>
        <p:nvSpPr>
          <p:cNvPr id="4" name="TextBox 3"/>
          <p:cNvSpPr txBox="1"/>
          <p:nvPr/>
        </p:nvSpPr>
        <p:spPr>
          <a:xfrm>
            <a:off x="457200" y="868680"/>
            <a:ext cx="11430000" cy="320040"/>
          </a:xfrm>
          <a:prstGeom prst="rect">
            <a:avLst/>
          </a:prstGeom>
          <a:noFill/>
        </p:spPr>
        <p:txBody>
          <a:bodyPr wrap="square">
            <a:spAutoFit/>
          </a:bodyPr>
          <a:lstStyle/>
          <a:p>
            <a:pPr algn="l"/>
            <a:r>
              <a:rPr sz="1200" b="0" i="0">
                <a:solidFill>
                  <a:srgbClr val="6B7280"/>
                </a:solidFill>
                <a:latin typeface="Arial"/>
              </a:rPr>
              <a:t>20 escenarios del Workshop 1 destilados en 3 ejes + los insights con mayor convergencia.</a:t>
            </a:r>
          </a:p>
        </p:txBody>
      </p:sp>
      <p:sp>
        <p:nvSpPr>
          <p:cNvPr id="5" name="Rectangle 4"/>
          <p:cNvSpPr/>
          <p:nvPr/>
        </p:nvSpPr>
        <p:spPr>
          <a:xfrm>
            <a:off x="457200" y="1280160"/>
            <a:ext cx="365760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Sobrecarga</a:t>
            </a:r>
          </a:p>
        </p:txBody>
      </p:sp>
      <p:sp>
        <p:nvSpPr>
          <p:cNvPr id="6" name="Rectangle 5"/>
          <p:cNvSpPr/>
          <p:nvPr/>
        </p:nvSpPr>
        <p:spPr>
          <a:xfrm>
            <a:off x="457200" y="1572768"/>
            <a:ext cx="3657600" cy="190195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latin typeface="Arial"/>
              </a:rPr>
              <a:t>STOP: Data dumping, KPIs repetidos,</a:t>
            </a:r>
          </a:p>
          <a:p>
            <a:r>
              <a:rPr sz="1100">
                <a:solidFill>
                  <a:srgbClr val="1A1A2E"/>
                </a:solidFill>
                <a:latin typeface="Arial"/>
              </a:rPr>
              <a:t>visualización cosmética</a:t>
            </a:r>
          </a:p>
          <a:p>
            <a:r>
              <a:rPr sz="1100">
                <a:solidFill>
                  <a:srgbClr val="1A1A2E"/>
                </a:solidFill>
                <a:latin typeface="Arial"/>
              </a:rPr>
              <a:t>START: Silencio como default, gestión por</a:t>
            </a:r>
          </a:p>
          <a:p>
            <a:r>
              <a:rPr sz="1100">
                <a:solidFill>
                  <a:srgbClr val="1A1A2E"/>
                </a:solidFill>
                <a:latin typeface="Arial"/>
              </a:rPr>
              <a:t>excepción, comprensión en &lt;5s</a:t>
            </a:r>
          </a:p>
        </p:txBody>
      </p:sp>
      <p:sp>
        <p:nvSpPr>
          <p:cNvPr id="7" name="Rectangle 6"/>
          <p:cNvSpPr/>
          <p:nvPr/>
        </p:nvSpPr>
        <p:spPr>
          <a:xfrm>
            <a:off x="4315968" y="1280160"/>
            <a:ext cx="365760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Fricción</a:t>
            </a:r>
          </a:p>
        </p:txBody>
      </p:sp>
      <p:sp>
        <p:nvSpPr>
          <p:cNvPr id="8" name="Rectangle 7"/>
          <p:cNvSpPr/>
          <p:nvPr/>
        </p:nvSpPr>
        <p:spPr>
          <a:xfrm>
            <a:off x="4315968" y="1572768"/>
            <a:ext cx="3657600" cy="190195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latin typeface="Arial"/>
              </a:rPr>
              <a:t>STOP: Config larga, capacitaciones inútiles,</a:t>
            </a:r>
          </a:p>
          <a:p>
            <a:r>
              <a:rPr sz="1100">
                <a:solidFill>
                  <a:srgbClr val="1A1A2E"/>
                </a:solidFill>
                <a:latin typeface="Arial"/>
              </a:rPr>
              <a:t>solución tardía</a:t>
            </a:r>
          </a:p>
          <a:p>
            <a:r>
              <a:rPr sz="1100">
                <a:solidFill>
                  <a:srgbClr val="1A1A2E"/>
                </a:solidFill>
                <a:latin typeface="Arial"/>
              </a:rPr>
              <a:t>START: Copiloto proactivo, 'qué pasó, por qué,</a:t>
            </a:r>
          </a:p>
          <a:p>
            <a:r>
              <a:rPr sz="1100">
                <a:solidFill>
                  <a:srgbClr val="1A1A2E"/>
                </a:solidFill>
                <a:latin typeface="Arial"/>
              </a:rPr>
              <a:t>qué hacer', cada pantalla → acción</a:t>
            </a:r>
          </a:p>
        </p:txBody>
      </p:sp>
      <p:sp>
        <p:nvSpPr>
          <p:cNvPr id="9" name="Rectangle 8"/>
          <p:cNvSpPr/>
          <p:nvPr/>
        </p:nvSpPr>
        <p:spPr>
          <a:xfrm>
            <a:off x="8174736" y="1280160"/>
            <a:ext cx="365760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Desconexión</a:t>
            </a:r>
          </a:p>
        </p:txBody>
      </p:sp>
      <p:sp>
        <p:nvSpPr>
          <p:cNvPr id="10" name="Rectangle 9"/>
          <p:cNvSpPr/>
          <p:nvPr/>
        </p:nvSpPr>
        <p:spPr>
          <a:xfrm>
            <a:off x="8174736" y="1572768"/>
            <a:ext cx="3657600" cy="190195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latin typeface="Arial"/>
              </a:rPr>
              <a:t>STOP: Silos Mina/Planta/Chancado,</a:t>
            </a:r>
          </a:p>
          <a:p>
            <a:r>
              <a:rPr sz="1100">
                <a:solidFill>
                  <a:srgbClr val="1A1A2E"/>
                </a:solidFill>
                <a:latin typeface="Arial"/>
              </a:rPr>
              <a:t>reporting sin valor, decisiones por radio</a:t>
            </a:r>
          </a:p>
          <a:p>
            <a:r>
              <a:rPr sz="1100">
                <a:solidFill>
                  <a:srgbClr val="1A1A2E"/>
                </a:solidFill>
                <a:latin typeface="Arial"/>
              </a:rPr>
              <a:t>START: WhatsApp/radio/IROC integrados,</a:t>
            </a:r>
          </a:p>
          <a:p>
            <a:r>
              <a:rPr sz="1100">
                <a:solidFill>
                  <a:srgbClr val="1A1A2E"/>
                </a:solidFill>
                <a:latin typeface="Arial"/>
              </a:rPr>
              <a:t>romper silos, medir en USD</a:t>
            </a:r>
          </a:p>
        </p:txBody>
      </p:sp>
      <p:sp>
        <p:nvSpPr>
          <p:cNvPr id="11" name="Rectangle 10"/>
          <p:cNvSpPr/>
          <p:nvPr/>
        </p:nvSpPr>
        <p:spPr>
          <a:xfrm>
            <a:off x="457200" y="3657600"/>
            <a:ext cx="2743200" cy="1234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57600"/>
            <a:ext cx="274320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749040"/>
            <a:ext cx="2560320" cy="256032"/>
          </a:xfrm>
          <a:prstGeom prst="rect">
            <a:avLst/>
          </a:prstGeom>
          <a:noFill/>
        </p:spPr>
        <p:txBody>
          <a:bodyPr wrap="square">
            <a:spAutoFit/>
          </a:bodyPr>
          <a:lstStyle/>
          <a:p>
            <a:pPr algn="l"/>
            <a:r>
              <a:rPr sz="900" b="1" i="0">
                <a:solidFill>
                  <a:srgbClr val="0891B2"/>
                </a:solidFill>
                <a:latin typeface="Arial"/>
              </a:rPr>
              <a:t>25/54 FUENTES</a:t>
            </a:r>
          </a:p>
        </p:txBody>
      </p:sp>
      <p:sp>
        <p:nvSpPr>
          <p:cNvPr id="14" name="TextBox 13"/>
          <p:cNvSpPr txBox="1"/>
          <p:nvPr/>
        </p:nvSpPr>
        <p:spPr>
          <a:xfrm>
            <a:off x="566928" y="4005072"/>
            <a:ext cx="2560320" cy="292608"/>
          </a:xfrm>
          <a:prstGeom prst="rect">
            <a:avLst/>
          </a:prstGeom>
          <a:noFill/>
        </p:spPr>
        <p:txBody>
          <a:bodyPr wrap="square">
            <a:spAutoFit/>
          </a:bodyPr>
          <a:lstStyle/>
          <a:p>
            <a:pPr algn="l"/>
            <a:r>
              <a:rPr sz="1200" b="1" i="0">
                <a:solidFill>
                  <a:srgbClr val="1A1A2E"/>
                </a:solidFill>
                <a:latin typeface="Arial"/>
              </a:rPr>
              <a:t>Tiempo Cero</a:t>
            </a:r>
          </a:p>
        </p:txBody>
      </p:sp>
      <p:sp>
        <p:nvSpPr>
          <p:cNvPr id="15" name="TextBox 14"/>
          <p:cNvSpPr txBox="1"/>
          <p:nvPr/>
        </p:nvSpPr>
        <p:spPr>
          <a:xfrm>
            <a:off x="566928" y="4297680"/>
            <a:ext cx="2560320" cy="502920"/>
          </a:xfrm>
          <a:prstGeom prst="rect">
            <a:avLst/>
          </a:prstGeom>
          <a:noFill/>
        </p:spPr>
        <p:txBody>
          <a:bodyPr wrap="square">
            <a:spAutoFit/>
          </a:bodyPr>
          <a:lstStyle/>
          <a:p>
            <a:pPr algn="l"/>
            <a:r>
              <a:rPr sz="1000" b="0" i="0">
                <a:solidFill>
                  <a:srgbClr val="6B7280"/>
                </a:solidFill>
                <a:latin typeface="Arial"/>
              </a:rPr>
              <a:t>Compresión dato→decisión</a:t>
            </a:r>
          </a:p>
        </p:txBody>
      </p:sp>
      <p:sp>
        <p:nvSpPr>
          <p:cNvPr id="16" name="Rectangle 15"/>
          <p:cNvSpPr/>
          <p:nvPr/>
        </p:nvSpPr>
        <p:spPr>
          <a:xfrm>
            <a:off x="3364992" y="3657600"/>
            <a:ext cx="2743200" cy="1234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3657600"/>
            <a:ext cx="2743200"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3749040"/>
            <a:ext cx="2560320" cy="256032"/>
          </a:xfrm>
          <a:prstGeom prst="rect">
            <a:avLst/>
          </a:prstGeom>
          <a:noFill/>
        </p:spPr>
        <p:txBody>
          <a:bodyPr wrap="square">
            <a:spAutoFit/>
          </a:bodyPr>
          <a:lstStyle/>
          <a:p>
            <a:pPr algn="l"/>
            <a:r>
              <a:rPr sz="900" b="1" i="0">
                <a:solidFill>
                  <a:srgbClr val="D97706"/>
                </a:solidFill>
                <a:latin typeface="Arial"/>
              </a:rPr>
              <a:t>15/54 FUENTES</a:t>
            </a:r>
          </a:p>
        </p:txBody>
      </p:sp>
      <p:sp>
        <p:nvSpPr>
          <p:cNvPr id="19" name="TextBox 18"/>
          <p:cNvSpPr txBox="1"/>
          <p:nvPr/>
        </p:nvSpPr>
        <p:spPr>
          <a:xfrm>
            <a:off x="3474720" y="4005072"/>
            <a:ext cx="2560320" cy="292608"/>
          </a:xfrm>
          <a:prstGeom prst="rect">
            <a:avLst/>
          </a:prstGeom>
          <a:noFill/>
        </p:spPr>
        <p:txBody>
          <a:bodyPr wrap="square">
            <a:spAutoFit/>
          </a:bodyPr>
          <a:lstStyle/>
          <a:p>
            <a:pPr algn="l"/>
            <a:r>
              <a:rPr sz="1200" b="1" i="0">
                <a:solidFill>
                  <a:srgbClr val="1A1A2E"/>
                </a:solidFill>
                <a:latin typeface="Arial"/>
              </a:rPr>
              <a:t>Geometry Gap</a:t>
            </a:r>
          </a:p>
        </p:txBody>
      </p:sp>
      <p:sp>
        <p:nvSpPr>
          <p:cNvPr id="20" name="TextBox 19"/>
          <p:cNvSpPr txBox="1"/>
          <p:nvPr/>
        </p:nvSpPr>
        <p:spPr>
          <a:xfrm>
            <a:off x="3474720" y="4297680"/>
            <a:ext cx="2560320" cy="502920"/>
          </a:xfrm>
          <a:prstGeom prst="rect">
            <a:avLst/>
          </a:prstGeom>
          <a:noFill/>
        </p:spPr>
        <p:txBody>
          <a:bodyPr wrap="square">
            <a:spAutoFit/>
          </a:bodyPr>
          <a:lstStyle/>
          <a:p>
            <a:pPr algn="l"/>
            <a:r>
              <a:rPr sz="1000" b="0" i="0">
                <a:solidFill>
                  <a:srgbClr val="6B7280"/>
                </a:solidFill>
                <a:latin typeface="Arial"/>
              </a:rPr>
              <a:t>Espacialidad como brecha #1</a:t>
            </a:r>
          </a:p>
        </p:txBody>
      </p:sp>
      <p:sp>
        <p:nvSpPr>
          <p:cNvPr id="21" name="Rectangle 20"/>
          <p:cNvSpPr/>
          <p:nvPr/>
        </p:nvSpPr>
        <p:spPr>
          <a:xfrm>
            <a:off x="6272784" y="3657600"/>
            <a:ext cx="2743200" cy="1234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2784" y="3657600"/>
            <a:ext cx="2743200" cy="45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749040"/>
            <a:ext cx="2560320" cy="256032"/>
          </a:xfrm>
          <a:prstGeom prst="rect">
            <a:avLst/>
          </a:prstGeom>
          <a:noFill/>
        </p:spPr>
        <p:txBody>
          <a:bodyPr wrap="square">
            <a:spAutoFit/>
          </a:bodyPr>
          <a:lstStyle/>
          <a:p>
            <a:pPr algn="l"/>
            <a:r>
              <a:rPr sz="900" b="1" i="0">
                <a:solidFill>
                  <a:srgbClr val="16A34A"/>
                </a:solidFill>
                <a:latin typeface="Arial"/>
              </a:rPr>
              <a:t>12/54 FUENTES</a:t>
            </a:r>
          </a:p>
        </p:txBody>
      </p:sp>
      <p:sp>
        <p:nvSpPr>
          <p:cNvPr id="24" name="TextBox 23"/>
          <p:cNvSpPr txBox="1"/>
          <p:nvPr/>
        </p:nvSpPr>
        <p:spPr>
          <a:xfrm>
            <a:off x="6382512" y="4005072"/>
            <a:ext cx="2560320" cy="292608"/>
          </a:xfrm>
          <a:prstGeom prst="rect">
            <a:avLst/>
          </a:prstGeom>
          <a:noFill/>
        </p:spPr>
        <p:txBody>
          <a:bodyPr wrap="square">
            <a:spAutoFit/>
          </a:bodyPr>
          <a:lstStyle/>
          <a:p>
            <a:pPr algn="l"/>
            <a:r>
              <a:rPr sz="1200" b="1" i="0">
                <a:solidFill>
                  <a:srgbClr val="1A1A2E"/>
                </a:solidFill>
                <a:latin typeface="Arial"/>
              </a:rPr>
              <a:t>Dashboard → Copiloto</a:t>
            </a:r>
          </a:p>
        </p:txBody>
      </p:sp>
      <p:sp>
        <p:nvSpPr>
          <p:cNvPr id="25" name="TextBox 24"/>
          <p:cNvSpPr txBox="1"/>
          <p:nvPr/>
        </p:nvSpPr>
        <p:spPr>
          <a:xfrm>
            <a:off x="6382512" y="4297680"/>
            <a:ext cx="2560320" cy="502920"/>
          </a:xfrm>
          <a:prstGeom prst="rect">
            <a:avLst/>
          </a:prstGeom>
          <a:noFill/>
        </p:spPr>
        <p:txBody>
          <a:bodyPr wrap="square">
            <a:spAutoFit/>
          </a:bodyPr>
          <a:lstStyle/>
          <a:p>
            <a:pPr algn="l"/>
            <a:r>
              <a:rPr sz="1000" b="0" i="0">
                <a:solidFill>
                  <a:srgbClr val="6B7280"/>
                </a:solidFill>
                <a:latin typeface="Arial"/>
              </a:rPr>
              <a:t>D→A→R: detecta, analiza, recomienda</a:t>
            </a:r>
          </a:p>
        </p:txBody>
      </p:sp>
      <p:sp>
        <p:nvSpPr>
          <p:cNvPr id="26" name="Rectangle 25"/>
          <p:cNvSpPr/>
          <p:nvPr/>
        </p:nvSpPr>
        <p:spPr>
          <a:xfrm>
            <a:off x="9180576" y="3657600"/>
            <a:ext cx="2743200" cy="1234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80576" y="3657600"/>
            <a:ext cx="2743200" cy="457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90304" y="3749040"/>
            <a:ext cx="2560320" cy="256032"/>
          </a:xfrm>
          <a:prstGeom prst="rect">
            <a:avLst/>
          </a:prstGeom>
          <a:noFill/>
        </p:spPr>
        <p:txBody>
          <a:bodyPr wrap="square">
            <a:spAutoFit/>
          </a:bodyPr>
          <a:lstStyle/>
          <a:p>
            <a:pPr algn="l"/>
            <a:r>
              <a:rPr sz="900" b="1" i="0">
                <a:solidFill>
                  <a:srgbClr val="6B7280"/>
                </a:solidFill>
                <a:latin typeface="Arial"/>
              </a:rPr>
              <a:t>10/54 FUENTES</a:t>
            </a:r>
          </a:p>
        </p:txBody>
      </p:sp>
      <p:sp>
        <p:nvSpPr>
          <p:cNvPr id="29" name="TextBox 28"/>
          <p:cNvSpPr txBox="1"/>
          <p:nvPr/>
        </p:nvSpPr>
        <p:spPr>
          <a:xfrm>
            <a:off x="9290304" y="4005072"/>
            <a:ext cx="2560320" cy="292608"/>
          </a:xfrm>
          <a:prstGeom prst="rect">
            <a:avLst/>
          </a:prstGeom>
          <a:noFill/>
        </p:spPr>
        <p:txBody>
          <a:bodyPr wrap="square">
            <a:spAutoFit/>
          </a:bodyPr>
          <a:lstStyle/>
          <a:p>
            <a:pPr algn="l"/>
            <a:r>
              <a:rPr sz="1200" b="1" i="0">
                <a:solidFill>
                  <a:srgbClr val="1A1A2E"/>
                </a:solidFill>
                <a:latin typeface="Arial"/>
              </a:rPr>
              <a:t>Demasiado Ruido</a:t>
            </a:r>
          </a:p>
        </p:txBody>
      </p:sp>
      <p:sp>
        <p:nvSpPr>
          <p:cNvPr id="30" name="TextBox 29"/>
          <p:cNvSpPr txBox="1"/>
          <p:nvPr/>
        </p:nvSpPr>
        <p:spPr>
          <a:xfrm>
            <a:off x="9290304" y="4297680"/>
            <a:ext cx="2560320" cy="502920"/>
          </a:xfrm>
          <a:prstGeom prst="rect">
            <a:avLst/>
          </a:prstGeom>
          <a:noFill/>
        </p:spPr>
        <p:txBody>
          <a:bodyPr wrap="square">
            <a:spAutoFit/>
          </a:bodyPr>
          <a:lstStyle/>
          <a:p>
            <a:pPr algn="l"/>
            <a:r>
              <a:rPr sz="1000" b="0" i="0">
                <a:solidFill>
                  <a:srgbClr val="6B7280"/>
                </a:solidFill>
                <a:latin typeface="Arial"/>
              </a:rPr>
              <a:t>95% no requiere acción</a:t>
            </a:r>
          </a:p>
        </p:txBody>
      </p:sp>
      <p:sp>
        <p:nvSpPr>
          <p:cNvPr id="31" name="TextBox 30"/>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Lo Que Escuchamos</a:t>
            </a:r>
          </a:p>
        </p:txBody>
      </p:sp>
      <p:sp>
        <p:nvSpPr>
          <p:cNvPr id="3" name="TextBox 2"/>
          <p:cNvSpPr txBox="1"/>
          <p:nvPr/>
        </p:nvSpPr>
        <p:spPr>
          <a:xfrm>
            <a:off x="4663440" y="292608"/>
            <a:ext cx="1097280" cy="274320"/>
          </a:xfrm>
          <a:prstGeom prst="rect">
            <a:avLst/>
          </a:prstGeom>
          <a:noFill/>
        </p:spPr>
        <p:txBody>
          <a:bodyPr wrap="square">
            <a:spAutoFit/>
          </a:bodyPr>
          <a:lstStyle/>
          <a:p>
            <a:pPr algn="l"/>
            <a:r>
              <a:rPr sz="900" b="1" i="0">
                <a:solidFill>
                  <a:srgbClr val="16A34A"/>
                </a:solidFill>
                <a:latin typeface="Arial"/>
              </a:rPr>
              <a:t>NUEVO</a:t>
            </a:r>
          </a:p>
        </p:txBody>
      </p:sp>
      <p:sp>
        <p:nvSpPr>
          <p:cNvPr id="4" name="TextBox 3"/>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Del Touchpoint 1 y entrevistas con usuarios, tomamos 5 directrices claras.</a:t>
            </a:r>
          </a:p>
        </p:txBody>
      </p:sp>
      <p:sp>
        <p:nvSpPr>
          <p:cNvPr id="5" name="Rectangle 4"/>
          <p:cNvSpPr/>
          <p:nvPr/>
        </p:nvSpPr>
        <p:spPr>
          <a:xfrm>
            <a:off x="457200" y="1298448"/>
            <a:ext cx="2212848"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Tiempo, no paz mental</a:t>
            </a:r>
          </a:p>
        </p:txBody>
      </p:sp>
      <p:sp>
        <p:nvSpPr>
          <p:cNvPr id="6" name="Rectangle 5"/>
          <p:cNvSpPr/>
          <p:nvPr/>
        </p:nvSpPr>
        <p:spPr>
          <a:xfrm>
            <a:off x="457200" y="1591056"/>
            <a:ext cx="2212848" cy="1810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A1A2E"/>
                </a:solidFill>
                <a:latin typeface="Arial"/>
              </a:rPr>
              <a:t>Carlos: "Es un mundo sin tiempo para avanzar."</a:t>
            </a:r>
          </a:p>
          <a:p>
            <a:r>
              <a:rPr sz="1000">
                <a:solidFill>
                  <a:srgbClr val="1A1A2E"/>
                </a:solidFill>
                <a:latin typeface="Arial"/>
              </a:rPr>
              <a:t>Philip: "No puedo hacerle un inception de paz mental a un usuario."</a:t>
            </a:r>
          </a:p>
          <a:p>
            <a:r>
              <a:rPr sz="1000">
                <a:solidFill>
                  <a:srgbClr val="1A1A2E"/>
                </a:solidFill>
                <a:latin typeface="Arial"/>
              </a:rPr>
              <a:t>El eje que validaron es tiempo.</a:t>
            </a:r>
          </a:p>
        </p:txBody>
      </p:sp>
      <p:sp>
        <p:nvSpPr>
          <p:cNvPr id="7" name="Rectangle 6"/>
          <p:cNvSpPr/>
          <p:nvPr/>
        </p:nvSpPr>
        <p:spPr>
          <a:xfrm>
            <a:off x="2779776" y="1298448"/>
            <a:ext cx="221284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Mejorar, no cumplir</a:t>
            </a:r>
          </a:p>
        </p:txBody>
      </p:sp>
      <p:sp>
        <p:nvSpPr>
          <p:cNvPr id="8" name="Rectangle 7"/>
          <p:cNvSpPr/>
          <p:nvPr/>
        </p:nvSpPr>
        <p:spPr>
          <a:xfrm>
            <a:off x="2779776" y="1591056"/>
            <a:ext cx="2212848" cy="1810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A1A2E"/>
                </a:solidFill>
                <a:latin typeface="Arial"/>
              </a:rPr>
              <a:t>Carlos: "Muchas veces el plan sí lo cumplen. Lo que queremos es</a:t>
            </a:r>
          </a:p>
          <a:p>
            <a:r>
              <a:rPr sz="1000">
                <a:solidFill>
                  <a:srgbClr val="1A1A2E"/>
                </a:solidFill>
                <a:latin typeface="Arial"/>
              </a:rPr>
              <a:t>un mejor plan — planificación permanente." No es adherencia ciega.</a:t>
            </a:r>
          </a:p>
        </p:txBody>
      </p:sp>
      <p:sp>
        <p:nvSpPr>
          <p:cNvPr id="9" name="Rectangle 8"/>
          <p:cNvSpPr/>
          <p:nvPr/>
        </p:nvSpPr>
        <p:spPr>
          <a:xfrm>
            <a:off x="5102352" y="1298448"/>
            <a:ext cx="2212848"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Alineación manda</a:t>
            </a:r>
          </a:p>
        </p:txBody>
      </p:sp>
      <p:sp>
        <p:nvSpPr>
          <p:cNvPr id="10" name="Rectangle 9"/>
          <p:cNvSpPr/>
          <p:nvPr/>
        </p:nvSpPr>
        <p:spPr>
          <a:xfrm>
            <a:off x="5102352" y="1591056"/>
            <a:ext cx="2212848" cy="1810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A1A2E"/>
                </a:solidFill>
                <a:latin typeface="Arial"/>
              </a:rPr>
              <a:t>Carlos: "Ese último [Alineación Estratégica] está por encima de los demás."</a:t>
            </a:r>
          </a:p>
          <a:p>
            <a:r>
              <a:rPr sz="1000">
                <a:solidFill>
                  <a:srgbClr val="1A1A2E"/>
                </a:solidFill>
                <a:latin typeface="Arial"/>
              </a:rPr>
              <a:t>Todo se traduce a valor de negocio — EBITDA, costos, plan.</a:t>
            </a:r>
          </a:p>
        </p:txBody>
      </p:sp>
      <p:sp>
        <p:nvSpPr>
          <p:cNvPr id="11" name="Rectangle 10"/>
          <p:cNvSpPr/>
          <p:nvPr/>
        </p:nvSpPr>
        <p:spPr>
          <a:xfrm>
            <a:off x="7424928" y="1298448"/>
            <a:ext cx="2212848"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WhatsApp es real</a:t>
            </a:r>
          </a:p>
        </p:txBody>
      </p:sp>
      <p:sp>
        <p:nvSpPr>
          <p:cNvPr id="12" name="Rectangle 11"/>
          <p:cNvSpPr/>
          <p:nvPr/>
        </p:nvSpPr>
        <p:spPr>
          <a:xfrm>
            <a:off x="7424928" y="1591056"/>
            <a:ext cx="2212848" cy="1810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A1A2E"/>
                </a:solidFill>
                <a:latin typeface="Arial"/>
              </a:rPr>
              <a:t>Carlo: "Impresionante la cantidad de toma de decisiones que</a:t>
            </a:r>
          </a:p>
          <a:p>
            <a:r>
              <a:rPr sz="1000">
                <a:solidFill>
                  <a:srgbClr val="1A1A2E"/>
                </a:solidFill>
                <a:latin typeface="Arial"/>
              </a:rPr>
              <a:t>ocurren vía WhatsApp." Si CORE no está ahí, no existe.</a:t>
            </a:r>
          </a:p>
        </p:txBody>
      </p:sp>
      <p:sp>
        <p:nvSpPr>
          <p:cNvPr id="13" name="Rectangle 12"/>
          <p:cNvSpPr/>
          <p:nvPr/>
        </p:nvSpPr>
        <p:spPr>
          <a:xfrm>
            <a:off x="9747504" y="1298448"/>
            <a:ext cx="2212848"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Confianza en datos  NUEVO</a:t>
            </a:r>
          </a:p>
        </p:txBody>
      </p:sp>
      <p:sp>
        <p:nvSpPr>
          <p:cNvPr id="14" name="Rectangle 13"/>
          <p:cNvSpPr/>
          <p:nvPr/>
        </p:nvSpPr>
        <p:spPr>
          <a:xfrm>
            <a:off x="9747504" y="1591056"/>
            <a:ext cx="2212848" cy="1810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A1A2E"/>
                </a:solidFill>
                <a:latin typeface="Arial"/>
              </a:rPr>
              <a:t>Juan Pablo: "Si los datos no son confiables, las decisiones tampoco."</a:t>
            </a:r>
          </a:p>
          <a:p>
            <a:r>
              <a:rPr sz="1000">
                <a:solidFill>
                  <a:srgbClr val="1A1A2E"/>
                </a:solidFill>
                <a:latin typeface="Arial"/>
              </a:rPr>
              <a:t>Felipe: "Hoy no aporta." Prerrequisito: sin confianza en la data, nada funciona.</a:t>
            </a:r>
          </a:p>
        </p:txBody>
      </p:sp>
      <p:sp>
        <p:nvSpPr>
          <p:cNvPr id="15" name="Rectangle 14"/>
          <p:cNvSpPr/>
          <p:nvPr/>
        </p:nvSpPr>
        <p:spPr>
          <a:xfrm>
            <a:off x="457200" y="3566160"/>
            <a:ext cx="11247120" cy="594360"/>
          </a:xfrm>
          <a:prstGeom prst="rect">
            <a:avLst/>
          </a:prstGeom>
          <a:solidFill>
            <a:srgbClr val="F0F9FF"/>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39312"/>
            <a:ext cx="10972800" cy="457200"/>
          </a:xfrm>
          <a:prstGeom prst="rect">
            <a:avLst/>
          </a:prstGeom>
          <a:noFill/>
        </p:spPr>
        <p:txBody>
          <a:bodyPr wrap="square">
            <a:spAutoFit/>
          </a:bodyPr>
          <a:lstStyle/>
          <a:p>
            <a:pPr algn="l"/>
            <a:r>
              <a:rPr sz="1100" b="0" i="0">
                <a:solidFill>
                  <a:srgbClr val="1A1A2E"/>
                </a:solidFill>
                <a:latin typeface="Arial"/>
              </a:rPr>
              <a:t>Validación con usuarios  ·  4 entrevistas con profesionales mineros y usuarios internos confirman: confianza en datos, costos visibles y facilidad de uso son los gates de adopción.</a:t>
            </a:r>
          </a:p>
        </p:txBody>
      </p:sp>
      <p:sp>
        <p:nvSpPr>
          <p:cNvPr id="17" name="TextBox 16"/>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Primeras Señales de Usuarios</a:t>
            </a:r>
          </a:p>
        </p:txBody>
      </p:sp>
      <p:sp>
        <p:nvSpPr>
          <p:cNvPr id="3" name="TextBox 2"/>
          <p:cNvSpPr txBox="1"/>
          <p:nvPr/>
        </p:nvSpPr>
        <p:spPr>
          <a:xfrm>
            <a:off x="5897880" y="292608"/>
            <a:ext cx="1097280" cy="274320"/>
          </a:xfrm>
          <a:prstGeom prst="rect">
            <a:avLst/>
          </a:prstGeom>
          <a:noFill/>
        </p:spPr>
        <p:txBody>
          <a:bodyPr wrap="square">
            <a:spAutoFit/>
          </a:bodyPr>
          <a:lstStyle/>
          <a:p>
            <a:pPr algn="l"/>
            <a:r>
              <a:rPr sz="900" b="1" i="0">
                <a:solidFill>
                  <a:srgbClr val="16A34A"/>
                </a:solidFill>
                <a:latin typeface="Arial"/>
              </a:rPr>
              <a:t>NUEVO</a:t>
            </a:r>
          </a:p>
        </p:txBody>
      </p:sp>
      <p:sp>
        <p:nvSpPr>
          <p:cNvPr id="4" name="TextBox 3"/>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4 entrevistas con profesionales mineros y usuarios internos. No son estadísticamente representativas — son primeras señales.</a:t>
            </a:r>
          </a:p>
        </p:txBody>
      </p:sp>
      <p:sp>
        <p:nvSpPr>
          <p:cNvPr id="5" name="Rectangle 4"/>
          <p:cNvSpPr/>
          <p:nvPr/>
        </p:nvSpPr>
        <p:spPr>
          <a:xfrm>
            <a:off x="457200" y="1298448"/>
            <a:ext cx="539496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 Lo que validan</a:t>
            </a:r>
          </a:p>
        </p:txBody>
      </p:sp>
      <p:sp>
        <p:nvSpPr>
          <p:cNvPr id="6" name="Rectangle 5"/>
          <p:cNvSpPr/>
          <p:nvPr/>
        </p:nvSpPr>
        <p:spPr>
          <a:xfrm>
            <a:off x="457200" y="1591056"/>
            <a:ext cx="5394960" cy="4096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latin typeface="Arial"/>
              </a:rPr>
              <a:t>IG-SYNTH-11  Curva de aprendizaje es barrera real —</a:t>
            </a:r>
          </a:p>
          <a:p>
            <a:r>
              <a:rPr sz="1100">
                <a:solidFill>
                  <a:srgbClr val="1A1A2E"/>
                </a:solidFill>
                <a:latin typeface="Arial"/>
              </a:rPr>
              <a:t>  "facilidad de uso, acoplo, tiempo de roll-out"</a:t>
            </a:r>
          </a:p>
          <a:p>
            <a:r>
              <a:rPr sz="1100">
                <a:solidFill>
                  <a:srgbClr val="1A1A2E"/>
                </a:solidFill>
                <a:latin typeface="Arial"/>
              </a:rPr>
              <a:t/>
            </a:r>
          </a:p>
          <a:p>
            <a:r>
              <a:rPr sz="1100">
                <a:solidFill>
                  <a:srgbClr val="1A1A2E"/>
                </a:solidFill>
                <a:latin typeface="Arial"/>
              </a:rPr>
              <a:t>IG-27  "Quiero ver plata y toneladas" —</a:t>
            </a:r>
          </a:p>
          <a:p>
            <a:r>
              <a:rPr sz="1100">
                <a:solidFill>
                  <a:srgbClr val="1A1A2E"/>
                </a:solidFill>
                <a:latin typeface="Arial"/>
              </a:rPr>
              <a:t>  dual view desde operaciones</a:t>
            </a:r>
          </a:p>
          <a:p>
            <a:r>
              <a:rPr sz="1100">
                <a:solidFill>
                  <a:srgbClr val="1A1A2E"/>
                </a:solidFill>
                <a:latin typeface="Arial"/>
              </a:rPr>
              <a:t/>
            </a:r>
          </a:p>
          <a:p>
            <a:r>
              <a:rPr sz="1100">
                <a:solidFill>
                  <a:srgbClr val="1A1A2E"/>
                </a:solidFill>
                <a:latin typeface="Arial"/>
              </a:rPr>
              <a:t>IG-28  Confianza en datos como gate de adopción</a:t>
            </a:r>
          </a:p>
          <a:p>
            <a:r>
              <a:rPr sz="1100">
                <a:solidFill>
                  <a:srgbClr val="1A1A2E"/>
                </a:solidFill>
                <a:latin typeface="Arial"/>
              </a:rPr>
              <a:t/>
            </a:r>
          </a:p>
          <a:p>
            <a:r>
              <a:rPr sz="1100">
                <a:solidFill>
                  <a:srgbClr val="1A1A2E"/>
                </a:solidFill>
                <a:latin typeface="Arial"/>
              </a:rPr>
              <a:t>IG-25  4 dominios validados independientemente</a:t>
            </a:r>
          </a:p>
          <a:p>
            <a:r>
              <a:rPr sz="1100">
                <a:solidFill>
                  <a:srgbClr val="1A1A2E"/>
                </a:solidFill>
                <a:latin typeface="Arial"/>
              </a:rPr>
              <a:t>  por Felipe Reyes</a:t>
            </a:r>
          </a:p>
        </p:txBody>
      </p:sp>
      <p:sp>
        <p:nvSpPr>
          <p:cNvPr id="7" name="Rectangle 6"/>
          <p:cNvSpPr/>
          <p:nvPr/>
        </p:nvSpPr>
        <p:spPr>
          <a:xfrm>
            <a:off x="6035040" y="1298448"/>
            <a:ext cx="539496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 Lo que levantan</a:t>
            </a:r>
          </a:p>
        </p:txBody>
      </p:sp>
      <p:sp>
        <p:nvSpPr>
          <p:cNvPr id="8" name="Rectangle 7"/>
          <p:cNvSpPr/>
          <p:nvPr/>
        </p:nvSpPr>
        <p:spPr>
          <a:xfrm>
            <a:off x="6035040" y="1591056"/>
            <a:ext cx="5394960" cy="409651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latin typeface="Arial"/>
              </a:rPr>
              <a:t>IG-26  P&amp;T (Perforación y Tronadura) como dolor</a:t>
            </a:r>
          </a:p>
          <a:p>
            <a:r>
              <a:rPr sz="1100">
                <a:solidFill>
                  <a:srgbClr val="1A1A2E"/>
                </a:solidFill>
                <a:latin typeface="Arial"/>
              </a:rPr>
              <a:t>  no mapeado</a:t>
            </a:r>
          </a:p>
          <a:p>
            <a:r>
              <a:rPr sz="1100">
                <a:solidFill>
                  <a:srgbClr val="1A1A2E"/>
                </a:solidFill>
                <a:latin typeface="Arial"/>
              </a:rPr>
              <a:t/>
            </a:r>
          </a:p>
          <a:p>
            <a:r>
              <a:rPr sz="1100">
                <a:solidFill>
                  <a:srgbClr val="1A1A2E"/>
                </a:solidFill>
                <a:latin typeface="Arial"/>
              </a:rPr>
              <a:t>IG-30  Control ambiental como dimensión</a:t>
            </a:r>
          </a:p>
          <a:p>
            <a:r>
              <a:rPr sz="1100">
                <a:solidFill>
                  <a:srgbClr val="1A1A2E"/>
                </a:solidFill>
                <a:latin typeface="Arial"/>
              </a:rPr>
              <a:t>  no cubierta</a:t>
            </a:r>
          </a:p>
          <a:p>
            <a:r>
              <a:rPr sz="1100">
                <a:solidFill>
                  <a:srgbClr val="1A1A2E"/>
                </a:solidFill>
                <a:latin typeface="Arial"/>
              </a:rPr>
              <a:t/>
            </a:r>
          </a:p>
          <a:p>
            <a:r>
              <a:rPr sz="1100">
                <a:solidFill>
                  <a:srgbClr val="1A1A2E"/>
                </a:solidFill>
                <a:latin typeface="Arial"/>
              </a:rPr>
              <a:t>IG-29  Madurez digital determina impacto</a:t>
            </a:r>
          </a:p>
          <a:p>
            <a:r>
              <a:rPr sz="1100">
                <a:solidFill>
                  <a:srgbClr val="1A1A2E"/>
                </a:solidFill>
                <a:latin typeface="Arial"/>
              </a:rPr>
              <a:t>  (solo AI, frágil)</a:t>
            </a:r>
          </a:p>
          <a:p>
            <a:r>
              <a:rPr sz="1100">
                <a:solidFill>
                  <a:srgbClr val="1A1A2E"/>
                </a:solidFill>
                <a:latin typeface="Arial"/>
              </a:rPr>
              <a:t/>
            </a:r>
          </a:p>
          <a:p>
            <a:r>
              <a:rPr sz="1100">
                <a:solidFill>
                  <a:srgbClr val="1A1A2E"/>
                </a:solidFill>
                <a:latin typeface="Arial"/>
              </a:rPr>
              <a:t>Ninguno reestructura el framework —</a:t>
            </a:r>
          </a:p>
          <a:p>
            <a:r>
              <a:rPr sz="1100">
                <a:solidFill>
                  <a:srgbClr val="1A1A2E"/>
                </a:solidFill>
                <a:latin typeface="Arial"/>
              </a:rPr>
              <a:t>son preguntas abiertas para entrevistas futuras.</a:t>
            </a:r>
          </a:p>
        </p:txBody>
      </p:sp>
      <p:sp>
        <p:nvSpPr>
          <p:cNvPr id="9" name="TextBox 8"/>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Insights Clave</a:t>
            </a:r>
          </a:p>
        </p:txBody>
      </p:sp>
      <p:sp>
        <p:nvSpPr>
          <p:cNvPr id="3" name="TextBox 2"/>
          <p:cNvSpPr txBox="1"/>
          <p:nvPr/>
        </p:nvSpPr>
        <p:spPr>
          <a:xfrm>
            <a:off x="4389120" y="292608"/>
            <a:ext cx="1828800" cy="274320"/>
          </a:xfrm>
          <a:prstGeom prst="rect">
            <a:avLst/>
          </a:prstGeom>
          <a:noFill/>
        </p:spPr>
        <p:txBody>
          <a:bodyPr wrap="square">
            <a:spAutoFit/>
          </a:bodyPr>
          <a:lstStyle/>
          <a:p>
            <a:pPr algn="l"/>
            <a:r>
              <a:rPr sz="900" b="1" i="0">
                <a:solidFill>
                  <a:srgbClr val="D97706"/>
                </a:solidFill>
                <a:latin typeface="Arial"/>
              </a:rPr>
              <a:t>ACTUALIZADO</a:t>
            </a:r>
          </a:p>
        </p:txBody>
      </p:sp>
      <p:sp>
        <p:nvSpPr>
          <p:cNvPr id="4" name="TextBox 3"/>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Hallazgos con peso convergente — mencionados por múltiples fuentes y roles.</a:t>
            </a:r>
          </a:p>
        </p:txBody>
      </p:sp>
      <p:sp>
        <p:nvSpPr>
          <p:cNvPr id="5" name="Rectangle 4"/>
          <p:cNvSpPr/>
          <p:nvPr/>
        </p:nvSpPr>
        <p:spPr>
          <a:xfrm>
            <a:off x="457200" y="1298448"/>
            <a:ext cx="361188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98448"/>
            <a:ext cx="50292" cy="17373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3429000" cy="201168"/>
          </a:xfrm>
          <a:prstGeom prst="rect">
            <a:avLst/>
          </a:prstGeom>
          <a:noFill/>
        </p:spPr>
        <p:txBody>
          <a:bodyPr wrap="square">
            <a:spAutoFit/>
          </a:bodyPr>
          <a:lstStyle/>
          <a:p>
            <a:pPr algn="l"/>
            <a:r>
              <a:rPr sz="900" b="1" i="0">
                <a:solidFill>
                  <a:srgbClr val="0891B2"/>
                </a:solidFill>
                <a:latin typeface="Arial"/>
              </a:rPr>
              <a:t>25/65 · Convergencia máxima</a:t>
            </a:r>
          </a:p>
        </p:txBody>
      </p:sp>
      <p:sp>
        <p:nvSpPr>
          <p:cNvPr id="8" name="TextBox 7"/>
          <p:cNvSpPr txBox="1"/>
          <p:nvPr/>
        </p:nvSpPr>
        <p:spPr>
          <a:xfrm>
            <a:off x="566928" y="1554480"/>
            <a:ext cx="3429000" cy="320040"/>
          </a:xfrm>
          <a:prstGeom prst="rect">
            <a:avLst/>
          </a:prstGeom>
          <a:noFill/>
        </p:spPr>
        <p:txBody>
          <a:bodyPr wrap="square">
            <a:spAutoFit/>
          </a:bodyPr>
          <a:lstStyle/>
          <a:p>
            <a:pPr algn="l"/>
            <a:r>
              <a:rPr sz="1200" b="1" i="0">
                <a:solidFill>
                  <a:srgbClr val="1A1A2E"/>
                </a:solidFill>
                <a:latin typeface="Arial"/>
              </a:rPr>
              <a:t>Tiempo Cero  ERA PAZ MENTAL</a:t>
            </a:r>
          </a:p>
        </p:txBody>
      </p:sp>
      <p:sp>
        <p:nvSpPr>
          <p:cNvPr id="9" name="TextBox 8"/>
          <p:cNvSpPr txBox="1"/>
          <p:nvPr/>
        </p:nvSpPr>
        <p:spPr>
          <a:xfrm>
            <a:off x="566928" y="1865376"/>
            <a:ext cx="3429000" cy="1097280"/>
          </a:xfrm>
          <a:prstGeom prst="rect">
            <a:avLst/>
          </a:prstGeom>
          <a:noFill/>
        </p:spPr>
        <p:txBody>
          <a:bodyPr wrap="square">
            <a:spAutoFit/>
          </a:bodyPr>
          <a:lstStyle/>
          <a:p>
            <a:pPr algn="l"/>
            <a:r>
              <a:rPr sz="1000" b="0" i="0">
                <a:solidFill>
                  <a:srgbClr val="1A1A2E"/>
                </a:solidFill>
                <a:latin typeface="Arial"/>
              </a:rPr>
              <a:t>El valor no es el software — es la compresión
del tiempo entre dato y decisión.
"No tengo tiempo para pensar" —
el sistema ya pensó por ti.</a:t>
            </a:r>
          </a:p>
        </p:txBody>
      </p:sp>
      <p:sp>
        <p:nvSpPr>
          <p:cNvPr id="10" name="Rectangle 9"/>
          <p:cNvSpPr/>
          <p:nvPr/>
        </p:nvSpPr>
        <p:spPr>
          <a:xfrm>
            <a:off x="4251960" y="1298448"/>
            <a:ext cx="361188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298448"/>
            <a:ext cx="50292" cy="17373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1688" y="1371600"/>
            <a:ext cx="3429000" cy="201168"/>
          </a:xfrm>
          <a:prstGeom prst="rect">
            <a:avLst/>
          </a:prstGeom>
          <a:noFill/>
        </p:spPr>
        <p:txBody>
          <a:bodyPr wrap="square">
            <a:spAutoFit/>
          </a:bodyPr>
          <a:lstStyle/>
          <a:p>
            <a:pPr algn="l"/>
            <a:r>
              <a:rPr sz="900" b="1" i="0">
                <a:solidFill>
                  <a:srgbClr val="0891B2"/>
                </a:solidFill>
                <a:latin typeface="Arial"/>
              </a:rPr>
              <a:t>12/65 · Patrón D→A→R</a:t>
            </a:r>
          </a:p>
        </p:txBody>
      </p:sp>
      <p:sp>
        <p:nvSpPr>
          <p:cNvPr id="13" name="TextBox 12"/>
          <p:cNvSpPr txBox="1"/>
          <p:nvPr/>
        </p:nvSpPr>
        <p:spPr>
          <a:xfrm>
            <a:off x="4361688" y="1554480"/>
            <a:ext cx="3429000" cy="320040"/>
          </a:xfrm>
          <a:prstGeom prst="rect">
            <a:avLst/>
          </a:prstGeom>
          <a:noFill/>
        </p:spPr>
        <p:txBody>
          <a:bodyPr wrap="square">
            <a:spAutoFit/>
          </a:bodyPr>
          <a:lstStyle/>
          <a:p>
            <a:pPr algn="l"/>
            <a:r>
              <a:rPr sz="1200" b="1" i="0">
                <a:solidFill>
                  <a:srgbClr val="1A1A2E"/>
                </a:solidFill>
                <a:latin typeface="Arial"/>
              </a:rPr>
              <a:t>De Dashboard a Copiloto</a:t>
            </a:r>
          </a:p>
        </p:txBody>
      </p:sp>
      <p:sp>
        <p:nvSpPr>
          <p:cNvPr id="14" name="TextBox 13"/>
          <p:cNvSpPr txBox="1"/>
          <p:nvPr/>
        </p:nvSpPr>
        <p:spPr>
          <a:xfrm>
            <a:off x="4361688" y="1865376"/>
            <a:ext cx="3429000" cy="1097280"/>
          </a:xfrm>
          <a:prstGeom prst="rect">
            <a:avLst/>
          </a:prstGeom>
          <a:noFill/>
        </p:spPr>
        <p:txBody>
          <a:bodyPr wrap="square">
            <a:spAutoFit/>
          </a:bodyPr>
          <a:lstStyle/>
          <a:p>
            <a:pPr algn="l"/>
            <a:r>
              <a:rPr sz="1000" b="0" i="0">
                <a:solidFill>
                  <a:srgbClr val="1A1A2E"/>
                </a:solidFill>
                <a:latin typeface="Arial"/>
              </a:rPr>
              <a:t>El sistema actual es un "kiosco de datos".
Lo que necesitan es un médico operacional
que detecte, analice y recomiende.</a:t>
            </a:r>
          </a:p>
        </p:txBody>
      </p:sp>
      <p:sp>
        <p:nvSpPr>
          <p:cNvPr id="15" name="Rectangle 14"/>
          <p:cNvSpPr/>
          <p:nvPr/>
        </p:nvSpPr>
        <p:spPr>
          <a:xfrm>
            <a:off x="8046720" y="1298448"/>
            <a:ext cx="361188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298448"/>
            <a:ext cx="50292" cy="17373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1371600"/>
            <a:ext cx="3429000" cy="201168"/>
          </a:xfrm>
          <a:prstGeom prst="rect">
            <a:avLst/>
          </a:prstGeom>
          <a:noFill/>
        </p:spPr>
        <p:txBody>
          <a:bodyPr wrap="square">
            <a:spAutoFit/>
          </a:bodyPr>
          <a:lstStyle/>
          <a:p>
            <a:pPr algn="l"/>
            <a:r>
              <a:rPr sz="900" b="1" i="0">
                <a:solidFill>
                  <a:srgbClr val="D97706"/>
                </a:solidFill>
                <a:latin typeface="Arial"/>
              </a:rPr>
              <a:t>15/65 fuentes</a:t>
            </a:r>
          </a:p>
        </p:txBody>
      </p:sp>
      <p:sp>
        <p:nvSpPr>
          <p:cNvPr id="18" name="TextBox 17"/>
          <p:cNvSpPr txBox="1"/>
          <p:nvPr/>
        </p:nvSpPr>
        <p:spPr>
          <a:xfrm>
            <a:off x="8156448" y="1554480"/>
            <a:ext cx="3429000" cy="320040"/>
          </a:xfrm>
          <a:prstGeom prst="rect">
            <a:avLst/>
          </a:prstGeom>
          <a:noFill/>
        </p:spPr>
        <p:txBody>
          <a:bodyPr wrap="square">
            <a:spAutoFit/>
          </a:bodyPr>
          <a:lstStyle/>
          <a:p>
            <a:pPr algn="l"/>
            <a:r>
              <a:rPr sz="1200" b="1" i="0">
                <a:solidFill>
                  <a:srgbClr val="1A1A2E"/>
                </a:solidFill>
                <a:latin typeface="Arial"/>
              </a:rPr>
              <a:t>Geometry Gap</a:t>
            </a:r>
          </a:p>
        </p:txBody>
      </p:sp>
      <p:sp>
        <p:nvSpPr>
          <p:cNvPr id="19" name="TextBox 18"/>
          <p:cNvSpPr txBox="1"/>
          <p:nvPr/>
        </p:nvSpPr>
        <p:spPr>
          <a:xfrm>
            <a:off x="8156448" y="1865376"/>
            <a:ext cx="3429000" cy="1097280"/>
          </a:xfrm>
          <a:prstGeom prst="rect">
            <a:avLst/>
          </a:prstGeom>
          <a:noFill/>
        </p:spPr>
        <p:txBody>
          <a:bodyPr wrap="square">
            <a:spAutoFit/>
          </a:bodyPr>
          <a:lstStyle/>
          <a:p>
            <a:pPr algn="l"/>
            <a:r>
              <a:rPr sz="1000" b="0" i="0">
                <a:solidFill>
                  <a:srgbClr val="1A1A2E"/>
                </a:solidFill>
                <a:latin typeface="Arial"/>
              </a:rPr>
              <a:t>La brecha #1 es la geometría espacial:
dónde están las cosas, qué rutas son
viables. Hoy se resuelve de memoria.</a:t>
            </a:r>
          </a:p>
        </p:txBody>
      </p:sp>
      <p:sp>
        <p:nvSpPr>
          <p:cNvPr id="20" name="Rectangle 19"/>
          <p:cNvSpPr/>
          <p:nvPr/>
        </p:nvSpPr>
        <p:spPr>
          <a:xfrm>
            <a:off x="457200" y="3172968"/>
            <a:ext cx="361188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172968"/>
            <a:ext cx="50292" cy="17373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246120"/>
            <a:ext cx="3429000" cy="201168"/>
          </a:xfrm>
          <a:prstGeom prst="rect">
            <a:avLst/>
          </a:prstGeom>
          <a:noFill/>
        </p:spPr>
        <p:txBody>
          <a:bodyPr wrap="square">
            <a:spAutoFit/>
          </a:bodyPr>
          <a:lstStyle/>
          <a:p>
            <a:pPr algn="l"/>
            <a:r>
              <a:rPr sz="900" b="1" i="0">
                <a:solidFill>
                  <a:srgbClr val="16A34A"/>
                </a:solidFill>
                <a:latin typeface="Arial"/>
              </a:rPr>
              <a:t>3/65 · Usuarios directos</a:t>
            </a:r>
          </a:p>
        </p:txBody>
      </p:sp>
      <p:sp>
        <p:nvSpPr>
          <p:cNvPr id="23" name="TextBox 22"/>
          <p:cNvSpPr txBox="1"/>
          <p:nvPr/>
        </p:nvSpPr>
        <p:spPr>
          <a:xfrm>
            <a:off x="566928" y="3429000"/>
            <a:ext cx="3429000" cy="320040"/>
          </a:xfrm>
          <a:prstGeom prst="rect">
            <a:avLst/>
          </a:prstGeom>
          <a:noFill/>
        </p:spPr>
        <p:txBody>
          <a:bodyPr wrap="square">
            <a:spAutoFit/>
          </a:bodyPr>
          <a:lstStyle/>
          <a:p>
            <a:pPr algn="l"/>
            <a:r>
              <a:rPr sz="1200" b="1" i="0">
                <a:solidFill>
                  <a:srgbClr val="1A1A2E"/>
                </a:solidFill>
                <a:latin typeface="Arial"/>
              </a:rPr>
              <a:t>Confianza en Datos  NUEVO</a:t>
            </a:r>
          </a:p>
        </p:txBody>
      </p:sp>
      <p:sp>
        <p:nvSpPr>
          <p:cNvPr id="24" name="TextBox 23"/>
          <p:cNvSpPr txBox="1"/>
          <p:nvPr/>
        </p:nvSpPr>
        <p:spPr>
          <a:xfrm>
            <a:off x="566928" y="3739896"/>
            <a:ext cx="3429000" cy="1097280"/>
          </a:xfrm>
          <a:prstGeom prst="rect">
            <a:avLst/>
          </a:prstGeom>
          <a:noFill/>
        </p:spPr>
        <p:txBody>
          <a:bodyPr wrap="square">
            <a:spAutoFit/>
          </a:bodyPr>
          <a:lstStyle/>
          <a:p>
            <a:pPr algn="l"/>
            <a:r>
              <a:rPr sz="1000" b="0" i="0">
                <a:solidFill>
                  <a:srgbClr val="1A1A2E"/>
                </a:solidFill>
                <a:latin typeface="Arial"/>
              </a:rPr>
              <a:t>Si los datos no cuadran con lo que ven
en terreno, vuelven a la radio y al Excel.
Gate de adopción — sin confianza, nada funciona.</a:t>
            </a:r>
          </a:p>
        </p:txBody>
      </p:sp>
      <p:sp>
        <p:nvSpPr>
          <p:cNvPr id="25" name="Rectangle 24"/>
          <p:cNvSpPr/>
          <p:nvPr/>
        </p:nvSpPr>
        <p:spPr>
          <a:xfrm>
            <a:off x="4251960" y="3172968"/>
            <a:ext cx="361188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51960" y="3172968"/>
            <a:ext cx="50292" cy="1737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61688" y="3246120"/>
            <a:ext cx="3429000" cy="201168"/>
          </a:xfrm>
          <a:prstGeom prst="rect">
            <a:avLst/>
          </a:prstGeom>
          <a:noFill/>
        </p:spPr>
        <p:txBody>
          <a:bodyPr wrap="square">
            <a:spAutoFit/>
          </a:bodyPr>
          <a:lstStyle/>
          <a:p>
            <a:pPr algn="l"/>
            <a:r>
              <a:rPr sz="900" b="1" i="0">
                <a:solidFill>
                  <a:srgbClr val="6B7280"/>
                </a:solidFill>
                <a:latin typeface="Arial"/>
              </a:rPr>
              <a:t>10/65 · Quiet UI</a:t>
            </a:r>
          </a:p>
        </p:txBody>
      </p:sp>
      <p:sp>
        <p:nvSpPr>
          <p:cNvPr id="28" name="TextBox 27"/>
          <p:cNvSpPr txBox="1"/>
          <p:nvPr/>
        </p:nvSpPr>
        <p:spPr>
          <a:xfrm>
            <a:off x="4361688" y="3429000"/>
            <a:ext cx="3429000" cy="320040"/>
          </a:xfrm>
          <a:prstGeom prst="rect">
            <a:avLst/>
          </a:prstGeom>
          <a:noFill/>
        </p:spPr>
        <p:txBody>
          <a:bodyPr wrap="square">
            <a:spAutoFit/>
          </a:bodyPr>
          <a:lstStyle/>
          <a:p>
            <a:pPr algn="l"/>
            <a:r>
              <a:rPr sz="1200" b="1" i="0">
                <a:solidFill>
                  <a:srgbClr val="1A1A2E"/>
                </a:solidFill>
                <a:latin typeface="Arial"/>
              </a:rPr>
              <a:t>Demasiado Ruido</a:t>
            </a:r>
          </a:p>
        </p:txBody>
      </p:sp>
      <p:sp>
        <p:nvSpPr>
          <p:cNvPr id="29" name="TextBox 28"/>
          <p:cNvSpPr txBox="1"/>
          <p:nvPr/>
        </p:nvSpPr>
        <p:spPr>
          <a:xfrm>
            <a:off x="4361688" y="3739896"/>
            <a:ext cx="3429000" cy="1097280"/>
          </a:xfrm>
          <a:prstGeom prst="rect">
            <a:avLst/>
          </a:prstGeom>
          <a:noFill/>
        </p:spPr>
        <p:txBody>
          <a:bodyPr wrap="square">
            <a:spAutoFit/>
          </a:bodyPr>
          <a:lstStyle/>
          <a:p>
            <a:pPr algn="l"/>
            <a:r>
              <a:rPr sz="1000" b="0" i="0">
                <a:solidFill>
                  <a:srgbClr val="1A1A2E"/>
                </a:solidFill>
                <a:latin typeface="Arial"/>
              </a:rPr>
              <a:t>El 95% de lo que ven no requiere acción.
El silencio debería ser el estado default.</a:t>
            </a:r>
          </a:p>
        </p:txBody>
      </p:sp>
      <p:sp>
        <p:nvSpPr>
          <p:cNvPr id="30" name="Rectangle 29"/>
          <p:cNvSpPr/>
          <p:nvPr/>
        </p:nvSpPr>
        <p:spPr>
          <a:xfrm>
            <a:off x="8046720" y="3172968"/>
            <a:ext cx="361188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20" y="3172968"/>
            <a:ext cx="50292" cy="1737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56448" y="3246120"/>
            <a:ext cx="3429000" cy="201168"/>
          </a:xfrm>
          <a:prstGeom prst="rect">
            <a:avLst/>
          </a:prstGeom>
          <a:noFill/>
        </p:spPr>
        <p:txBody>
          <a:bodyPr wrap="square">
            <a:spAutoFit/>
          </a:bodyPr>
          <a:lstStyle/>
          <a:p>
            <a:pPr algn="l"/>
            <a:r>
              <a:rPr sz="900" b="1" i="0">
                <a:solidFill>
                  <a:srgbClr val="7C3AED"/>
                </a:solidFill>
                <a:latin typeface="Arial"/>
              </a:rPr>
              <a:t>3/65 · Bottom-up</a:t>
            </a:r>
          </a:p>
        </p:txBody>
      </p:sp>
      <p:sp>
        <p:nvSpPr>
          <p:cNvPr id="33" name="TextBox 32"/>
          <p:cNvSpPr txBox="1"/>
          <p:nvPr/>
        </p:nvSpPr>
        <p:spPr>
          <a:xfrm>
            <a:off x="8156448" y="3429000"/>
            <a:ext cx="3429000" cy="320040"/>
          </a:xfrm>
          <a:prstGeom prst="rect">
            <a:avLst/>
          </a:prstGeom>
          <a:noFill/>
        </p:spPr>
        <p:txBody>
          <a:bodyPr wrap="square">
            <a:spAutoFit/>
          </a:bodyPr>
          <a:lstStyle/>
          <a:p>
            <a:pPr algn="l"/>
            <a:r>
              <a:rPr sz="1200" b="1" i="0">
                <a:solidFill>
                  <a:srgbClr val="1A1A2E"/>
                </a:solidFill>
                <a:latin typeface="Arial"/>
              </a:rPr>
              <a:t>Ver Plata y Toneladas  NUEVO</a:t>
            </a:r>
          </a:p>
        </p:txBody>
      </p:sp>
      <p:sp>
        <p:nvSpPr>
          <p:cNvPr id="34" name="TextBox 33"/>
          <p:cNvSpPr txBox="1"/>
          <p:nvPr/>
        </p:nvSpPr>
        <p:spPr>
          <a:xfrm>
            <a:off x="8156448" y="3739896"/>
            <a:ext cx="3429000" cy="1097280"/>
          </a:xfrm>
          <a:prstGeom prst="rect">
            <a:avLst/>
          </a:prstGeom>
          <a:noFill/>
        </p:spPr>
        <p:txBody>
          <a:bodyPr wrap="square">
            <a:spAutoFit/>
          </a:bodyPr>
          <a:lstStyle/>
          <a:p>
            <a:pPr algn="l"/>
            <a:r>
              <a:rPr sz="1000" b="0" i="0">
                <a:solidFill>
                  <a:srgbClr val="1A1A2E"/>
                </a:solidFill>
                <a:latin typeface="Arial"/>
              </a:rPr>
              <a:t>Operadores y ejecutivos piden lo mismo:
ver ambas dimensiones — tonelajes operativos
y su traducción a impacto económico.</a:t>
            </a:r>
          </a:p>
        </p:txBody>
      </p:sp>
      <p:sp>
        <p:nvSpPr>
          <p:cNvPr id="35" name="TextBox 34"/>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Visión Estratégica</a:t>
            </a:r>
          </a:p>
        </p:txBody>
      </p:sp>
      <p:sp>
        <p:nvSpPr>
          <p:cNvPr id="3" name="TextBox 2"/>
          <p:cNvSpPr txBox="1"/>
          <p:nvPr/>
        </p:nvSpPr>
        <p:spPr>
          <a:xfrm>
            <a:off x="4937760" y="292608"/>
            <a:ext cx="1828800" cy="274320"/>
          </a:xfrm>
          <a:prstGeom prst="rect">
            <a:avLst/>
          </a:prstGeom>
          <a:noFill/>
        </p:spPr>
        <p:txBody>
          <a:bodyPr wrap="square">
            <a:spAutoFit/>
          </a:bodyPr>
          <a:lstStyle/>
          <a:p>
            <a:pPr algn="l"/>
            <a:r>
              <a:rPr sz="900" b="1" i="0">
                <a:solidFill>
                  <a:srgbClr val="D97706"/>
                </a:solidFill>
                <a:latin typeface="Arial"/>
              </a:rPr>
              <a:t>ACTUALIZADO</a:t>
            </a:r>
          </a:p>
        </p:txBody>
      </p:sp>
      <p:sp>
        <p:nvSpPr>
          <p:cNvPr id="4" name="Rectangle 3"/>
          <p:cNvSpPr/>
          <p:nvPr/>
        </p:nvSpPr>
        <p:spPr>
          <a:xfrm>
            <a:off x="457200" y="1188720"/>
            <a:ext cx="365760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Tiempo Cero</a:t>
            </a:r>
          </a:p>
        </p:txBody>
      </p:sp>
      <p:sp>
        <p:nvSpPr>
          <p:cNvPr id="5" name="Rectangle 4"/>
          <p:cNvSpPr/>
          <p:nvPr/>
        </p:nvSpPr>
        <p:spPr>
          <a:xfrm>
            <a:off x="457200" y="1481328"/>
            <a:ext cx="3657600" cy="35478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latin typeface="Arial"/>
              </a:rPr>
              <a:t>El sistema comprime el camino de dato a acción: detecta, analiza y recomienda antes de que el operador levante la radio.</a:t>
            </a:r>
          </a:p>
          <a:p>
            <a:r>
              <a:rPr sz="1200">
                <a:solidFill>
                  <a:srgbClr val="1A1A2E"/>
                </a:solidFill>
                <a:latin typeface="Arial"/>
              </a:rPr>
              <a:t/>
            </a:r>
          </a:p>
          <a:p>
            <a:r>
              <a:rPr sz="1200">
                <a:solidFill>
                  <a:srgbClr val="1A1A2E"/>
                </a:solidFill>
                <a:latin typeface="Arial"/>
              </a:rPr>
              <a:t>Si hay demora, no sirve. El valor es la velocidad de la decisión correcta.</a:t>
            </a:r>
          </a:p>
        </p:txBody>
      </p:sp>
      <p:sp>
        <p:nvSpPr>
          <p:cNvPr id="6" name="Rectangle 5"/>
          <p:cNvSpPr/>
          <p:nvPr/>
        </p:nvSpPr>
        <p:spPr>
          <a:xfrm>
            <a:off x="4315968" y="1188720"/>
            <a:ext cx="365760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El Salto de Modelo</a:t>
            </a:r>
          </a:p>
        </p:txBody>
      </p:sp>
      <p:sp>
        <p:nvSpPr>
          <p:cNvPr id="7" name="Rectangle 6"/>
          <p:cNvSpPr/>
          <p:nvPr/>
        </p:nvSpPr>
        <p:spPr>
          <a:xfrm>
            <a:off x="4315968" y="1481328"/>
            <a:ext cx="3657600" cy="35478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latin typeface="Arial"/>
              </a:rPr>
              <a:t>De "Kiosco de Datos" a Médico Operacional.</a:t>
            </a:r>
          </a:p>
          <a:p>
            <a:r>
              <a:rPr sz="1200">
                <a:solidFill>
                  <a:srgbClr val="1A1A2E"/>
                </a:solidFill>
                <a:latin typeface="Arial"/>
              </a:rPr>
              <a:t/>
            </a:r>
          </a:p>
          <a:p>
            <a:r>
              <a:rPr sz="1200">
                <a:solidFill>
                  <a:srgbClr val="1A1A2E"/>
                </a:solidFill>
                <a:latin typeface="Arial"/>
              </a:rPr>
              <a:t>D → A → R — Detecta, Analiza, Recomienda. No hay dato sin diagnóstico, no hay diagnóstico sin prescripción.</a:t>
            </a:r>
          </a:p>
        </p:txBody>
      </p:sp>
      <p:sp>
        <p:nvSpPr>
          <p:cNvPr id="8" name="Rectangle 7"/>
          <p:cNvSpPr/>
          <p:nvPr/>
        </p:nvSpPr>
        <p:spPr>
          <a:xfrm>
            <a:off x="8174736" y="1188720"/>
            <a:ext cx="365760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000" b="1">
                <a:solidFill>
                  <a:srgbClr val="FFFFFF"/>
                </a:solidFill>
                <a:latin typeface="Arial"/>
              </a:rPr>
              <a:t>Mejoramiento Continuo  ERA CUMPLIR PLAN</a:t>
            </a:r>
          </a:p>
        </p:txBody>
      </p:sp>
      <p:sp>
        <p:nvSpPr>
          <p:cNvPr id="9" name="Rectangle 8"/>
          <p:cNvSpPr/>
          <p:nvPr/>
        </p:nvSpPr>
        <p:spPr>
          <a:xfrm>
            <a:off x="8174736" y="1481328"/>
            <a:ext cx="3657600" cy="35478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latin typeface="Arial"/>
              </a:rPr>
              <a:t>TIMining no garantiza 'cumplir el plan' — es una herramienta de planificación permanente.</a:t>
            </a:r>
          </a:p>
          <a:p>
            <a:r>
              <a:rPr sz="1200">
                <a:solidFill>
                  <a:srgbClr val="1A1A2E"/>
                </a:solidFill>
                <a:latin typeface="Arial"/>
              </a:rPr>
              <a:t/>
            </a:r>
          </a:p>
          <a:p>
            <a:r>
              <a:rPr sz="1200">
                <a:solidFill>
                  <a:srgbClr val="1A1A2E"/>
                </a:solidFill>
                <a:latin typeface="Arial"/>
              </a:rPr>
              <a:t>Dos niveles: mejoramiento continuo (turno a turno) + reconfiguración estratégica (cuando el plan es incorrecto).</a:t>
            </a:r>
          </a:p>
        </p:txBody>
      </p:sp>
      <p:sp>
        <p:nvSpPr>
          <p:cNvPr id="10" name="Rectangle 9"/>
          <p:cNvSpPr/>
          <p:nvPr/>
        </p:nvSpPr>
        <p:spPr>
          <a:xfrm>
            <a:off x="457200" y="5212080"/>
            <a:ext cx="11247120" cy="502920"/>
          </a:xfrm>
          <a:prstGeom prst="rect">
            <a:avLst/>
          </a:prstGeom>
          <a:solidFill>
            <a:srgbClr val="E0F2FE"/>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285232"/>
            <a:ext cx="10972800" cy="365760"/>
          </a:xfrm>
          <a:prstGeom prst="rect">
            <a:avLst/>
          </a:prstGeom>
          <a:noFill/>
        </p:spPr>
        <p:txBody>
          <a:bodyPr wrap="square">
            <a:spAutoFit/>
          </a:bodyPr>
          <a:lstStyle/>
          <a:p>
            <a:pPr algn="ctr"/>
            <a:r>
              <a:rPr sz="1300" b="1" i="0">
                <a:solidFill>
                  <a:srgbClr val="0891B2"/>
                </a:solidFill>
                <a:latin typeface="Arial"/>
              </a:rPr>
              <a:t>OBJETIVO: Mejoramiento continuo del Plan Minero = Plan de Negocio.</a:t>
            </a:r>
          </a:p>
        </p:txBody>
      </p:sp>
      <p:sp>
        <p:nvSpPr>
          <p:cNvPr id="12" name="TextBox 11"/>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Pilares de Diseño</a:t>
            </a:r>
          </a:p>
        </p:txBody>
      </p:sp>
      <p:sp>
        <p:nvSpPr>
          <p:cNvPr id="3" name="TextBox 2"/>
          <p:cNvSpPr txBox="1"/>
          <p:nvPr/>
        </p:nvSpPr>
        <p:spPr>
          <a:xfrm>
            <a:off x="4663440" y="292608"/>
            <a:ext cx="1828800" cy="274320"/>
          </a:xfrm>
          <a:prstGeom prst="rect">
            <a:avLst/>
          </a:prstGeom>
          <a:noFill/>
        </p:spPr>
        <p:txBody>
          <a:bodyPr wrap="square">
            <a:spAutoFit/>
          </a:bodyPr>
          <a:lstStyle/>
          <a:p>
            <a:pPr algn="l"/>
            <a:r>
              <a:rPr sz="900" b="1" i="0">
                <a:solidFill>
                  <a:srgbClr val="D97706"/>
                </a:solidFill>
                <a:latin typeface="Arial"/>
              </a:rPr>
              <a:t>ACTUALIZADO</a:t>
            </a:r>
          </a:p>
        </p:txBody>
      </p:sp>
      <p:sp>
        <p:nvSpPr>
          <p:cNvPr id="4" name="Rectangle 3"/>
          <p:cNvSpPr/>
          <p:nvPr/>
        </p:nvSpPr>
        <p:spPr>
          <a:xfrm>
            <a:off x="457200" y="1234440"/>
            <a:ext cx="2697480" cy="41148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34440"/>
            <a:ext cx="269748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61872"/>
            <a:ext cx="2560320" cy="274320"/>
          </a:xfrm>
          <a:prstGeom prst="rect">
            <a:avLst/>
          </a:prstGeom>
          <a:noFill/>
        </p:spPr>
        <p:txBody>
          <a:bodyPr wrap="square">
            <a:spAutoFit/>
          </a:bodyPr>
          <a:lstStyle/>
          <a:p>
            <a:pPr algn="l"/>
            <a:r>
              <a:rPr sz="1100" b="1" i="0">
                <a:solidFill>
                  <a:srgbClr val="FFFFFF"/>
                </a:solidFill>
                <a:latin typeface="Arial"/>
              </a:rPr>
              <a:t>Quiet UI</a:t>
            </a:r>
          </a:p>
        </p:txBody>
      </p:sp>
      <p:sp>
        <p:nvSpPr>
          <p:cNvPr id="7" name="TextBox 6"/>
          <p:cNvSpPr txBox="1"/>
          <p:nvPr/>
        </p:nvSpPr>
        <p:spPr>
          <a:xfrm>
            <a:off x="566928" y="1618488"/>
            <a:ext cx="2514600" cy="274320"/>
          </a:xfrm>
          <a:prstGeom prst="rect">
            <a:avLst/>
          </a:prstGeom>
          <a:noFill/>
        </p:spPr>
        <p:txBody>
          <a:bodyPr wrap="square">
            <a:spAutoFit/>
          </a:bodyPr>
          <a:lstStyle/>
          <a:p>
            <a:pPr algn="l"/>
            <a:r>
              <a:rPr sz="1000" b="1" i="0">
                <a:solidFill>
                  <a:srgbClr val="0891B2"/>
                </a:solidFill>
                <a:latin typeface="Arial"/>
              </a:rPr>
              <a:t>Gestión por excepción</a:t>
            </a:r>
          </a:p>
        </p:txBody>
      </p:sp>
      <p:sp>
        <p:nvSpPr>
          <p:cNvPr id="8" name="TextBox 7"/>
          <p:cNvSpPr txBox="1"/>
          <p:nvPr/>
        </p:nvSpPr>
        <p:spPr>
          <a:xfrm>
            <a:off x="566928" y="1947672"/>
            <a:ext cx="2514600" cy="2560320"/>
          </a:xfrm>
          <a:prstGeom prst="rect">
            <a:avLst/>
          </a:prstGeom>
          <a:noFill/>
        </p:spPr>
        <p:txBody>
          <a:bodyPr wrap="square">
            <a:spAutoFit/>
          </a:bodyPr>
          <a:lstStyle/>
          <a:p>
            <a:pPr algn="l"/>
            <a:r>
              <a:rPr sz="1100" b="0" i="0">
                <a:solidFill>
                  <a:srgbClr val="1A1A2E"/>
                </a:solidFill>
                <a:latin typeface="Arial"/>
              </a:rPr>
              <a:t>Silencio como default. Color y sonido reservados para la anomalía. Menos ruido, más señal.</a:t>
            </a:r>
          </a:p>
        </p:txBody>
      </p:sp>
      <p:sp>
        <p:nvSpPr>
          <p:cNvPr id="9" name="Rectangle 8"/>
          <p:cNvSpPr/>
          <p:nvPr/>
        </p:nvSpPr>
        <p:spPr>
          <a:xfrm>
            <a:off x="457200" y="4800600"/>
            <a:ext cx="2697480" cy="548640"/>
          </a:xfrm>
          <a:prstGeom prst="rect">
            <a:avLst/>
          </a:prstGeom>
          <a:solidFill>
            <a:srgbClr val="F0F9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846320"/>
            <a:ext cx="2560320" cy="457200"/>
          </a:xfrm>
          <a:prstGeom prst="rect">
            <a:avLst/>
          </a:prstGeom>
          <a:noFill/>
        </p:spPr>
        <p:txBody>
          <a:bodyPr wrap="square">
            <a:spAutoFit/>
          </a:bodyPr>
          <a:lstStyle/>
          <a:p>
            <a:pPr algn="l"/>
            <a:r>
              <a:rPr sz="1000" b="1" i="1">
                <a:solidFill>
                  <a:srgbClr val="0891B2"/>
                </a:solidFill>
                <a:latin typeface="Arial"/>
              </a:rPr>
              <a:t>¿Necesito prestar atención?</a:t>
            </a:r>
          </a:p>
        </p:txBody>
      </p:sp>
      <p:sp>
        <p:nvSpPr>
          <p:cNvPr id="11" name="Rectangle 10"/>
          <p:cNvSpPr/>
          <p:nvPr/>
        </p:nvSpPr>
        <p:spPr>
          <a:xfrm>
            <a:off x="3319272" y="1234440"/>
            <a:ext cx="2697480" cy="41148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9272" y="1234440"/>
            <a:ext cx="269748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261872"/>
            <a:ext cx="2560320" cy="274320"/>
          </a:xfrm>
          <a:prstGeom prst="rect">
            <a:avLst/>
          </a:prstGeom>
          <a:noFill/>
        </p:spPr>
        <p:txBody>
          <a:bodyPr wrap="square">
            <a:spAutoFit/>
          </a:bodyPr>
          <a:lstStyle/>
          <a:p>
            <a:pPr algn="l"/>
            <a:r>
              <a:rPr sz="1100" b="1" i="0">
                <a:solidFill>
                  <a:srgbClr val="FFFFFF"/>
                </a:solidFill>
                <a:latin typeface="Arial"/>
              </a:rPr>
              <a:t>Clear Path</a:t>
            </a:r>
          </a:p>
        </p:txBody>
      </p:sp>
      <p:sp>
        <p:nvSpPr>
          <p:cNvPr id="14" name="TextBox 13"/>
          <p:cNvSpPr txBox="1"/>
          <p:nvPr/>
        </p:nvSpPr>
        <p:spPr>
          <a:xfrm>
            <a:off x="3429000" y="1618488"/>
            <a:ext cx="2514600" cy="274320"/>
          </a:xfrm>
          <a:prstGeom prst="rect">
            <a:avLst/>
          </a:prstGeom>
          <a:noFill/>
        </p:spPr>
        <p:txBody>
          <a:bodyPr wrap="square">
            <a:spAutoFit/>
          </a:bodyPr>
          <a:lstStyle/>
          <a:p>
            <a:pPr algn="l"/>
            <a:r>
              <a:rPr sz="1000" b="1" i="0">
                <a:solidFill>
                  <a:srgbClr val="0891B2"/>
                </a:solidFill>
                <a:latin typeface="Arial"/>
              </a:rPr>
              <a:t>Cada pantalla → acción</a:t>
            </a:r>
          </a:p>
        </p:txBody>
      </p:sp>
      <p:sp>
        <p:nvSpPr>
          <p:cNvPr id="15" name="TextBox 14"/>
          <p:cNvSpPr txBox="1"/>
          <p:nvPr/>
        </p:nvSpPr>
        <p:spPr>
          <a:xfrm>
            <a:off x="3429000" y="1947672"/>
            <a:ext cx="2514600" cy="2560320"/>
          </a:xfrm>
          <a:prstGeom prst="rect">
            <a:avLst/>
          </a:prstGeom>
          <a:noFill/>
        </p:spPr>
        <p:txBody>
          <a:bodyPr wrap="square">
            <a:spAutoFit/>
          </a:bodyPr>
          <a:lstStyle/>
          <a:p>
            <a:pPr algn="l"/>
            <a:r>
              <a:rPr sz="1100" b="0" i="0">
                <a:solidFill>
                  <a:srgbClr val="1A1A2E"/>
                </a:solidFill>
                <a:latin typeface="Arial"/>
              </a:rPr>
              <a:t>D→A→R: detecta, analiza, recomienda. No hay dato sin prescripción.</a:t>
            </a:r>
          </a:p>
        </p:txBody>
      </p:sp>
      <p:sp>
        <p:nvSpPr>
          <p:cNvPr id="16" name="Rectangle 15"/>
          <p:cNvSpPr/>
          <p:nvPr/>
        </p:nvSpPr>
        <p:spPr>
          <a:xfrm>
            <a:off x="3319272" y="4800600"/>
            <a:ext cx="2697480" cy="548640"/>
          </a:xfrm>
          <a:prstGeom prst="rect">
            <a:avLst/>
          </a:prstGeom>
          <a:solidFill>
            <a:srgbClr val="F0F9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0712" y="4846320"/>
            <a:ext cx="2560320" cy="457200"/>
          </a:xfrm>
          <a:prstGeom prst="rect">
            <a:avLst/>
          </a:prstGeom>
          <a:noFill/>
        </p:spPr>
        <p:txBody>
          <a:bodyPr wrap="square">
            <a:spAutoFit/>
          </a:bodyPr>
          <a:lstStyle/>
          <a:p>
            <a:pPr algn="l"/>
            <a:r>
              <a:rPr sz="1000" b="1" i="1">
                <a:solidFill>
                  <a:srgbClr val="0891B2"/>
                </a:solidFill>
                <a:latin typeface="Arial"/>
              </a:rPr>
              <a:t>¿Qué debo hacer?</a:t>
            </a:r>
          </a:p>
        </p:txBody>
      </p:sp>
      <p:sp>
        <p:nvSpPr>
          <p:cNvPr id="18" name="Rectangle 17"/>
          <p:cNvSpPr/>
          <p:nvPr/>
        </p:nvSpPr>
        <p:spPr>
          <a:xfrm>
            <a:off x="6181344" y="1234440"/>
            <a:ext cx="2697480" cy="41148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1234440"/>
            <a:ext cx="269748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2784" y="1261872"/>
            <a:ext cx="2560320" cy="274320"/>
          </a:xfrm>
          <a:prstGeom prst="rect">
            <a:avLst/>
          </a:prstGeom>
          <a:noFill/>
        </p:spPr>
        <p:txBody>
          <a:bodyPr wrap="square">
            <a:spAutoFit/>
          </a:bodyPr>
          <a:lstStyle/>
          <a:p>
            <a:pPr algn="l"/>
            <a:r>
              <a:rPr sz="1100" b="1" i="0">
                <a:solidFill>
                  <a:srgbClr val="FFFFFF"/>
                </a:solidFill>
                <a:latin typeface="Arial"/>
              </a:rPr>
              <a:t>Time Sight</a:t>
            </a:r>
          </a:p>
        </p:txBody>
      </p:sp>
      <p:sp>
        <p:nvSpPr>
          <p:cNvPr id="21" name="TextBox 20"/>
          <p:cNvSpPr txBox="1"/>
          <p:nvPr/>
        </p:nvSpPr>
        <p:spPr>
          <a:xfrm>
            <a:off x="6291072" y="1618488"/>
            <a:ext cx="2514600" cy="274320"/>
          </a:xfrm>
          <a:prstGeom prst="rect">
            <a:avLst/>
          </a:prstGeom>
          <a:noFill/>
        </p:spPr>
        <p:txBody>
          <a:bodyPr wrap="square">
            <a:spAutoFit/>
          </a:bodyPr>
          <a:lstStyle/>
          <a:p>
            <a:pPr algn="l"/>
            <a:r>
              <a:rPr sz="1000" b="1" i="0">
                <a:solidFill>
                  <a:srgbClr val="D97706"/>
                </a:solidFill>
                <a:latin typeface="Arial"/>
              </a:rPr>
              <a:t>Consciencia temporal</a:t>
            </a:r>
          </a:p>
        </p:txBody>
      </p:sp>
      <p:sp>
        <p:nvSpPr>
          <p:cNvPr id="22" name="TextBox 21"/>
          <p:cNvSpPr txBox="1"/>
          <p:nvPr/>
        </p:nvSpPr>
        <p:spPr>
          <a:xfrm>
            <a:off x="6291072" y="1947672"/>
            <a:ext cx="2514600" cy="2560320"/>
          </a:xfrm>
          <a:prstGeom prst="rect">
            <a:avLst/>
          </a:prstGeom>
          <a:noFill/>
        </p:spPr>
        <p:txBody>
          <a:bodyPr wrap="square">
            <a:spAutoFit/>
          </a:bodyPr>
          <a:lstStyle/>
          <a:p>
            <a:pPr algn="l"/>
            <a:r>
              <a:rPr sz="1100" b="0" i="0">
                <a:solidFill>
                  <a:srgbClr val="1A1A2E"/>
                </a:solidFill>
                <a:latin typeface="Arial"/>
              </a:rPr>
              <a:t>Entender qué pasó antes para explicar lo que pasa ahora y anticipar lo que viene. No es rebobinar — es trazabilidad causal y predicción.</a:t>
            </a:r>
          </a:p>
        </p:txBody>
      </p:sp>
      <p:sp>
        <p:nvSpPr>
          <p:cNvPr id="23" name="Rectangle 22"/>
          <p:cNvSpPr/>
          <p:nvPr/>
        </p:nvSpPr>
        <p:spPr>
          <a:xfrm>
            <a:off x="6181344" y="4800600"/>
            <a:ext cx="2697480" cy="548640"/>
          </a:xfrm>
          <a:prstGeom prst="rect">
            <a:avLst/>
          </a:prstGeom>
          <a:solidFill>
            <a:srgbClr val="F0F9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2784" y="4846320"/>
            <a:ext cx="2560320" cy="457200"/>
          </a:xfrm>
          <a:prstGeom prst="rect">
            <a:avLst/>
          </a:prstGeom>
          <a:noFill/>
        </p:spPr>
        <p:txBody>
          <a:bodyPr wrap="square">
            <a:spAutoFit/>
          </a:bodyPr>
          <a:lstStyle/>
          <a:p>
            <a:pPr algn="l"/>
            <a:r>
              <a:rPr sz="1000" b="1" i="1">
                <a:solidFill>
                  <a:srgbClr val="D97706"/>
                </a:solidFill>
                <a:latin typeface="Arial"/>
              </a:rPr>
              <a:t>¿De dónde viene esto y qué sigue?</a:t>
            </a:r>
          </a:p>
        </p:txBody>
      </p:sp>
      <p:sp>
        <p:nvSpPr>
          <p:cNvPr id="25" name="Rectangle 24"/>
          <p:cNvSpPr/>
          <p:nvPr/>
        </p:nvSpPr>
        <p:spPr>
          <a:xfrm>
            <a:off x="9043416" y="1234440"/>
            <a:ext cx="2697480" cy="41148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43416" y="1234440"/>
            <a:ext cx="2697480" cy="3200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4856" y="1261872"/>
            <a:ext cx="2560320" cy="274320"/>
          </a:xfrm>
          <a:prstGeom prst="rect">
            <a:avLst/>
          </a:prstGeom>
          <a:noFill/>
        </p:spPr>
        <p:txBody>
          <a:bodyPr wrap="square">
            <a:spAutoFit/>
          </a:bodyPr>
          <a:lstStyle/>
          <a:p>
            <a:pPr algn="l"/>
            <a:r>
              <a:rPr sz="1100" b="1" i="0">
                <a:solidFill>
                  <a:srgbClr val="FFFFFF"/>
                </a:solidFill>
                <a:latin typeface="Arial"/>
              </a:rPr>
              <a:t>Omni Sense  MULTIMODAL</a:t>
            </a:r>
          </a:p>
        </p:txBody>
      </p:sp>
      <p:sp>
        <p:nvSpPr>
          <p:cNvPr id="28" name="TextBox 27"/>
          <p:cNvSpPr txBox="1"/>
          <p:nvPr/>
        </p:nvSpPr>
        <p:spPr>
          <a:xfrm>
            <a:off x="9153144" y="1618488"/>
            <a:ext cx="2514600" cy="274320"/>
          </a:xfrm>
          <a:prstGeom prst="rect">
            <a:avLst/>
          </a:prstGeom>
          <a:noFill/>
        </p:spPr>
        <p:txBody>
          <a:bodyPr wrap="square">
            <a:spAutoFit/>
          </a:bodyPr>
          <a:lstStyle/>
          <a:p>
            <a:pPr algn="l"/>
            <a:r>
              <a:rPr sz="1000" b="1" i="0">
                <a:solidFill>
                  <a:srgbClr val="16A34A"/>
                </a:solidFill>
                <a:latin typeface="Arial"/>
              </a:rPr>
              <a:t>Percibe · Comprende · Responde</a:t>
            </a:r>
          </a:p>
        </p:txBody>
      </p:sp>
      <p:sp>
        <p:nvSpPr>
          <p:cNvPr id="29" name="TextBox 28"/>
          <p:cNvSpPr txBox="1"/>
          <p:nvPr/>
        </p:nvSpPr>
        <p:spPr>
          <a:xfrm>
            <a:off x="9153144" y="1947672"/>
            <a:ext cx="2514600" cy="2560320"/>
          </a:xfrm>
          <a:prstGeom prst="rect">
            <a:avLst/>
          </a:prstGeom>
          <a:noFill/>
        </p:spPr>
        <p:txBody>
          <a:bodyPr wrap="square">
            <a:spAutoFit/>
          </a:bodyPr>
          <a:lstStyle/>
          <a:p>
            <a:pPr algn="l"/>
            <a:r>
              <a:rPr sz="1100" b="0" i="0">
                <a:solidFill>
                  <a:srgbClr val="1A1A2E"/>
                </a:solidFill>
                <a:latin typeface="Arial"/>
              </a:rPr>
              <a:t>El sistema te alcanza donde estés: WhatsApp, radio, IROC. El canal es parte de la inteligencia — el touchpoint con el usuario.</a:t>
            </a:r>
          </a:p>
        </p:txBody>
      </p:sp>
      <p:sp>
        <p:nvSpPr>
          <p:cNvPr id="30" name="Rectangle 29"/>
          <p:cNvSpPr/>
          <p:nvPr/>
        </p:nvSpPr>
        <p:spPr>
          <a:xfrm>
            <a:off x="9043416" y="4800600"/>
            <a:ext cx="2697480" cy="548640"/>
          </a:xfrm>
          <a:prstGeom prst="rect">
            <a:avLst/>
          </a:prstGeom>
          <a:solidFill>
            <a:srgbClr val="F0F9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34856" y="4846320"/>
            <a:ext cx="2560320" cy="457200"/>
          </a:xfrm>
          <a:prstGeom prst="rect">
            <a:avLst/>
          </a:prstGeom>
          <a:noFill/>
        </p:spPr>
        <p:txBody>
          <a:bodyPr wrap="square">
            <a:spAutoFit/>
          </a:bodyPr>
          <a:lstStyle/>
          <a:p>
            <a:pPr algn="l"/>
            <a:r>
              <a:rPr sz="1000" b="1" i="1">
                <a:solidFill>
                  <a:srgbClr val="16A34A"/>
                </a:solidFill>
                <a:latin typeface="Arial"/>
              </a:rPr>
              <a:t>¿Dónde y cómo me llega?</a:t>
            </a:r>
          </a:p>
        </p:txBody>
      </p:sp>
      <p:sp>
        <p:nvSpPr>
          <p:cNvPr id="32" name="TextBox 31"/>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Síntesis Estratégica</a:t>
            </a:r>
          </a:p>
        </p:txBody>
      </p:sp>
      <p:sp>
        <p:nvSpPr>
          <p:cNvPr id="3" name="TextBox 2"/>
          <p:cNvSpPr txBox="1"/>
          <p:nvPr/>
        </p:nvSpPr>
        <p:spPr>
          <a:xfrm>
            <a:off x="457200" y="822960"/>
            <a:ext cx="11430000" cy="274320"/>
          </a:xfrm>
          <a:prstGeom prst="rect">
            <a:avLst/>
          </a:prstGeom>
          <a:noFill/>
        </p:spPr>
        <p:txBody>
          <a:bodyPr wrap="square">
            <a:spAutoFit/>
          </a:bodyPr>
          <a:lstStyle/>
          <a:p>
            <a:pPr algn="l"/>
            <a:r>
              <a:rPr sz="1200" b="0" i="0">
                <a:solidFill>
                  <a:srgbClr val="6B7280"/>
                </a:solidFill>
                <a:latin typeface="Arial"/>
              </a:rPr>
              <a:t>Marco integrado de visión, dominios y pilares de diseño</a:t>
            </a:r>
          </a:p>
        </p:txBody>
      </p:sp>
      <p:sp>
        <p:nvSpPr>
          <p:cNvPr id="4" name="Rectangle 3"/>
          <p:cNvSpPr/>
          <p:nvPr/>
        </p:nvSpPr>
        <p:spPr>
          <a:xfrm>
            <a:off x="457200" y="1234440"/>
            <a:ext cx="11247120" cy="347472"/>
          </a:xfrm>
          <a:prstGeom prst="rect">
            <a:avLst/>
          </a:prstGeom>
          <a:solidFill>
            <a:srgbClr val="E0F2FE"/>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61872"/>
            <a:ext cx="10972800" cy="274320"/>
          </a:xfrm>
          <a:prstGeom prst="rect">
            <a:avLst/>
          </a:prstGeom>
          <a:noFill/>
        </p:spPr>
        <p:txBody>
          <a:bodyPr wrap="square">
            <a:spAutoFit/>
          </a:bodyPr>
          <a:lstStyle/>
          <a:p>
            <a:pPr algn="ctr"/>
            <a:r>
              <a:rPr sz="1100" b="1" i="0">
                <a:solidFill>
                  <a:srgbClr val="0891B2"/>
                </a:solidFill>
                <a:latin typeface="Arial"/>
              </a:rPr>
              <a:t>CÓMO — Pilares de diseño:   Quiet UI  ·  Clear Path  ·  Time Sight  ·  Omni Sense</a:t>
            </a:r>
          </a:p>
        </p:txBody>
      </p:sp>
      <p:sp>
        <p:nvSpPr>
          <p:cNvPr id="6" name="Rectangle 5"/>
          <p:cNvSpPr/>
          <p:nvPr/>
        </p:nvSpPr>
        <p:spPr>
          <a:xfrm>
            <a:off x="457200" y="1737360"/>
            <a:ext cx="3200400" cy="77724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737360"/>
            <a:ext cx="32004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01368"/>
            <a:ext cx="3063240" cy="256032"/>
          </a:xfrm>
          <a:prstGeom prst="rect">
            <a:avLst/>
          </a:prstGeom>
          <a:noFill/>
        </p:spPr>
        <p:txBody>
          <a:bodyPr wrap="square">
            <a:spAutoFit/>
          </a:bodyPr>
          <a:lstStyle/>
          <a:p>
            <a:pPr algn="l"/>
            <a:r>
              <a:rPr sz="1200" b="1" i="0">
                <a:solidFill>
                  <a:srgbClr val="0891B2"/>
                </a:solidFill>
                <a:latin typeface="Arial"/>
              </a:rPr>
              <a:t>A · Crisis</a:t>
            </a:r>
          </a:p>
        </p:txBody>
      </p:sp>
      <p:sp>
        <p:nvSpPr>
          <p:cNvPr id="9" name="TextBox 8"/>
          <p:cNvSpPr txBox="1"/>
          <p:nvPr/>
        </p:nvSpPr>
        <p:spPr>
          <a:xfrm>
            <a:off x="548640" y="2103120"/>
            <a:ext cx="3063240" cy="292608"/>
          </a:xfrm>
          <a:prstGeom prst="rect">
            <a:avLst/>
          </a:prstGeom>
          <a:noFill/>
        </p:spPr>
        <p:txBody>
          <a:bodyPr wrap="square">
            <a:spAutoFit/>
          </a:bodyPr>
          <a:lstStyle/>
          <a:p>
            <a:pPr algn="l"/>
            <a:r>
              <a:rPr sz="1000" b="0" i="1">
                <a:solidFill>
                  <a:srgbClr val="6B7280"/>
                </a:solidFill>
                <a:latin typeface="Arial"/>
              </a:rPr>
              <a:t>"Algo se rompió"</a:t>
            </a:r>
          </a:p>
        </p:txBody>
      </p:sp>
      <p:sp>
        <p:nvSpPr>
          <p:cNvPr id="10" name="Rectangle 9"/>
          <p:cNvSpPr/>
          <p:nvPr/>
        </p:nvSpPr>
        <p:spPr>
          <a:xfrm>
            <a:off x="3840480" y="1737360"/>
            <a:ext cx="3200400" cy="777240"/>
          </a:xfrm>
          <a:prstGeom prst="rect">
            <a:avLst/>
          </a:prstGeom>
          <a:solidFill>
            <a:srgbClr val="F8FAFC"/>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40480" y="1737360"/>
            <a:ext cx="32004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1801368"/>
            <a:ext cx="3063240" cy="256032"/>
          </a:xfrm>
          <a:prstGeom prst="rect">
            <a:avLst/>
          </a:prstGeom>
          <a:noFill/>
        </p:spPr>
        <p:txBody>
          <a:bodyPr wrap="square">
            <a:spAutoFit/>
          </a:bodyPr>
          <a:lstStyle/>
          <a:p>
            <a:pPr algn="l"/>
            <a:r>
              <a:rPr sz="1200" b="1" i="0">
                <a:solidFill>
                  <a:srgbClr val="D97706"/>
                </a:solidFill>
                <a:latin typeface="Arial"/>
              </a:rPr>
              <a:t>B · Anticipación</a:t>
            </a:r>
          </a:p>
        </p:txBody>
      </p:sp>
      <p:sp>
        <p:nvSpPr>
          <p:cNvPr id="13" name="TextBox 12"/>
          <p:cNvSpPr txBox="1"/>
          <p:nvPr/>
        </p:nvSpPr>
        <p:spPr>
          <a:xfrm>
            <a:off x="3931920" y="2103120"/>
            <a:ext cx="3063240" cy="292608"/>
          </a:xfrm>
          <a:prstGeom prst="rect">
            <a:avLst/>
          </a:prstGeom>
          <a:noFill/>
        </p:spPr>
        <p:txBody>
          <a:bodyPr wrap="square">
            <a:spAutoFit/>
          </a:bodyPr>
          <a:lstStyle/>
          <a:p>
            <a:pPr algn="l"/>
            <a:r>
              <a:rPr sz="1000" b="0" i="1">
                <a:solidFill>
                  <a:srgbClr val="6B7280"/>
                </a:solidFill>
                <a:latin typeface="Arial"/>
              </a:rPr>
              <a:t>"Va a fallar"</a:t>
            </a:r>
          </a:p>
        </p:txBody>
      </p:sp>
      <p:sp>
        <p:nvSpPr>
          <p:cNvPr id="14" name="Rectangle 13"/>
          <p:cNvSpPr/>
          <p:nvPr/>
        </p:nvSpPr>
        <p:spPr>
          <a:xfrm>
            <a:off x="7223760" y="1737360"/>
            <a:ext cx="3200400" cy="77724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23760" y="1737360"/>
            <a:ext cx="32004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801368"/>
            <a:ext cx="3063240" cy="256032"/>
          </a:xfrm>
          <a:prstGeom prst="rect">
            <a:avLst/>
          </a:prstGeom>
          <a:noFill/>
        </p:spPr>
        <p:txBody>
          <a:bodyPr wrap="square">
            <a:spAutoFit/>
          </a:bodyPr>
          <a:lstStyle/>
          <a:p>
            <a:pPr algn="l"/>
            <a:r>
              <a:rPr sz="1200" b="1" i="0">
                <a:solidFill>
                  <a:srgbClr val="16A34A"/>
                </a:solidFill>
                <a:latin typeface="Arial"/>
              </a:rPr>
              <a:t>C · Asistencia</a:t>
            </a:r>
          </a:p>
        </p:txBody>
      </p:sp>
      <p:sp>
        <p:nvSpPr>
          <p:cNvPr id="17" name="TextBox 16"/>
          <p:cNvSpPr txBox="1"/>
          <p:nvPr/>
        </p:nvSpPr>
        <p:spPr>
          <a:xfrm>
            <a:off x="7315200" y="2103120"/>
            <a:ext cx="3063240" cy="292608"/>
          </a:xfrm>
          <a:prstGeom prst="rect">
            <a:avLst/>
          </a:prstGeom>
          <a:noFill/>
        </p:spPr>
        <p:txBody>
          <a:bodyPr wrap="square">
            <a:spAutoFit/>
          </a:bodyPr>
          <a:lstStyle/>
          <a:p>
            <a:pPr algn="l"/>
            <a:r>
              <a:rPr sz="1000" b="0" i="1">
                <a:solidFill>
                  <a:srgbClr val="6B7280"/>
                </a:solidFill>
                <a:latin typeface="Arial"/>
              </a:rPr>
              <a:t>"Procesa esto por mí"</a:t>
            </a:r>
          </a:p>
        </p:txBody>
      </p:sp>
      <p:sp>
        <p:nvSpPr>
          <p:cNvPr id="18" name="Rectangle 17"/>
          <p:cNvSpPr/>
          <p:nvPr/>
        </p:nvSpPr>
        <p:spPr>
          <a:xfrm>
            <a:off x="9966960" y="1737360"/>
            <a:ext cx="1920240" cy="777240"/>
          </a:xfrm>
          <a:prstGeom prst="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1801368"/>
            <a:ext cx="1737360" cy="685800"/>
          </a:xfrm>
          <a:prstGeom prst="rect">
            <a:avLst/>
          </a:prstGeom>
          <a:noFill/>
        </p:spPr>
        <p:txBody>
          <a:bodyPr wrap="square">
            <a:spAutoFit/>
          </a:bodyPr>
          <a:lstStyle/>
          <a:p>
            <a:pPr algn="l"/>
            <a:r>
              <a:rPr sz="1000" b="1" i="0">
                <a:solidFill>
                  <a:srgbClr val="7C3AED"/>
                </a:solidFill>
                <a:latin typeface="Arial"/>
              </a:rPr>
              <a:t>Alineación
Estratégica
(envolvente)</a:t>
            </a:r>
          </a:p>
        </p:txBody>
      </p:sp>
      <p:sp>
        <p:nvSpPr>
          <p:cNvPr id="20" name="Rectangle 19"/>
          <p:cNvSpPr/>
          <p:nvPr/>
        </p:nvSpPr>
        <p:spPr>
          <a:xfrm>
            <a:off x="3200400" y="2743200"/>
            <a:ext cx="5760720" cy="1417320"/>
          </a:xfrm>
          <a:prstGeom prst="rect">
            <a:avLst/>
          </a:prstGeom>
          <a:solidFill>
            <a:srgbClr val="E0F2FE"/>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0" y="2798064"/>
            <a:ext cx="5486400" cy="274320"/>
          </a:xfrm>
          <a:prstGeom prst="rect">
            <a:avLst/>
          </a:prstGeom>
          <a:noFill/>
        </p:spPr>
        <p:txBody>
          <a:bodyPr wrap="square">
            <a:spAutoFit/>
          </a:bodyPr>
          <a:lstStyle/>
          <a:p>
            <a:pPr algn="ctr"/>
            <a:r>
              <a:rPr sz="1000" b="1" i="0">
                <a:solidFill>
                  <a:srgbClr val="0891B2"/>
                </a:solidFill>
                <a:latin typeface="Arial"/>
              </a:rPr>
              <a:t>POR QUÉ — Visión estratégica</a:t>
            </a:r>
          </a:p>
        </p:txBody>
      </p:sp>
      <p:sp>
        <p:nvSpPr>
          <p:cNvPr id="22" name="TextBox 21"/>
          <p:cNvSpPr txBox="1"/>
          <p:nvPr/>
        </p:nvSpPr>
        <p:spPr>
          <a:xfrm>
            <a:off x="3383280" y="3090672"/>
            <a:ext cx="5486400" cy="548640"/>
          </a:xfrm>
          <a:prstGeom prst="rect">
            <a:avLst/>
          </a:prstGeom>
          <a:noFill/>
        </p:spPr>
        <p:txBody>
          <a:bodyPr wrap="square">
            <a:spAutoFit/>
          </a:bodyPr>
          <a:lstStyle/>
          <a:p>
            <a:pPr algn="ctr"/>
            <a:r>
              <a:rPr sz="1400" b="1" i="0">
                <a:solidFill>
                  <a:srgbClr val="1A1A2E"/>
                </a:solidFill>
                <a:latin typeface="Arial"/>
              </a:rPr>
              <a:t>Mejoramiento Continuo del Plan Minero = Plan de Negocio</a:t>
            </a:r>
          </a:p>
        </p:txBody>
      </p:sp>
      <p:sp>
        <p:nvSpPr>
          <p:cNvPr id="23" name="Rectangle 22"/>
          <p:cNvSpPr/>
          <p:nvPr/>
        </p:nvSpPr>
        <p:spPr>
          <a:xfrm>
            <a:off x="457200" y="4343400"/>
            <a:ext cx="2560320" cy="82296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343400"/>
            <a:ext cx="45720" cy="8229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416552"/>
            <a:ext cx="2377440" cy="731520"/>
          </a:xfrm>
          <a:prstGeom prst="rect">
            <a:avLst/>
          </a:prstGeom>
          <a:noFill/>
        </p:spPr>
        <p:txBody>
          <a:bodyPr wrap="square">
            <a:spAutoFit/>
          </a:bodyPr>
          <a:lstStyle/>
          <a:p>
            <a:pPr algn="l"/>
            <a:r>
              <a:rPr sz="1100" b="1" i="0">
                <a:solidFill>
                  <a:srgbClr val="0891B2"/>
                </a:solidFill>
                <a:latin typeface="Arial"/>
              </a:rPr>
              <a:t>Quiet UI
gestión por excepción</a:t>
            </a:r>
          </a:p>
        </p:txBody>
      </p:sp>
      <p:sp>
        <p:nvSpPr>
          <p:cNvPr id="26" name="Rectangle 25"/>
          <p:cNvSpPr/>
          <p:nvPr/>
        </p:nvSpPr>
        <p:spPr>
          <a:xfrm>
            <a:off x="3383280" y="4343400"/>
            <a:ext cx="2560320" cy="82296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83280" y="4343400"/>
            <a:ext cx="45720" cy="8229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93008" y="4416552"/>
            <a:ext cx="2377440" cy="731520"/>
          </a:xfrm>
          <a:prstGeom prst="rect">
            <a:avLst/>
          </a:prstGeom>
          <a:noFill/>
        </p:spPr>
        <p:txBody>
          <a:bodyPr wrap="square">
            <a:spAutoFit/>
          </a:bodyPr>
          <a:lstStyle/>
          <a:p>
            <a:pPr algn="l"/>
            <a:r>
              <a:rPr sz="1100" b="1" i="0">
                <a:solidFill>
                  <a:srgbClr val="0891B2"/>
                </a:solidFill>
                <a:latin typeface="Arial"/>
              </a:rPr>
              <a:t>Clear Path
recomendador proactivo</a:t>
            </a:r>
          </a:p>
        </p:txBody>
      </p:sp>
      <p:sp>
        <p:nvSpPr>
          <p:cNvPr id="29" name="Rectangle 28"/>
          <p:cNvSpPr/>
          <p:nvPr/>
        </p:nvSpPr>
        <p:spPr>
          <a:xfrm>
            <a:off x="6309360" y="4343400"/>
            <a:ext cx="2560320" cy="822960"/>
          </a:xfrm>
          <a:prstGeom prst="rect">
            <a:avLst/>
          </a:prstGeom>
          <a:solidFill>
            <a:srgbClr val="F8FAFC"/>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4343400"/>
            <a:ext cx="45720"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4416552"/>
            <a:ext cx="2377440" cy="731520"/>
          </a:xfrm>
          <a:prstGeom prst="rect">
            <a:avLst/>
          </a:prstGeom>
          <a:noFill/>
        </p:spPr>
        <p:txBody>
          <a:bodyPr wrap="square">
            <a:spAutoFit/>
          </a:bodyPr>
          <a:lstStyle/>
          <a:p>
            <a:pPr algn="l"/>
            <a:r>
              <a:rPr sz="1100" b="1" i="0">
                <a:solidFill>
                  <a:srgbClr val="D97706"/>
                </a:solidFill>
                <a:latin typeface="Arial"/>
              </a:rPr>
              <a:t>Time Sight
trazabilidad temporal</a:t>
            </a:r>
          </a:p>
        </p:txBody>
      </p:sp>
      <p:sp>
        <p:nvSpPr>
          <p:cNvPr id="32" name="Rectangle 31"/>
          <p:cNvSpPr/>
          <p:nvPr/>
        </p:nvSpPr>
        <p:spPr>
          <a:xfrm>
            <a:off x="9235440" y="4343400"/>
            <a:ext cx="2560320" cy="82296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35440" y="4343400"/>
            <a:ext cx="45720" cy="822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45168" y="4416552"/>
            <a:ext cx="2377440" cy="731520"/>
          </a:xfrm>
          <a:prstGeom prst="rect">
            <a:avLst/>
          </a:prstGeom>
          <a:noFill/>
        </p:spPr>
        <p:txBody>
          <a:bodyPr wrap="square">
            <a:spAutoFit/>
          </a:bodyPr>
          <a:lstStyle/>
          <a:p>
            <a:pPr algn="l"/>
            <a:r>
              <a:rPr sz="1100" b="1" i="0">
                <a:solidFill>
                  <a:srgbClr val="16A34A"/>
                </a:solidFill>
                <a:latin typeface="Arial"/>
              </a:rPr>
              <a:t>Omni Sense
presencia omnicanal</a:t>
            </a:r>
          </a:p>
        </p:txBody>
      </p:sp>
      <p:sp>
        <p:nvSpPr>
          <p:cNvPr id="35" name="Rectangle 34"/>
          <p:cNvSpPr/>
          <p:nvPr/>
        </p:nvSpPr>
        <p:spPr>
          <a:xfrm>
            <a:off x="457200" y="5321808"/>
            <a:ext cx="11247120" cy="438912"/>
          </a:xfrm>
          <a:prstGeom prst="rect">
            <a:avLst/>
          </a:prstGeom>
          <a:solidFill>
            <a:srgbClr val="FFF7ED"/>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394960"/>
            <a:ext cx="10972800" cy="292608"/>
          </a:xfrm>
          <a:prstGeom prst="rect">
            <a:avLst/>
          </a:prstGeom>
          <a:noFill/>
        </p:spPr>
        <p:txBody>
          <a:bodyPr wrap="square">
            <a:spAutoFit/>
          </a:bodyPr>
          <a:lstStyle/>
          <a:p>
            <a:pPr algn="ctr"/>
            <a:r>
              <a:rPr sz="1200" b="1" i="0">
                <a:solidFill>
                  <a:srgbClr val="D97706"/>
                </a:solidFill>
                <a:latin typeface="Arial"/>
              </a:rPr>
              <a:t>◆  Confianza en Datos — prerrequisito fundacional</a:t>
            </a:r>
          </a:p>
        </p:txBody>
      </p:sp>
      <p:sp>
        <p:nvSpPr>
          <p:cNvPr id="37" name="TextBox 36"/>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Arquitectura de Dominios</a:t>
            </a:r>
          </a:p>
        </p:txBody>
      </p:sp>
      <p:sp>
        <p:nvSpPr>
          <p:cNvPr id="3" name="TextBox 2"/>
          <p:cNvSpPr txBox="1"/>
          <p:nvPr/>
        </p:nvSpPr>
        <p:spPr>
          <a:xfrm>
            <a:off x="5257800" y="292608"/>
            <a:ext cx="2286000" cy="274320"/>
          </a:xfrm>
          <a:prstGeom prst="rect">
            <a:avLst/>
          </a:prstGeom>
          <a:noFill/>
        </p:spPr>
        <p:txBody>
          <a:bodyPr wrap="square">
            <a:spAutoFit/>
          </a:bodyPr>
          <a:lstStyle/>
          <a:p>
            <a:pPr algn="l"/>
            <a:r>
              <a:rPr sz="900" b="1" i="0">
                <a:solidFill>
                  <a:srgbClr val="D97706"/>
                </a:solidFill>
                <a:latin typeface="Arial"/>
              </a:rPr>
              <a:t>REESTRUCTURADO</a:t>
            </a:r>
          </a:p>
        </p:txBody>
      </p:sp>
      <p:sp>
        <p:nvSpPr>
          <p:cNvPr id="4" name="TextBox 3"/>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Los 4 dominios no son pares. Alineación Estratégica envuelve a los demás — todo se traduce a valor de negocio.</a:t>
            </a:r>
          </a:p>
        </p:txBody>
      </p:sp>
      <p:sp>
        <p:nvSpPr>
          <p:cNvPr id="5" name="Rectangle 4"/>
          <p:cNvSpPr/>
          <p:nvPr/>
        </p:nvSpPr>
        <p:spPr>
          <a:xfrm>
            <a:off x="457200" y="1234440"/>
            <a:ext cx="11247120" cy="3520440"/>
          </a:xfrm>
          <a:prstGeom prst="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98448"/>
            <a:ext cx="7315200" cy="320040"/>
          </a:xfrm>
          <a:prstGeom prst="rect">
            <a:avLst/>
          </a:prstGeom>
          <a:noFill/>
        </p:spPr>
        <p:txBody>
          <a:bodyPr wrap="square">
            <a:spAutoFit/>
          </a:bodyPr>
          <a:lstStyle/>
          <a:p>
            <a:pPr algn="l"/>
            <a:r>
              <a:rPr sz="1300" b="1" i="0">
                <a:solidFill>
                  <a:srgbClr val="7C3AED"/>
                </a:solidFill>
                <a:latin typeface="Arial"/>
              </a:rPr>
              <a:t>Alineación Estratégica (envolvente)</a:t>
            </a:r>
          </a:p>
        </p:txBody>
      </p:sp>
      <p:sp>
        <p:nvSpPr>
          <p:cNvPr id="7" name="TextBox 6"/>
          <p:cNvSpPr txBox="1"/>
          <p:nvPr/>
        </p:nvSpPr>
        <p:spPr>
          <a:xfrm>
            <a:off x="640080" y="1600200"/>
            <a:ext cx="7315200" cy="274320"/>
          </a:xfrm>
          <a:prstGeom prst="rect">
            <a:avLst/>
          </a:prstGeom>
          <a:noFill/>
        </p:spPr>
        <p:txBody>
          <a:bodyPr wrap="square">
            <a:spAutoFit/>
          </a:bodyPr>
          <a:lstStyle/>
          <a:p>
            <a:pPr algn="l"/>
            <a:r>
              <a:rPr sz="1100" b="0" i="1">
                <a:solidFill>
                  <a:srgbClr val="6B7280"/>
                </a:solidFill>
                <a:latin typeface="Arial"/>
              </a:rPr>
              <a:t>"¿Cómo mejoramos el plan?" — Todo se traduce a valor de negocio</a:t>
            </a:r>
          </a:p>
        </p:txBody>
      </p:sp>
      <p:sp>
        <p:nvSpPr>
          <p:cNvPr id="8" name="Rectangle 7"/>
          <p:cNvSpPr/>
          <p:nvPr/>
        </p:nvSpPr>
        <p:spPr>
          <a:xfrm>
            <a:off x="685800" y="2011680"/>
            <a:ext cx="3383280" cy="164592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01168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103120"/>
            <a:ext cx="3200400" cy="292608"/>
          </a:xfrm>
          <a:prstGeom prst="rect">
            <a:avLst/>
          </a:prstGeom>
          <a:noFill/>
        </p:spPr>
        <p:txBody>
          <a:bodyPr wrap="square">
            <a:spAutoFit/>
          </a:bodyPr>
          <a:lstStyle/>
          <a:p>
            <a:pPr algn="l"/>
            <a:r>
              <a:rPr sz="1400" b="1" i="0">
                <a:solidFill>
                  <a:srgbClr val="0891B2"/>
                </a:solidFill>
                <a:latin typeface="Arial"/>
              </a:rPr>
              <a:t>A · Crisis</a:t>
            </a:r>
          </a:p>
        </p:txBody>
      </p:sp>
      <p:sp>
        <p:nvSpPr>
          <p:cNvPr id="11" name="TextBox 10"/>
          <p:cNvSpPr txBox="1"/>
          <p:nvPr/>
        </p:nvSpPr>
        <p:spPr>
          <a:xfrm>
            <a:off x="795528" y="2450592"/>
            <a:ext cx="3200400" cy="256032"/>
          </a:xfrm>
          <a:prstGeom prst="rect">
            <a:avLst/>
          </a:prstGeom>
          <a:noFill/>
        </p:spPr>
        <p:txBody>
          <a:bodyPr wrap="square">
            <a:spAutoFit/>
          </a:bodyPr>
          <a:lstStyle/>
          <a:p>
            <a:pPr algn="l"/>
            <a:r>
              <a:rPr sz="1100" b="1" i="0">
                <a:solidFill>
                  <a:srgbClr val="1A1A2E"/>
                </a:solidFill>
                <a:latin typeface="Arial"/>
              </a:rPr>
              <a:t>Quiet UI líder</a:t>
            </a:r>
          </a:p>
        </p:txBody>
      </p:sp>
      <p:sp>
        <p:nvSpPr>
          <p:cNvPr id="12" name="TextBox 11"/>
          <p:cNvSpPr txBox="1"/>
          <p:nvPr/>
        </p:nvSpPr>
        <p:spPr>
          <a:xfrm>
            <a:off x="795528" y="2761488"/>
            <a:ext cx="3200400" cy="457200"/>
          </a:xfrm>
          <a:prstGeom prst="rect">
            <a:avLst/>
          </a:prstGeom>
          <a:noFill/>
        </p:spPr>
        <p:txBody>
          <a:bodyPr wrap="square">
            <a:spAutoFit/>
          </a:bodyPr>
          <a:lstStyle/>
          <a:p>
            <a:pPr algn="l"/>
            <a:r>
              <a:rPr sz="1100" b="0" i="1">
                <a:solidFill>
                  <a:srgbClr val="6B7280"/>
                </a:solidFill>
                <a:latin typeface="Arial"/>
              </a:rPr>
              <a:t>"Algo se rompió"</a:t>
            </a:r>
          </a:p>
        </p:txBody>
      </p:sp>
      <p:sp>
        <p:nvSpPr>
          <p:cNvPr id="13" name="Rectangle 12"/>
          <p:cNvSpPr/>
          <p:nvPr/>
        </p:nvSpPr>
        <p:spPr>
          <a:xfrm>
            <a:off x="4251960" y="2011680"/>
            <a:ext cx="3383280" cy="1645920"/>
          </a:xfrm>
          <a:prstGeom prst="rect">
            <a:avLst/>
          </a:prstGeom>
          <a:solidFill>
            <a:srgbClr val="F8FAFC"/>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201168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2103120"/>
            <a:ext cx="3200400" cy="292608"/>
          </a:xfrm>
          <a:prstGeom prst="rect">
            <a:avLst/>
          </a:prstGeom>
          <a:noFill/>
        </p:spPr>
        <p:txBody>
          <a:bodyPr wrap="square">
            <a:spAutoFit/>
          </a:bodyPr>
          <a:lstStyle/>
          <a:p>
            <a:pPr algn="l"/>
            <a:r>
              <a:rPr sz="1400" b="1" i="0">
                <a:solidFill>
                  <a:srgbClr val="D97706"/>
                </a:solidFill>
                <a:latin typeface="Arial"/>
              </a:rPr>
              <a:t>B · Anticipación</a:t>
            </a:r>
          </a:p>
        </p:txBody>
      </p:sp>
      <p:sp>
        <p:nvSpPr>
          <p:cNvPr id="16" name="TextBox 15"/>
          <p:cNvSpPr txBox="1"/>
          <p:nvPr/>
        </p:nvSpPr>
        <p:spPr>
          <a:xfrm>
            <a:off x="4361688" y="2450592"/>
            <a:ext cx="3200400" cy="256032"/>
          </a:xfrm>
          <a:prstGeom prst="rect">
            <a:avLst/>
          </a:prstGeom>
          <a:noFill/>
        </p:spPr>
        <p:txBody>
          <a:bodyPr wrap="square">
            <a:spAutoFit/>
          </a:bodyPr>
          <a:lstStyle/>
          <a:p>
            <a:pPr algn="l"/>
            <a:r>
              <a:rPr sz="1100" b="1" i="0">
                <a:solidFill>
                  <a:srgbClr val="1A1A2E"/>
                </a:solidFill>
                <a:latin typeface="Arial"/>
              </a:rPr>
              <a:t>Time Sight líder</a:t>
            </a:r>
          </a:p>
        </p:txBody>
      </p:sp>
      <p:sp>
        <p:nvSpPr>
          <p:cNvPr id="17" name="TextBox 16"/>
          <p:cNvSpPr txBox="1"/>
          <p:nvPr/>
        </p:nvSpPr>
        <p:spPr>
          <a:xfrm>
            <a:off x="4361688" y="2761488"/>
            <a:ext cx="3200400" cy="457200"/>
          </a:xfrm>
          <a:prstGeom prst="rect">
            <a:avLst/>
          </a:prstGeom>
          <a:noFill/>
        </p:spPr>
        <p:txBody>
          <a:bodyPr wrap="square">
            <a:spAutoFit/>
          </a:bodyPr>
          <a:lstStyle/>
          <a:p>
            <a:pPr algn="l"/>
            <a:r>
              <a:rPr sz="1100" b="0" i="1">
                <a:solidFill>
                  <a:srgbClr val="6B7280"/>
                </a:solidFill>
                <a:latin typeface="Arial"/>
              </a:rPr>
              <a:t>"Va a fallar"</a:t>
            </a:r>
          </a:p>
        </p:txBody>
      </p:sp>
      <p:sp>
        <p:nvSpPr>
          <p:cNvPr id="18" name="Rectangle 17"/>
          <p:cNvSpPr/>
          <p:nvPr/>
        </p:nvSpPr>
        <p:spPr>
          <a:xfrm>
            <a:off x="7818120" y="2011680"/>
            <a:ext cx="3383280" cy="164592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18120" y="201168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7848" y="2103120"/>
            <a:ext cx="3200400" cy="292608"/>
          </a:xfrm>
          <a:prstGeom prst="rect">
            <a:avLst/>
          </a:prstGeom>
          <a:noFill/>
        </p:spPr>
        <p:txBody>
          <a:bodyPr wrap="square">
            <a:spAutoFit/>
          </a:bodyPr>
          <a:lstStyle/>
          <a:p>
            <a:pPr algn="l"/>
            <a:r>
              <a:rPr sz="1400" b="1" i="0">
                <a:solidFill>
                  <a:srgbClr val="16A34A"/>
                </a:solidFill>
                <a:latin typeface="Arial"/>
              </a:rPr>
              <a:t>C · Asistencia</a:t>
            </a:r>
          </a:p>
        </p:txBody>
      </p:sp>
      <p:sp>
        <p:nvSpPr>
          <p:cNvPr id="21" name="TextBox 20"/>
          <p:cNvSpPr txBox="1"/>
          <p:nvPr/>
        </p:nvSpPr>
        <p:spPr>
          <a:xfrm>
            <a:off x="7927848" y="2450592"/>
            <a:ext cx="3200400" cy="256032"/>
          </a:xfrm>
          <a:prstGeom prst="rect">
            <a:avLst/>
          </a:prstGeom>
          <a:noFill/>
        </p:spPr>
        <p:txBody>
          <a:bodyPr wrap="square">
            <a:spAutoFit/>
          </a:bodyPr>
          <a:lstStyle/>
          <a:p>
            <a:pPr algn="l"/>
            <a:r>
              <a:rPr sz="1100" b="1" i="0">
                <a:solidFill>
                  <a:srgbClr val="1A1A2E"/>
                </a:solidFill>
                <a:latin typeface="Arial"/>
              </a:rPr>
              <a:t>Omni Sense líder</a:t>
            </a:r>
          </a:p>
        </p:txBody>
      </p:sp>
      <p:sp>
        <p:nvSpPr>
          <p:cNvPr id="22" name="TextBox 21"/>
          <p:cNvSpPr txBox="1"/>
          <p:nvPr/>
        </p:nvSpPr>
        <p:spPr>
          <a:xfrm>
            <a:off x="7927848" y="2761488"/>
            <a:ext cx="3200400" cy="457200"/>
          </a:xfrm>
          <a:prstGeom prst="rect">
            <a:avLst/>
          </a:prstGeom>
          <a:noFill/>
        </p:spPr>
        <p:txBody>
          <a:bodyPr wrap="square">
            <a:spAutoFit/>
          </a:bodyPr>
          <a:lstStyle/>
          <a:p>
            <a:pPr algn="l"/>
            <a:r>
              <a:rPr sz="1100" b="0" i="1">
                <a:solidFill>
                  <a:srgbClr val="6B7280"/>
                </a:solidFill>
                <a:latin typeface="Arial"/>
              </a:rPr>
              <a:t>"Procesa esto por mí"</a:t>
            </a:r>
          </a:p>
        </p:txBody>
      </p:sp>
      <p:sp>
        <p:nvSpPr>
          <p:cNvPr id="23" name="TextBox 22"/>
          <p:cNvSpPr txBox="1"/>
          <p:nvPr/>
        </p:nvSpPr>
        <p:spPr>
          <a:xfrm>
            <a:off x="640080" y="3749039"/>
            <a:ext cx="7315200" cy="292608"/>
          </a:xfrm>
          <a:prstGeom prst="rect">
            <a:avLst/>
          </a:prstGeom>
          <a:noFill/>
        </p:spPr>
        <p:txBody>
          <a:bodyPr wrap="square">
            <a:spAutoFit/>
          </a:bodyPr>
          <a:lstStyle/>
          <a:p>
            <a:pPr algn="l"/>
            <a:r>
              <a:rPr sz="1100" b="1" i="0">
                <a:solidFill>
                  <a:srgbClr val="16A34A"/>
                </a:solidFill>
                <a:latin typeface="Arial"/>
              </a:rPr>
              <a:t>Pilar transversal prioritario: Omni Sense</a:t>
            </a:r>
          </a:p>
        </p:txBody>
      </p:sp>
      <p:sp>
        <p:nvSpPr>
          <p:cNvPr id="24" name="Rectangle 23"/>
          <p:cNvSpPr/>
          <p:nvPr/>
        </p:nvSpPr>
        <p:spPr>
          <a:xfrm>
            <a:off x="457200" y="4892040"/>
            <a:ext cx="11247120" cy="438912"/>
          </a:xfrm>
          <a:prstGeom prst="rect">
            <a:avLst/>
          </a:prstGeom>
          <a:solidFill>
            <a:srgbClr val="FFF7ED"/>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956048"/>
            <a:ext cx="10972800" cy="292608"/>
          </a:xfrm>
          <a:prstGeom prst="rect">
            <a:avLst/>
          </a:prstGeom>
          <a:noFill/>
        </p:spPr>
        <p:txBody>
          <a:bodyPr wrap="square">
            <a:spAutoFit/>
          </a:bodyPr>
          <a:lstStyle/>
          <a:p>
            <a:pPr algn="ctr"/>
            <a:r>
              <a:rPr sz="1200" b="1" i="0">
                <a:solidFill>
                  <a:srgbClr val="D97706"/>
                </a:solidFill>
                <a:latin typeface="Arial"/>
              </a:rPr>
              <a:t>Confianza en Datos — prerrequisito. Si falla, nada funciona.</a:t>
            </a:r>
          </a:p>
        </p:txBody>
      </p:sp>
      <p:sp>
        <p:nvSpPr>
          <p:cNvPr id="26" name="Rectangle 25"/>
          <p:cNvSpPr/>
          <p:nvPr/>
        </p:nvSpPr>
        <p:spPr>
          <a:xfrm>
            <a:off x="457200" y="5468112"/>
            <a:ext cx="5303520" cy="10515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504688"/>
            <a:ext cx="5029200" cy="256032"/>
          </a:xfrm>
          <a:prstGeom prst="rect">
            <a:avLst/>
          </a:prstGeom>
          <a:noFill/>
        </p:spPr>
        <p:txBody>
          <a:bodyPr wrap="square">
            <a:spAutoFit/>
          </a:bodyPr>
          <a:lstStyle/>
          <a:p>
            <a:pPr algn="l"/>
            <a:r>
              <a:rPr sz="1000" b="1" i="0">
                <a:solidFill>
                  <a:srgbClr val="6B7280"/>
                </a:solidFill>
                <a:latin typeface="Arial"/>
              </a:rPr>
              <a:t>Cambio vs v1</a:t>
            </a:r>
          </a:p>
        </p:txBody>
      </p:sp>
      <p:sp>
        <p:nvSpPr>
          <p:cNvPr id="28" name="TextBox 27"/>
          <p:cNvSpPr txBox="1"/>
          <p:nvPr/>
        </p:nvSpPr>
        <p:spPr>
          <a:xfrm>
            <a:off x="594360" y="5779008"/>
            <a:ext cx="5029200" cy="201168"/>
          </a:xfrm>
          <a:prstGeom prst="rect">
            <a:avLst/>
          </a:prstGeom>
          <a:noFill/>
        </p:spPr>
        <p:txBody>
          <a:bodyPr wrap="square">
            <a:spAutoFit/>
          </a:bodyPr>
          <a:lstStyle/>
          <a:p>
            <a:pPr algn="l"/>
            <a:r>
              <a:rPr sz="1000" b="0" i="0">
                <a:solidFill>
                  <a:srgbClr val="1A1A2E"/>
                </a:solidFill>
                <a:latin typeface="Arial"/>
              </a:rPr>
              <a:t>4 dominios pares  →  AE envuelve a 3 operativos</a:t>
            </a:r>
          </a:p>
        </p:txBody>
      </p:sp>
      <p:sp>
        <p:nvSpPr>
          <p:cNvPr id="29" name="TextBox 28"/>
          <p:cNvSpPr txBox="1"/>
          <p:nvPr/>
        </p:nvSpPr>
        <p:spPr>
          <a:xfrm>
            <a:off x="594360" y="5998464"/>
            <a:ext cx="5029200" cy="201168"/>
          </a:xfrm>
          <a:prstGeom prst="rect">
            <a:avLst/>
          </a:prstGeom>
          <a:noFill/>
        </p:spPr>
        <p:txBody>
          <a:bodyPr wrap="square">
            <a:spAutoFit/>
          </a:bodyPr>
          <a:lstStyle/>
          <a:p>
            <a:pPr algn="l"/>
            <a:r>
              <a:rPr sz="1000" b="0" i="0">
                <a:solidFill>
                  <a:srgbClr val="1A1A2E"/>
                </a:solidFill>
                <a:latin typeface="Arial"/>
              </a:rPr>
              <a:t>"¿Cómo vamos contra plan?"  →  "¿Cómo mejoramos el plan?"</a:t>
            </a:r>
          </a:p>
        </p:txBody>
      </p:sp>
      <p:sp>
        <p:nvSpPr>
          <p:cNvPr id="30" name="TextBox 29"/>
          <p:cNvSpPr txBox="1"/>
          <p:nvPr/>
        </p:nvSpPr>
        <p:spPr>
          <a:xfrm>
            <a:off x="594360" y="6217920"/>
            <a:ext cx="5029200" cy="201168"/>
          </a:xfrm>
          <a:prstGeom prst="rect">
            <a:avLst/>
          </a:prstGeom>
          <a:noFill/>
        </p:spPr>
        <p:txBody>
          <a:bodyPr wrap="square">
            <a:spAutoFit/>
          </a:bodyPr>
          <a:lstStyle/>
          <a:p>
            <a:pPr algn="l"/>
            <a:r>
              <a:rPr sz="1000" b="0" i="0">
                <a:solidFill>
                  <a:srgbClr val="1A1A2E"/>
                </a:solidFill>
                <a:latin typeface="Arial"/>
              </a:rPr>
              <a:t>Multi-pilar (genérico)  →  Time Sight + Omni Sense co-lideran</a:t>
            </a:r>
          </a:p>
        </p:txBody>
      </p:sp>
      <p:sp>
        <p:nvSpPr>
          <p:cNvPr id="31" name="Rectangle 30"/>
          <p:cNvSpPr/>
          <p:nvPr/>
        </p:nvSpPr>
        <p:spPr>
          <a:xfrm>
            <a:off x="6035040" y="5468112"/>
            <a:ext cx="5669280" cy="1051560"/>
          </a:xfrm>
          <a:prstGeom prst="rect">
            <a:avLst/>
          </a:prstGeom>
          <a:solidFill>
            <a:srgbClr val="F0FDF4"/>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5504688"/>
            <a:ext cx="5486400" cy="256032"/>
          </a:xfrm>
          <a:prstGeom prst="rect">
            <a:avLst/>
          </a:prstGeom>
          <a:noFill/>
        </p:spPr>
        <p:txBody>
          <a:bodyPr wrap="square">
            <a:spAutoFit/>
          </a:bodyPr>
          <a:lstStyle/>
          <a:p>
            <a:pPr algn="l"/>
            <a:r>
              <a:rPr sz="1000" b="1" i="0">
                <a:solidFill>
                  <a:srgbClr val="16A34A"/>
                </a:solidFill>
                <a:latin typeface="Arial"/>
              </a:rPr>
              <a:t>Validación</a:t>
            </a:r>
          </a:p>
        </p:txBody>
      </p:sp>
      <p:sp>
        <p:nvSpPr>
          <p:cNvPr id="33" name="TextBox 32"/>
          <p:cNvSpPr txBox="1"/>
          <p:nvPr/>
        </p:nvSpPr>
        <p:spPr>
          <a:xfrm>
            <a:off x="6172200" y="5779008"/>
            <a:ext cx="5394960" cy="640080"/>
          </a:xfrm>
          <a:prstGeom prst="rect">
            <a:avLst/>
          </a:prstGeom>
          <a:noFill/>
        </p:spPr>
        <p:txBody>
          <a:bodyPr wrap="square">
            <a:spAutoFit/>
          </a:bodyPr>
          <a:lstStyle/>
          <a:p>
            <a:pPr algn="l"/>
            <a:r>
              <a:rPr sz="1000" b="0" i="0">
                <a:solidFill>
                  <a:srgbClr val="1A1A2E"/>
                </a:solidFill>
                <a:latin typeface="Arial"/>
              </a:rPr>
              <a:t>Felipe Reyes (externo) validó los 4 dominios sin que se los dijeran.
Enfatizó: "todo se puede transferir y hablar el lenguaje de dinero."</a:t>
            </a:r>
          </a:p>
        </p:txBody>
      </p:sp>
      <p:sp>
        <p:nvSpPr>
          <p:cNvPr id="34" name="TextBox 33"/>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Matriz de Intensidad</a:t>
            </a:r>
          </a:p>
        </p:txBody>
      </p:sp>
      <p:sp>
        <p:nvSpPr>
          <p:cNvPr id="3" name="TextBox 2"/>
          <p:cNvSpPr txBox="1"/>
          <p:nvPr/>
        </p:nvSpPr>
        <p:spPr>
          <a:xfrm>
            <a:off x="4480560" y="292608"/>
            <a:ext cx="1097280" cy="274320"/>
          </a:xfrm>
          <a:prstGeom prst="rect">
            <a:avLst/>
          </a:prstGeom>
          <a:noFill/>
        </p:spPr>
        <p:txBody>
          <a:bodyPr wrap="square">
            <a:spAutoFit/>
          </a:bodyPr>
          <a:lstStyle/>
          <a:p>
            <a:pPr algn="l"/>
            <a:r>
              <a:rPr sz="900" b="1" i="0">
                <a:solidFill>
                  <a:srgbClr val="16A34A"/>
                </a:solidFill>
                <a:latin typeface="Arial"/>
              </a:rPr>
              <a:t>NUEVO</a:t>
            </a:r>
          </a:p>
        </p:txBody>
      </p:sp>
      <p:sp>
        <p:nvSpPr>
          <p:cNvPr id="4" name="TextBox 3"/>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No todos los cruces pilar × dominio pesan igual. Esta matriz guía qué profundizar en diseño.</a:t>
            </a:r>
          </a:p>
        </p:txBody>
      </p:sp>
      <p:graphicFrame>
        <p:nvGraphicFramePr>
          <p:cNvPr id="5" name="Table 4"/>
          <p:cNvGraphicFramePr>
            <a:graphicFrameLocks noGrp="1"/>
          </p:cNvGraphicFramePr>
          <p:nvPr/>
        </p:nvGraphicFramePr>
        <p:xfrm>
          <a:off x="457200" y="1261872"/>
          <a:ext cx="8686800" cy="2743200"/>
        </p:xfrm>
        <a:graphic>
          <a:graphicData uri="http://schemas.openxmlformats.org/drawingml/2006/table">
            <a:tbl>
              <a:tblPr firstRow="1" bandRow="1">
                <a:tableStyleId>{5C22544A-7EE6-4342-B048-85BDC9FD1C3A}</a:tableStyleId>
              </a:tblPr>
              <a:tblGrid>
                <a:gridCol w="1737360"/>
                <a:gridCol w="1737360"/>
                <a:gridCol w="1737360"/>
                <a:gridCol w="1737360"/>
                <a:gridCol w="1737360"/>
              </a:tblGrid>
              <a:tr h="548640">
                <a:tc>
                  <a:txBody>
                    <a:bodyPr/>
                    <a:lstStyle/>
                    <a:p>
                      <a:pPr algn="ctr"/>
                      <a:r>
                        <a:rPr sz="1100" b="1">
                          <a:solidFill>
                            <a:srgbClr val="FFFFFF"/>
                          </a:solidFill>
                          <a:latin typeface="Arial"/>
                        </a:rPr>
                        <a:t/>
                      </a:r>
                    </a:p>
                  </a:txBody>
                  <a:tcPr>
                    <a:solidFill>
                      <a:srgbClr val="1A1A2E"/>
                    </a:solidFill>
                  </a:tcPr>
                </a:tc>
                <a:tc>
                  <a:txBody>
                    <a:bodyPr/>
                    <a:lstStyle/>
                    <a:p>
                      <a:pPr algn="ctr"/>
                      <a:r>
                        <a:rPr sz="1100" b="1">
                          <a:solidFill>
                            <a:srgbClr val="FFFFFF"/>
                          </a:solidFill>
                          <a:latin typeface="Arial"/>
                        </a:rPr>
                        <a:t>Quiet UI</a:t>
                      </a:r>
                    </a:p>
                  </a:txBody>
                  <a:tcPr>
                    <a:solidFill>
                      <a:srgbClr val="0891B2"/>
                    </a:solidFill>
                  </a:tcPr>
                </a:tc>
                <a:tc>
                  <a:txBody>
                    <a:bodyPr/>
                    <a:lstStyle/>
                    <a:p>
                      <a:pPr algn="ctr"/>
                      <a:r>
                        <a:rPr sz="1100" b="1">
                          <a:solidFill>
                            <a:srgbClr val="FFFFFF"/>
                          </a:solidFill>
                          <a:latin typeface="Arial"/>
                        </a:rPr>
                        <a:t>Clear Path</a:t>
                      </a:r>
                    </a:p>
                  </a:txBody>
                  <a:tcPr>
                    <a:solidFill>
                      <a:srgbClr val="0891B2"/>
                    </a:solidFill>
                  </a:tcPr>
                </a:tc>
                <a:tc>
                  <a:txBody>
                    <a:bodyPr/>
                    <a:lstStyle/>
                    <a:p>
                      <a:pPr algn="ctr"/>
                      <a:r>
                        <a:rPr sz="1100" b="1">
                          <a:solidFill>
                            <a:srgbClr val="FFFFFF"/>
                          </a:solidFill>
                          <a:latin typeface="Arial"/>
                        </a:rPr>
                        <a:t>Time Sight</a:t>
                      </a:r>
                    </a:p>
                  </a:txBody>
                  <a:tcPr>
                    <a:solidFill>
                      <a:srgbClr val="D97706"/>
                    </a:solidFill>
                  </a:tcPr>
                </a:tc>
                <a:tc>
                  <a:txBody>
                    <a:bodyPr/>
                    <a:lstStyle/>
                    <a:p>
                      <a:pPr algn="ctr"/>
                      <a:r>
                        <a:rPr sz="1100" b="1">
                          <a:solidFill>
                            <a:srgbClr val="FFFFFF"/>
                          </a:solidFill>
                          <a:latin typeface="Arial"/>
                        </a:rPr>
                        <a:t>Omni Sense</a:t>
                      </a:r>
                    </a:p>
                  </a:txBody>
                  <a:tcPr>
                    <a:solidFill>
                      <a:srgbClr val="16A34A"/>
                    </a:solidFill>
                  </a:tcPr>
                </a:tc>
              </a:tr>
              <a:tr h="548640">
                <a:tc>
                  <a:txBody>
                    <a:bodyPr/>
                    <a:lstStyle/>
                    <a:p>
                      <a:pPr algn="l"/>
                      <a:r>
                        <a:rPr sz="1100" b="1">
                          <a:solidFill>
                            <a:srgbClr val="7C3AED"/>
                          </a:solidFill>
                          <a:latin typeface="Arial"/>
                        </a:rPr>
                        <a:t>AE  envolvente</a:t>
                      </a:r>
                    </a:p>
                  </a:txBody>
                  <a:tcPr>
                    <a:solidFill>
                      <a:srgbClr val="F8FAFC"/>
                    </a:solidFill>
                  </a:tcPr>
                </a:tc>
                <a:tc>
                  <a:txBody>
                    <a:bodyPr/>
                    <a:lstStyle/>
                    <a:p>
                      <a:pPr algn="ctr"/>
                      <a:r>
                        <a:rPr sz="1300" b="0">
                          <a:solidFill>
                            <a:srgbClr val="1A1A2E"/>
                          </a:solidFill>
                          <a:latin typeface="Arial"/>
                        </a:rPr>
                        <a:t>●●</a:t>
                      </a:r>
                    </a:p>
                  </a:txBody>
                  <a:tcPr>
                    <a:solidFill>
                      <a:srgbClr val="F8FAFC"/>
                    </a:solidFill>
                  </a:tcPr>
                </a:tc>
                <a:tc>
                  <a:txBody>
                    <a:bodyPr/>
                    <a:lstStyle/>
                    <a:p>
                      <a:pPr algn="ctr"/>
                      <a:r>
                        <a:rPr sz="1300" b="0">
                          <a:solidFill>
                            <a:srgbClr val="1A1A2E"/>
                          </a:solidFill>
                          <a:latin typeface="Arial"/>
                        </a:rPr>
                        <a:t>●●</a:t>
                      </a:r>
                    </a:p>
                  </a:txBody>
                  <a:tcPr>
                    <a:solidFill>
                      <a:srgbClr val="F8FAFC"/>
                    </a:solidFill>
                  </a:tcPr>
                </a:tc>
                <a:tc>
                  <a:txBody>
                    <a:bodyPr/>
                    <a:lstStyle/>
                    <a:p>
                      <a:pPr algn="ctr"/>
                      <a:r>
                        <a:rPr sz="1300" b="0">
                          <a:solidFill>
                            <a:srgbClr val="1A1A2E"/>
                          </a:solidFill>
                          <a:latin typeface="Arial"/>
                        </a:rPr>
                        <a:t>●●●</a:t>
                      </a:r>
                    </a:p>
                  </a:txBody>
                  <a:tcPr>
                    <a:solidFill>
                      <a:srgbClr val="E0F2FE"/>
                    </a:solidFill>
                  </a:tcPr>
                </a:tc>
                <a:tc>
                  <a:txBody>
                    <a:bodyPr/>
                    <a:lstStyle/>
                    <a:p>
                      <a:pPr algn="ctr"/>
                      <a:r>
                        <a:rPr sz="1300" b="0">
                          <a:solidFill>
                            <a:srgbClr val="1A1A2E"/>
                          </a:solidFill>
                          <a:latin typeface="Arial"/>
                        </a:rPr>
                        <a:t>●●●</a:t>
                      </a:r>
                    </a:p>
                  </a:txBody>
                  <a:tcPr>
                    <a:solidFill>
                      <a:srgbClr val="E0F2FE"/>
                    </a:solidFill>
                  </a:tcPr>
                </a:tc>
              </a:tr>
              <a:tr h="548640">
                <a:tc>
                  <a:txBody>
                    <a:bodyPr/>
                    <a:lstStyle/>
                    <a:p>
                      <a:pPr algn="l"/>
                      <a:r>
                        <a:rPr sz="1100" b="1">
                          <a:solidFill>
                            <a:srgbClr val="0891B2"/>
                          </a:solidFill>
                          <a:latin typeface="Arial"/>
                        </a:rPr>
                        <a:t>A · Crisis</a:t>
                      </a:r>
                    </a:p>
                  </a:txBody>
                  <a:tcPr>
                    <a:solidFill>
                      <a:srgbClr val="F8FAFC"/>
                    </a:solidFill>
                  </a:tcPr>
                </a:tc>
                <a:tc>
                  <a:txBody>
                    <a:bodyPr/>
                    <a:lstStyle/>
                    <a:p>
                      <a:pPr algn="ctr"/>
                      <a:r>
                        <a:rPr sz="1300" b="0">
                          <a:solidFill>
                            <a:srgbClr val="1A1A2E"/>
                          </a:solidFill>
                          <a:latin typeface="Arial"/>
                        </a:rPr>
                        <a:t>●●●</a:t>
                      </a:r>
                    </a:p>
                  </a:txBody>
                  <a:tcPr>
                    <a:solidFill>
                      <a:srgbClr val="E0F2FE"/>
                    </a:solidFill>
                  </a:tcPr>
                </a:tc>
                <a:tc>
                  <a:txBody>
                    <a:bodyPr/>
                    <a:lstStyle/>
                    <a:p>
                      <a:pPr algn="ctr"/>
                      <a:r>
                        <a:rPr sz="1300" b="0">
                          <a:solidFill>
                            <a:srgbClr val="1A1A2E"/>
                          </a:solidFill>
                          <a:latin typeface="Arial"/>
                        </a:rPr>
                        <a:t>●●●</a:t>
                      </a:r>
                    </a:p>
                  </a:txBody>
                  <a:tcPr>
                    <a:solidFill>
                      <a:srgbClr val="E0F2FE"/>
                    </a:solidFill>
                  </a:tcPr>
                </a:tc>
                <a:tc>
                  <a:txBody>
                    <a:bodyPr/>
                    <a:lstStyle/>
                    <a:p>
                      <a:pPr algn="ctr"/>
                      <a:r>
                        <a:rPr sz="1300" b="0">
                          <a:solidFill>
                            <a:srgbClr val="1A1A2E"/>
                          </a:solidFill>
                          <a:latin typeface="Arial"/>
                        </a:rPr>
                        <a:t>●●●</a:t>
                      </a:r>
                    </a:p>
                  </a:txBody>
                  <a:tcPr>
                    <a:solidFill>
                      <a:srgbClr val="E0F2FE"/>
                    </a:solidFill>
                  </a:tcPr>
                </a:tc>
                <a:tc>
                  <a:txBody>
                    <a:bodyPr/>
                    <a:lstStyle/>
                    <a:p>
                      <a:pPr algn="ctr"/>
                      <a:r>
                        <a:rPr sz="1300" b="0">
                          <a:solidFill>
                            <a:srgbClr val="1A1A2E"/>
                          </a:solidFill>
                          <a:latin typeface="Arial"/>
                        </a:rPr>
                        <a:t>●●</a:t>
                      </a:r>
                    </a:p>
                  </a:txBody>
                  <a:tcPr>
                    <a:solidFill>
                      <a:srgbClr val="F8FAFC"/>
                    </a:solidFill>
                  </a:tcPr>
                </a:tc>
              </a:tr>
              <a:tr h="548640">
                <a:tc>
                  <a:txBody>
                    <a:bodyPr/>
                    <a:lstStyle/>
                    <a:p>
                      <a:pPr algn="l"/>
                      <a:r>
                        <a:rPr sz="1100" b="1">
                          <a:solidFill>
                            <a:srgbClr val="D97706"/>
                          </a:solidFill>
                          <a:latin typeface="Arial"/>
                        </a:rPr>
                        <a:t>B · Anticipación</a:t>
                      </a:r>
                    </a:p>
                  </a:txBody>
                  <a:tcPr>
                    <a:solidFill>
                      <a:srgbClr val="F8FAFC"/>
                    </a:solidFill>
                  </a:tcPr>
                </a:tc>
                <a:tc>
                  <a:txBody>
                    <a:bodyPr/>
                    <a:lstStyle/>
                    <a:p>
                      <a:pPr algn="ctr"/>
                      <a:r>
                        <a:rPr sz="1300" b="0">
                          <a:solidFill>
                            <a:srgbClr val="1A1A2E"/>
                          </a:solidFill>
                          <a:latin typeface="Arial"/>
                        </a:rPr>
                        <a:t>●○</a:t>
                      </a:r>
                    </a:p>
                  </a:txBody>
                  <a:tcPr>
                    <a:solidFill>
                      <a:srgbClr val="FFFFFF"/>
                    </a:solidFill>
                  </a:tcPr>
                </a:tc>
                <a:tc>
                  <a:txBody>
                    <a:bodyPr/>
                    <a:lstStyle/>
                    <a:p>
                      <a:pPr algn="ctr"/>
                      <a:r>
                        <a:rPr sz="1300" b="0">
                          <a:solidFill>
                            <a:srgbClr val="1A1A2E"/>
                          </a:solidFill>
                          <a:latin typeface="Arial"/>
                        </a:rPr>
                        <a:t>●●</a:t>
                      </a:r>
                    </a:p>
                  </a:txBody>
                  <a:tcPr>
                    <a:solidFill>
                      <a:srgbClr val="F8FAFC"/>
                    </a:solidFill>
                  </a:tcPr>
                </a:tc>
                <a:tc>
                  <a:txBody>
                    <a:bodyPr/>
                    <a:lstStyle/>
                    <a:p>
                      <a:pPr algn="ctr"/>
                      <a:r>
                        <a:rPr sz="1300" b="0">
                          <a:solidFill>
                            <a:srgbClr val="1A1A2E"/>
                          </a:solidFill>
                          <a:latin typeface="Arial"/>
                        </a:rPr>
                        <a:t>●●●</a:t>
                      </a:r>
                    </a:p>
                  </a:txBody>
                  <a:tcPr>
                    <a:solidFill>
                      <a:srgbClr val="E0F2FE"/>
                    </a:solidFill>
                  </a:tcPr>
                </a:tc>
                <a:tc>
                  <a:txBody>
                    <a:bodyPr/>
                    <a:lstStyle/>
                    <a:p>
                      <a:pPr algn="ctr"/>
                      <a:r>
                        <a:rPr sz="1300" b="0">
                          <a:solidFill>
                            <a:srgbClr val="1A1A2E"/>
                          </a:solidFill>
                          <a:latin typeface="Arial"/>
                        </a:rPr>
                        <a:t>●○</a:t>
                      </a:r>
                    </a:p>
                  </a:txBody>
                  <a:tcPr>
                    <a:solidFill>
                      <a:srgbClr val="FFFFFF"/>
                    </a:solidFill>
                  </a:tcPr>
                </a:tc>
              </a:tr>
              <a:tr h="548640">
                <a:tc>
                  <a:txBody>
                    <a:bodyPr/>
                    <a:lstStyle/>
                    <a:p>
                      <a:pPr algn="l"/>
                      <a:r>
                        <a:rPr sz="1100" b="1">
                          <a:solidFill>
                            <a:srgbClr val="16A34A"/>
                          </a:solidFill>
                          <a:latin typeface="Arial"/>
                        </a:rPr>
                        <a:t>C · Asistencia</a:t>
                      </a:r>
                    </a:p>
                  </a:txBody>
                  <a:tcPr>
                    <a:solidFill>
                      <a:srgbClr val="F8FAFC"/>
                    </a:solidFill>
                  </a:tcPr>
                </a:tc>
                <a:tc>
                  <a:txBody>
                    <a:bodyPr/>
                    <a:lstStyle/>
                    <a:p>
                      <a:pPr algn="ctr"/>
                      <a:r>
                        <a:rPr sz="1300" b="0">
                          <a:solidFill>
                            <a:srgbClr val="1A1A2E"/>
                          </a:solidFill>
                          <a:latin typeface="Arial"/>
                        </a:rPr>
                        <a:t>●○</a:t>
                      </a:r>
                    </a:p>
                  </a:txBody>
                  <a:tcPr>
                    <a:solidFill>
                      <a:srgbClr val="FFFFFF"/>
                    </a:solidFill>
                  </a:tcPr>
                </a:tc>
                <a:tc>
                  <a:txBody>
                    <a:bodyPr/>
                    <a:lstStyle/>
                    <a:p>
                      <a:pPr algn="ctr"/>
                      <a:r>
                        <a:rPr sz="1300" b="0">
                          <a:solidFill>
                            <a:srgbClr val="1A1A2E"/>
                          </a:solidFill>
                          <a:latin typeface="Arial"/>
                        </a:rPr>
                        <a:t>●●</a:t>
                      </a:r>
                    </a:p>
                  </a:txBody>
                  <a:tcPr>
                    <a:solidFill>
                      <a:srgbClr val="F8FAFC"/>
                    </a:solidFill>
                  </a:tcPr>
                </a:tc>
                <a:tc>
                  <a:txBody>
                    <a:bodyPr/>
                    <a:lstStyle/>
                    <a:p>
                      <a:pPr algn="ctr"/>
                      <a:r>
                        <a:rPr sz="1300" b="0">
                          <a:solidFill>
                            <a:srgbClr val="1A1A2E"/>
                          </a:solidFill>
                          <a:latin typeface="Arial"/>
                        </a:rPr>
                        <a:t>●○</a:t>
                      </a:r>
                    </a:p>
                  </a:txBody>
                  <a:tcPr>
                    <a:solidFill>
                      <a:srgbClr val="FFFFFF"/>
                    </a:solidFill>
                  </a:tcPr>
                </a:tc>
                <a:tc>
                  <a:txBody>
                    <a:bodyPr/>
                    <a:lstStyle/>
                    <a:p>
                      <a:pPr algn="ctr"/>
                      <a:r>
                        <a:rPr sz="1300" b="0">
                          <a:solidFill>
                            <a:srgbClr val="1A1A2E"/>
                          </a:solidFill>
                          <a:latin typeface="Arial"/>
                        </a:rPr>
                        <a:t>●●●</a:t>
                      </a:r>
                    </a:p>
                  </a:txBody>
                  <a:tcPr>
                    <a:solidFill>
                      <a:srgbClr val="E0F2FE"/>
                    </a:solidFill>
                  </a:tcPr>
                </a:tc>
              </a:tr>
            </a:tbl>
          </a:graphicData>
        </a:graphic>
      </p:graphicFrame>
      <p:sp>
        <p:nvSpPr>
          <p:cNvPr id="6" name="TextBox 5"/>
          <p:cNvSpPr txBox="1"/>
          <p:nvPr/>
        </p:nvSpPr>
        <p:spPr>
          <a:xfrm>
            <a:off x="457200" y="4133087"/>
            <a:ext cx="5486400" cy="274320"/>
          </a:xfrm>
          <a:prstGeom prst="rect">
            <a:avLst/>
          </a:prstGeom>
          <a:noFill/>
        </p:spPr>
        <p:txBody>
          <a:bodyPr wrap="square">
            <a:spAutoFit/>
          </a:bodyPr>
          <a:lstStyle/>
          <a:p>
            <a:pPr algn="l"/>
            <a:r>
              <a:rPr sz="1000" b="0" i="1">
                <a:solidFill>
                  <a:srgbClr val="6B7280"/>
                </a:solidFill>
                <a:latin typeface="Arial"/>
              </a:rPr>
              <a:t>●●● Líder  ·  ●● Presente  ·  ●○ Secundario</a:t>
            </a:r>
          </a:p>
        </p:txBody>
      </p:sp>
      <p:sp>
        <p:nvSpPr>
          <p:cNvPr id="7" name="Rectangle 6"/>
          <p:cNvSpPr/>
          <p:nvPr/>
        </p:nvSpPr>
        <p:spPr>
          <a:xfrm>
            <a:off x="457200" y="4526280"/>
            <a:ext cx="3566160" cy="13258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526280"/>
            <a:ext cx="50292" cy="132588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617720"/>
            <a:ext cx="3383280" cy="274320"/>
          </a:xfrm>
          <a:prstGeom prst="rect">
            <a:avLst/>
          </a:prstGeom>
          <a:noFill/>
        </p:spPr>
        <p:txBody>
          <a:bodyPr wrap="square">
            <a:spAutoFit/>
          </a:bodyPr>
          <a:lstStyle/>
          <a:p>
            <a:pPr algn="l"/>
            <a:r>
              <a:rPr sz="1200" b="1" i="0">
                <a:solidFill>
                  <a:srgbClr val="0891B2"/>
                </a:solidFill>
                <a:latin typeface="Arial"/>
              </a:rPr>
              <a:t>Crisis = Showcase</a:t>
            </a:r>
          </a:p>
        </p:txBody>
      </p:sp>
      <p:sp>
        <p:nvSpPr>
          <p:cNvPr id="10" name="TextBox 9"/>
          <p:cNvSpPr txBox="1"/>
          <p:nvPr/>
        </p:nvSpPr>
        <p:spPr>
          <a:xfrm>
            <a:off x="566928" y="4937760"/>
            <a:ext cx="3383280" cy="777240"/>
          </a:xfrm>
          <a:prstGeom prst="rect">
            <a:avLst/>
          </a:prstGeom>
          <a:noFill/>
        </p:spPr>
        <p:txBody>
          <a:bodyPr wrap="square">
            <a:spAutoFit/>
          </a:bodyPr>
          <a:lstStyle/>
          <a:p>
            <a:pPr algn="l"/>
            <a:r>
              <a:rPr sz="1100" b="0" i="0">
                <a:solidFill>
                  <a:srgbClr val="1A1A2E"/>
                </a:solidFill>
                <a:latin typeface="Arial"/>
              </a:rPr>
              <a:t>Único dominio con 3 pilares en ●●●.
El caso #1 demuestra el sistema completo.</a:t>
            </a:r>
          </a:p>
        </p:txBody>
      </p:sp>
      <p:sp>
        <p:nvSpPr>
          <p:cNvPr id="11" name="Rectangle 10"/>
          <p:cNvSpPr/>
          <p:nvPr/>
        </p:nvSpPr>
        <p:spPr>
          <a:xfrm>
            <a:off x="4187952" y="4526280"/>
            <a:ext cx="3566160" cy="132588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87952" y="4526280"/>
            <a:ext cx="50292" cy="1325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4617720"/>
            <a:ext cx="3383280" cy="274320"/>
          </a:xfrm>
          <a:prstGeom prst="rect">
            <a:avLst/>
          </a:prstGeom>
          <a:noFill/>
        </p:spPr>
        <p:txBody>
          <a:bodyPr wrap="square">
            <a:spAutoFit/>
          </a:bodyPr>
          <a:lstStyle/>
          <a:p>
            <a:pPr algn="l"/>
            <a:r>
              <a:rPr sz="1200" b="1" i="0">
                <a:solidFill>
                  <a:srgbClr val="16A34A"/>
                </a:solidFill>
                <a:latin typeface="Arial"/>
              </a:rPr>
              <a:t>Omni Sense: 2/4</a:t>
            </a:r>
          </a:p>
        </p:txBody>
      </p:sp>
      <p:sp>
        <p:nvSpPr>
          <p:cNvPr id="14" name="TextBox 13"/>
          <p:cNvSpPr txBox="1"/>
          <p:nvPr/>
        </p:nvSpPr>
        <p:spPr>
          <a:xfrm>
            <a:off x="4297680" y="4937760"/>
            <a:ext cx="3383280" cy="777240"/>
          </a:xfrm>
          <a:prstGeom prst="rect">
            <a:avLst/>
          </a:prstGeom>
          <a:noFill/>
        </p:spPr>
        <p:txBody>
          <a:bodyPr wrap="square">
            <a:spAutoFit/>
          </a:bodyPr>
          <a:lstStyle/>
          <a:p>
            <a:pPr algn="l"/>
            <a:r>
              <a:rPr sz="1100" b="0" i="0">
                <a:solidFill>
                  <a:srgbClr val="1A1A2E"/>
                </a:solidFill>
                <a:latin typeface="Arial"/>
              </a:rPr>
              <a:t>Líder en C + co-líder en AE.
Presencia en los 4 dominios.</a:t>
            </a:r>
          </a:p>
        </p:txBody>
      </p:sp>
      <p:sp>
        <p:nvSpPr>
          <p:cNvPr id="15" name="Rectangle 14"/>
          <p:cNvSpPr/>
          <p:nvPr/>
        </p:nvSpPr>
        <p:spPr>
          <a:xfrm>
            <a:off x="7918704" y="4526280"/>
            <a:ext cx="3566160" cy="1325880"/>
          </a:xfrm>
          <a:prstGeom prst="rect">
            <a:avLst/>
          </a:prstGeom>
          <a:solidFill>
            <a:srgbClr val="F8FAFC"/>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18704" y="4526280"/>
            <a:ext cx="50292" cy="132588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4617720"/>
            <a:ext cx="3383280" cy="274320"/>
          </a:xfrm>
          <a:prstGeom prst="rect">
            <a:avLst/>
          </a:prstGeom>
          <a:noFill/>
        </p:spPr>
        <p:txBody>
          <a:bodyPr wrap="square">
            <a:spAutoFit/>
          </a:bodyPr>
          <a:lstStyle/>
          <a:p>
            <a:pPr algn="l"/>
            <a:r>
              <a:rPr sz="1200" b="1" i="0">
                <a:solidFill>
                  <a:srgbClr val="6B7280"/>
                </a:solidFill>
                <a:latin typeface="Arial"/>
              </a:rPr>
              <a:t>Celda vacía</a:t>
            </a:r>
          </a:p>
        </p:txBody>
      </p:sp>
      <p:sp>
        <p:nvSpPr>
          <p:cNvPr id="18" name="TextBox 17"/>
          <p:cNvSpPr txBox="1"/>
          <p:nvPr/>
        </p:nvSpPr>
        <p:spPr>
          <a:xfrm>
            <a:off x="8028432" y="4937760"/>
            <a:ext cx="3383280" cy="777240"/>
          </a:xfrm>
          <a:prstGeom prst="rect">
            <a:avLst/>
          </a:prstGeom>
          <a:noFill/>
        </p:spPr>
        <p:txBody>
          <a:bodyPr wrap="square">
            <a:spAutoFit/>
          </a:bodyPr>
          <a:lstStyle/>
          <a:p>
            <a:pPr algn="l"/>
            <a:r>
              <a:rPr sz="1100" b="0" i="0">
                <a:solidFill>
                  <a:srgbClr val="1A1A2E"/>
                </a:solidFill>
                <a:latin typeface="Arial"/>
              </a:rPr>
              <a:t>Quiet UI × Asistencia: el usuario
busca al sistema, no necesita silencio.</a:t>
            </a:r>
          </a:p>
        </p:txBody>
      </p:sp>
      <p:sp>
        <p:nvSpPr>
          <p:cNvPr id="19" name="TextBox 18"/>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Moodboards: Pilar × Dominios</a:t>
            </a:r>
          </a:p>
        </p:txBody>
      </p:sp>
      <p:sp>
        <p:nvSpPr>
          <p:cNvPr id="3" name="TextBox 2"/>
          <p:cNvSpPr txBox="1"/>
          <p:nvPr/>
        </p:nvSpPr>
        <p:spPr>
          <a:xfrm>
            <a:off x="5120640" y="292608"/>
            <a:ext cx="2011680" cy="274320"/>
          </a:xfrm>
          <a:prstGeom prst="rect">
            <a:avLst/>
          </a:prstGeom>
          <a:noFill/>
        </p:spPr>
        <p:txBody>
          <a:bodyPr wrap="square">
            <a:spAutoFit/>
          </a:bodyPr>
          <a:lstStyle/>
          <a:p>
            <a:pPr algn="l"/>
            <a:r>
              <a:rPr sz="900" b="1" i="0">
                <a:solidFill>
                  <a:srgbClr val="16A34A"/>
                </a:solidFill>
                <a:latin typeface="Arial"/>
              </a:rPr>
              <a:t>NUEVO ENFOQUE</a:t>
            </a:r>
          </a:p>
        </p:txBody>
      </p:sp>
      <p:sp>
        <p:nvSpPr>
          <p:cNvPr id="4" name="TextBox 3"/>
          <p:cNvSpPr txBox="1"/>
          <p:nvPr/>
        </p:nvSpPr>
        <p:spPr>
          <a:xfrm>
            <a:off x="457200" y="850392"/>
            <a:ext cx="11430000" cy="502920"/>
          </a:xfrm>
          <a:prstGeom prst="rect">
            <a:avLst/>
          </a:prstGeom>
          <a:noFill/>
        </p:spPr>
        <p:txBody>
          <a:bodyPr wrap="square">
            <a:spAutoFit/>
          </a:bodyPr>
          <a:lstStyle/>
          <a:p>
            <a:pPr algn="l"/>
            <a:r>
              <a:rPr sz="1200" b="0" i="0">
                <a:solidFill>
                  <a:srgbClr val="6B7280"/>
                </a:solidFill>
                <a:latin typeface="Arial"/>
              </a:rPr>
              <a:t>Cada pilar se expresa de forma distinta según el dominio. Las 4 slides siguientes exploran cómo se ve cada pilar aplicado a los 4 dominios.
No todos los cruces son igual de fuertes — los cruces débiles se marcan explícitamente.</a:t>
            </a:r>
          </a:p>
        </p:txBody>
      </p:sp>
      <p:sp>
        <p:nvSpPr>
          <p:cNvPr id="5" name="Rectangle 4"/>
          <p:cNvSpPr/>
          <p:nvPr/>
        </p:nvSpPr>
        <p:spPr>
          <a:xfrm>
            <a:off x="457200" y="1554480"/>
            <a:ext cx="5349240" cy="13258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554480"/>
            <a:ext cx="534924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645920"/>
            <a:ext cx="32004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45920"/>
            <a:ext cx="320040" cy="320040"/>
          </a:xfrm>
          <a:prstGeom prst="rect">
            <a:avLst/>
          </a:prstGeom>
          <a:noFill/>
        </p:spPr>
        <p:txBody>
          <a:bodyPr wrap="square">
            <a:spAutoFit/>
          </a:bodyPr>
          <a:lstStyle/>
          <a:p>
            <a:pPr algn="ctr"/>
            <a:r>
              <a:rPr sz="1100" b="1" i="0">
                <a:solidFill>
                  <a:srgbClr val="FFFFFF"/>
                </a:solidFill>
                <a:latin typeface="Arial"/>
              </a:rPr>
              <a:t>1</a:t>
            </a:r>
          </a:p>
        </p:txBody>
      </p:sp>
      <p:sp>
        <p:nvSpPr>
          <p:cNvPr id="9" name="TextBox 8"/>
          <p:cNvSpPr txBox="1"/>
          <p:nvPr/>
        </p:nvSpPr>
        <p:spPr>
          <a:xfrm>
            <a:off x="1005840" y="1645920"/>
            <a:ext cx="4709160" cy="347472"/>
          </a:xfrm>
          <a:prstGeom prst="rect">
            <a:avLst/>
          </a:prstGeom>
          <a:noFill/>
        </p:spPr>
        <p:txBody>
          <a:bodyPr wrap="square">
            <a:spAutoFit/>
          </a:bodyPr>
          <a:lstStyle/>
          <a:p>
            <a:pPr algn="l"/>
            <a:r>
              <a:rPr sz="1400" b="1" i="0">
                <a:solidFill>
                  <a:srgbClr val="0891B2"/>
                </a:solidFill>
                <a:latin typeface="Arial"/>
              </a:rPr>
              <a:t>Quiet UI</a:t>
            </a:r>
          </a:p>
        </p:txBody>
      </p:sp>
      <p:sp>
        <p:nvSpPr>
          <p:cNvPr id="10" name="TextBox 9"/>
          <p:cNvSpPr txBox="1"/>
          <p:nvPr/>
        </p:nvSpPr>
        <p:spPr>
          <a:xfrm>
            <a:off x="566928" y="2084832"/>
            <a:ext cx="5166360" cy="685800"/>
          </a:xfrm>
          <a:prstGeom prst="rect">
            <a:avLst/>
          </a:prstGeom>
          <a:noFill/>
        </p:spPr>
        <p:txBody>
          <a:bodyPr wrap="square">
            <a:spAutoFit/>
          </a:bodyPr>
          <a:lstStyle/>
          <a:p>
            <a:pPr algn="l"/>
            <a:r>
              <a:rPr sz="1100" b="0" i="0">
                <a:solidFill>
                  <a:srgbClr val="1A1A2E"/>
                </a:solidFill>
                <a:latin typeface="Arial"/>
              </a:rPr>
              <a:t>Líder en Crisis. Silencio cromático, gestión por excepción.</a:t>
            </a:r>
          </a:p>
        </p:txBody>
      </p:sp>
      <p:sp>
        <p:nvSpPr>
          <p:cNvPr id="11" name="Rectangle 10"/>
          <p:cNvSpPr/>
          <p:nvPr/>
        </p:nvSpPr>
        <p:spPr>
          <a:xfrm>
            <a:off x="6309360" y="1554480"/>
            <a:ext cx="5349240" cy="13258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554480"/>
            <a:ext cx="534924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19088" y="1645920"/>
            <a:ext cx="32004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645920"/>
            <a:ext cx="320040" cy="320040"/>
          </a:xfrm>
          <a:prstGeom prst="rect">
            <a:avLst/>
          </a:prstGeom>
          <a:noFill/>
        </p:spPr>
        <p:txBody>
          <a:bodyPr wrap="square">
            <a:spAutoFit/>
          </a:bodyPr>
          <a:lstStyle/>
          <a:p>
            <a:pPr algn="ctr"/>
            <a:r>
              <a:rPr sz="1100" b="1" i="0">
                <a:solidFill>
                  <a:srgbClr val="FFFFFF"/>
                </a:solidFill>
                <a:latin typeface="Arial"/>
              </a:rPr>
              <a:t>2</a:t>
            </a:r>
          </a:p>
        </p:txBody>
      </p:sp>
      <p:sp>
        <p:nvSpPr>
          <p:cNvPr id="15" name="TextBox 14"/>
          <p:cNvSpPr txBox="1"/>
          <p:nvPr/>
        </p:nvSpPr>
        <p:spPr>
          <a:xfrm>
            <a:off x="6858000" y="1645920"/>
            <a:ext cx="4709160" cy="347472"/>
          </a:xfrm>
          <a:prstGeom prst="rect">
            <a:avLst/>
          </a:prstGeom>
          <a:noFill/>
        </p:spPr>
        <p:txBody>
          <a:bodyPr wrap="square">
            <a:spAutoFit/>
          </a:bodyPr>
          <a:lstStyle/>
          <a:p>
            <a:pPr algn="l"/>
            <a:r>
              <a:rPr sz="1400" b="1" i="0">
                <a:solidFill>
                  <a:srgbClr val="0891B2"/>
                </a:solidFill>
                <a:latin typeface="Arial"/>
              </a:rPr>
              <a:t>Clear Path</a:t>
            </a:r>
          </a:p>
        </p:txBody>
      </p:sp>
      <p:sp>
        <p:nvSpPr>
          <p:cNvPr id="16" name="TextBox 15"/>
          <p:cNvSpPr txBox="1"/>
          <p:nvPr/>
        </p:nvSpPr>
        <p:spPr>
          <a:xfrm>
            <a:off x="6419088" y="2084832"/>
            <a:ext cx="5166360" cy="685800"/>
          </a:xfrm>
          <a:prstGeom prst="rect">
            <a:avLst/>
          </a:prstGeom>
          <a:noFill/>
        </p:spPr>
        <p:txBody>
          <a:bodyPr wrap="square">
            <a:spAutoFit/>
          </a:bodyPr>
          <a:lstStyle/>
          <a:p>
            <a:pPr algn="l"/>
            <a:r>
              <a:rPr sz="1100" b="0" i="0">
                <a:solidFill>
                  <a:srgbClr val="1A1A2E"/>
                </a:solidFill>
                <a:latin typeface="Arial"/>
              </a:rPr>
              <a:t>Presente en todos. Recomendación D→A→R con opciones e impacto cuantificado.</a:t>
            </a:r>
          </a:p>
        </p:txBody>
      </p:sp>
      <p:sp>
        <p:nvSpPr>
          <p:cNvPr id="17" name="Rectangle 16"/>
          <p:cNvSpPr/>
          <p:nvPr/>
        </p:nvSpPr>
        <p:spPr>
          <a:xfrm>
            <a:off x="457200" y="3063240"/>
            <a:ext cx="5349240" cy="1325880"/>
          </a:xfrm>
          <a:prstGeom prst="rect">
            <a:avLst/>
          </a:prstGeom>
          <a:solidFill>
            <a:srgbClr val="F8FAFC"/>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063240"/>
            <a:ext cx="534924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154680"/>
            <a:ext cx="32004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154680"/>
            <a:ext cx="320040" cy="320040"/>
          </a:xfrm>
          <a:prstGeom prst="rect">
            <a:avLst/>
          </a:prstGeom>
          <a:noFill/>
        </p:spPr>
        <p:txBody>
          <a:bodyPr wrap="square">
            <a:spAutoFit/>
          </a:bodyPr>
          <a:lstStyle/>
          <a:p>
            <a:pPr algn="ctr"/>
            <a:r>
              <a:rPr sz="1100" b="1" i="0">
                <a:solidFill>
                  <a:srgbClr val="FFFFFF"/>
                </a:solidFill>
                <a:latin typeface="Arial"/>
              </a:rPr>
              <a:t>3</a:t>
            </a:r>
          </a:p>
        </p:txBody>
      </p:sp>
      <p:sp>
        <p:nvSpPr>
          <p:cNvPr id="21" name="TextBox 20"/>
          <p:cNvSpPr txBox="1"/>
          <p:nvPr/>
        </p:nvSpPr>
        <p:spPr>
          <a:xfrm>
            <a:off x="1005840" y="3154680"/>
            <a:ext cx="4709160" cy="347472"/>
          </a:xfrm>
          <a:prstGeom prst="rect">
            <a:avLst/>
          </a:prstGeom>
          <a:noFill/>
        </p:spPr>
        <p:txBody>
          <a:bodyPr wrap="square">
            <a:spAutoFit/>
          </a:bodyPr>
          <a:lstStyle/>
          <a:p>
            <a:pPr algn="l"/>
            <a:r>
              <a:rPr sz="1400" b="1" i="0">
                <a:solidFill>
                  <a:srgbClr val="D97706"/>
                </a:solidFill>
                <a:latin typeface="Arial"/>
              </a:rPr>
              <a:t>Time Sight</a:t>
            </a:r>
          </a:p>
        </p:txBody>
      </p:sp>
      <p:sp>
        <p:nvSpPr>
          <p:cNvPr id="22" name="TextBox 21"/>
          <p:cNvSpPr txBox="1"/>
          <p:nvPr/>
        </p:nvSpPr>
        <p:spPr>
          <a:xfrm>
            <a:off x="566928" y="3593592"/>
            <a:ext cx="5166360" cy="685800"/>
          </a:xfrm>
          <a:prstGeom prst="rect">
            <a:avLst/>
          </a:prstGeom>
          <a:noFill/>
        </p:spPr>
        <p:txBody>
          <a:bodyPr wrap="square">
            <a:spAutoFit/>
          </a:bodyPr>
          <a:lstStyle/>
          <a:p>
            <a:pPr algn="l"/>
            <a:r>
              <a:rPr sz="1100" b="0" i="0">
                <a:solidFill>
                  <a:srgbClr val="1A1A2E"/>
                </a:solidFill>
                <a:latin typeface="Arial"/>
              </a:rPr>
              <a:t>Líder en Anticipación + AE. Trazabilidad causal y predicción.</a:t>
            </a:r>
          </a:p>
        </p:txBody>
      </p:sp>
      <p:sp>
        <p:nvSpPr>
          <p:cNvPr id="23" name="Rectangle 22"/>
          <p:cNvSpPr/>
          <p:nvPr/>
        </p:nvSpPr>
        <p:spPr>
          <a:xfrm>
            <a:off x="6309360" y="3063240"/>
            <a:ext cx="5349240" cy="132588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3063240"/>
            <a:ext cx="534924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19088" y="3154680"/>
            <a:ext cx="320040" cy="3200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3154680"/>
            <a:ext cx="320040" cy="320040"/>
          </a:xfrm>
          <a:prstGeom prst="rect">
            <a:avLst/>
          </a:prstGeom>
          <a:noFill/>
        </p:spPr>
        <p:txBody>
          <a:bodyPr wrap="square">
            <a:spAutoFit/>
          </a:bodyPr>
          <a:lstStyle/>
          <a:p>
            <a:pPr algn="ctr"/>
            <a:r>
              <a:rPr sz="1100" b="1" i="0">
                <a:solidFill>
                  <a:srgbClr val="FFFFFF"/>
                </a:solidFill>
                <a:latin typeface="Arial"/>
              </a:rPr>
              <a:t>4</a:t>
            </a:r>
          </a:p>
        </p:txBody>
      </p:sp>
      <p:sp>
        <p:nvSpPr>
          <p:cNvPr id="27" name="TextBox 26"/>
          <p:cNvSpPr txBox="1"/>
          <p:nvPr/>
        </p:nvSpPr>
        <p:spPr>
          <a:xfrm>
            <a:off x="6858000" y="3154680"/>
            <a:ext cx="4709160" cy="347472"/>
          </a:xfrm>
          <a:prstGeom prst="rect">
            <a:avLst/>
          </a:prstGeom>
          <a:noFill/>
        </p:spPr>
        <p:txBody>
          <a:bodyPr wrap="square">
            <a:spAutoFit/>
          </a:bodyPr>
          <a:lstStyle/>
          <a:p>
            <a:pPr algn="l"/>
            <a:r>
              <a:rPr sz="1400" b="1" i="0">
                <a:solidFill>
                  <a:srgbClr val="16A34A"/>
                </a:solidFill>
                <a:latin typeface="Arial"/>
              </a:rPr>
              <a:t>Omni Sense</a:t>
            </a:r>
          </a:p>
        </p:txBody>
      </p:sp>
      <p:sp>
        <p:nvSpPr>
          <p:cNvPr id="28" name="TextBox 27"/>
          <p:cNvSpPr txBox="1"/>
          <p:nvPr/>
        </p:nvSpPr>
        <p:spPr>
          <a:xfrm>
            <a:off x="6419088" y="3593592"/>
            <a:ext cx="5166360" cy="685800"/>
          </a:xfrm>
          <a:prstGeom prst="rect">
            <a:avLst/>
          </a:prstGeom>
          <a:noFill/>
        </p:spPr>
        <p:txBody>
          <a:bodyPr wrap="square">
            <a:spAutoFit/>
          </a:bodyPr>
          <a:lstStyle/>
          <a:p>
            <a:pPr algn="l"/>
            <a:r>
              <a:rPr sz="1100" b="0" i="0">
                <a:solidFill>
                  <a:srgbClr val="1A1A2E"/>
                </a:solidFill>
                <a:latin typeface="Arial"/>
              </a:rPr>
              <a:t>Líder en Asistencia + AE. Touchpoint multimodal.</a:t>
            </a:r>
          </a:p>
        </p:txBody>
      </p:sp>
      <p:sp>
        <p:nvSpPr>
          <p:cNvPr id="29" name="Rectangle 28"/>
          <p:cNvSpPr/>
          <p:nvPr/>
        </p:nvSpPr>
        <p:spPr>
          <a:xfrm>
            <a:off x="457200" y="4681728"/>
            <a:ext cx="11247120" cy="5029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754880"/>
            <a:ext cx="10972800" cy="365760"/>
          </a:xfrm>
          <a:prstGeom prst="rect">
            <a:avLst/>
          </a:prstGeom>
          <a:noFill/>
        </p:spPr>
        <p:txBody>
          <a:bodyPr wrap="square">
            <a:spAutoFit/>
          </a:bodyPr>
          <a:lstStyle/>
          <a:p>
            <a:pPr algn="l"/>
            <a:r>
              <a:rPr sz="1100" b="0" i="1">
                <a:solidFill>
                  <a:srgbClr val="6B7280"/>
                </a:solidFill>
                <a:latin typeface="Arial"/>
              </a:rPr>
              <a:t>Lectura: Cada slide siguiente muestra un pilar cruzado contra los 4 dominios. Contenido visual pendiente — los contenedores están listos para llenar con moodboards, atributos y wireframes.</a:t>
            </a:r>
          </a:p>
        </p:txBody>
      </p:sp>
      <p:sp>
        <p:nvSpPr>
          <p:cNvPr id="31" name="TextBox 30"/>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Quiet UI × Dominios</a:t>
            </a:r>
          </a:p>
        </p:txBody>
      </p:sp>
      <p:sp>
        <p:nvSpPr>
          <p:cNvPr id="3" name="TextBox 2"/>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Gestión por excepción — silencio como default, señal solo cuando hay que actuar.</a:t>
            </a:r>
          </a:p>
        </p:txBody>
      </p:sp>
      <p:sp>
        <p:nvSpPr>
          <p:cNvPr id="4" name="Rectangle 3"/>
          <p:cNvSpPr/>
          <p:nvPr/>
        </p:nvSpPr>
        <p:spPr>
          <a:xfrm>
            <a:off x="457200" y="1298448"/>
            <a:ext cx="5349240" cy="22402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98448"/>
            <a:ext cx="534924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89888"/>
            <a:ext cx="5166360" cy="274320"/>
          </a:xfrm>
          <a:prstGeom prst="rect">
            <a:avLst/>
          </a:prstGeom>
          <a:noFill/>
        </p:spPr>
        <p:txBody>
          <a:bodyPr wrap="square">
            <a:spAutoFit/>
          </a:bodyPr>
          <a:lstStyle/>
          <a:p>
            <a:pPr algn="l"/>
            <a:r>
              <a:rPr sz="1200" b="1" i="0">
                <a:solidFill>
                  <a:srgbClr val="0891B2"/>
                </a:solidFill>
                <a:latin typeface="Arial"/>
              </a:rPr>
              <a:t>●●● × Crisis</a:t>
            </a:r>
          </a:p>
        </p:txBody>
      </p:sp>
      <p:sp>
        <p:nvSpPr>
          <p:cNvPr id="7" name="TextBox 6"/>
          <p:cNvSpPr txBox="1"/>
          <p:nvPr/>
        </p:nvSpPr>
        <p:spPr>
          <a:xfrm>
            <a:off x="566928" y="1773936"/>
            <a:ext cx="5166360" cy="1645920"/>
          </a:xfrm>
          <a:prstGeom prst="rect">
            <a:avLst/>
          </a:prstGeom>
          <a:noFill/>
        </p:spPr>
        <p:txBody>
          <a:bodyPr wrap="square">
            <a:spAutoFit/>
          </a:bodyPr>
          <a:lstStyle/>
          <a:p>
            <a:pPr algn="l"/>
            <a:r>
              <a:rPr sz="1100" b="0" i="0">
                <a:solidFill>
                  <a:srgbClr val="1A1A2E"/>
                </a:solidFill>
                <a:latin typeface="Arial"/>
              </a:rPr>
              <a:t>Moodboard pendiente: consola acromática, color = acción, zero noise</a:t>
            </a:r>
          </a:p>
        </p:txBody>
      </p:sp>
      <p:sp>
        <p:nvSpPr>
          <p:cNvPr id="8" name="Rectangle 7"/>
          <p:cNvSpPr/>
          <p:nvPr/>
        </p:nvSpPr>
        <p:spPr>
          <a:xfrm>
            <a:off x="6291072" y="1298448"/>
            <a:ext cx="5349240" cy="2240280"/>
          </a:xfrm>
          <a:prstGeom prst="rect">
            <a:avLst/>
          </a:prstGeom>
          <a:solidFill>
            <a:srgbClr val="F9FAFB"/>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1072" y="1298448"/>
            <a:ext cx="534924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89888"/>
            <a:ext cx="5166360" cy="274320"/>
          </a:xfrm>
          <a:prstGeom prst="rect">
            <a:avLst/>
          </a:prstGeom>
          <a:noFill/>
        </p:spPr>
        <p:txBody>
          <a:bodyPr wrap="square">
            <a:spAutoFit/>
          </a:bodyPr>
          <a:lstStyle/>
          <a:p>
            <a:pPr algn="l"/>
            <a:r>
              <a:rPr sz="1200" b="1" i="0">
                <a:solidFill>
                  <a:srgbClr val="6B7280"/>
                </a:solidFill>
                <a:latin typeface="Arial"/>
              </a:rPr>
              <a:t>●○ × Anticipación</a:t>
            </a:r>
          </a:p>
        </p:txBody>
      </p:sp>
      <p:sp>
        <p:nvSpPr>
          <p:cNvPr id="11" name="TextBox 10"/>
          <p:cNvSpPr txBox="1"/>
          <p:nvPr/>
        </p:nvSpPr>
        <p:spPr>
          <a:xfrm>
            <a:off x="6400800" y="1773936"/>
            <a:ext cx="5166360" cy="1645920"/>
          </a:xfrm>
          <a:prstGeom prst="rect">
            <a:avLst/>
          </a:prstGeom>
          <a:noFill/>
        </p:spPr>
        <p:txBody>
          <a:bodyPr wrap="square">
            <a:spAutoFit/>
          </a:bodyPr>
          <a:lstStyle/>
          <a:p>
            <a:pPr algn="l"/>
            <a:r>
              <a:rPr sz="1100" b="0" i="0">
                <a:solidFill>
                  <a:srgbClr val="6B7280"/>
                </a:solidFill>
                <a:latin typeface="Arial"/>
              </a:rPr>
              <a:t>Cruce débil — en anticipación el sistema habla más que calla. Quiet UI aplica como filtro de falsas alarmas.</a:t>
            </a:r>
          </a:p>
        </p:txBody>
      </p:sp>
      <p:sp>
        <p:nvSpPr>
          <p:cNvPr id="12" name="Rectangle 11"/>
          <p:cNvSpPr/>
          <p:nvPr/>
        </p:nvSpPr>
        <p:spPr>
          <a:xfrm>
            <a:off x="457200" y="3703320"/>
            <a:ext cx="5349240" cy="2240280"/>
          </a:xfrm>
          <a:prstGeom prst="rect">
            <a:avLst/>
          </a:prstGeom>
          <a:solidFill>
            <a:srgbClr val="F9FAFB"/>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703320"/>
            <a:ext cx="534924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94760"/>
            <a:ext cx="5166360" cy="274320"/>
          </a:xfrm>
          <a:prstGeom prst="rect">
            <a:avLst/>
          </a:prstGeom>
          <a:noFill/>
        </p:spPr>
        <p:txBody>
          <a:bodyPr wrap="square">
            <a:spAutoFit/>
          </a:bodyPr>
          <a:lstStyle/>
          <a:p>
            <a:pPr algn="l"/>
            <a:r>
              <a:rPr sz="1200" b="1" i="0">
                <a:solidFill>
                  <a:srgbClr val="6B7280"/>
                </a:solidFill>
                <a:latin typeface="Arial"/>
              </a:rPr>
              <a:t>●○ × Asistencia</a:t>
            </a:r>
          </a:p>
        </p:txBody>
      </p:sp>
      <p:sp>
        <p:nvSpPr>
          <p:cNvPr id="15" name="TextBox 14"/>
          <p:cNvSpPr txBox="1"/>
          <p:nvPr/>
        </p:nvSpPr>
        <p:spPr>
          <a:xfrm>
            <a:off x="566928" y="4178808"/>
            <a:ext cx="5166360" cy="1645920"/>
          </a:xfrm>
          <a:prstGeom prst="rect">
            <a:avLst/>
          </a:prstGeom>
          <a:noFill/>
        </p:spPr>
        <p:txBody>
          <a:bodyPr wrap="square">
            <a:spAutoFit/>
          </a:bodyPr>
          <a:lstStyle/>
          <a:p>
            <a:pPr algn="l"/>
            <a:r>
              <a:rPr sz="1100" b="0" i="0">
                <a:solidFill>
                  <a:srgbClr val="6B7280"/>
                </a:solidFill>
                <a:latin typeface="Arial"/>
              </a:rPr>
              <a:t>Cruce mínimo — el usuario busca al sistema, no necesita silencio. Quiet UI casi no aplica aquí.</a:t>
            </a:r>
          </a:p>
        </p:txBody>
      </p:sp>
      <p:sp>
        <p:nvSpPr>
          <p:cNvPr id="16" name="Rectangle 15"/>
          <p:cNvSpPr/>
          <p:nvPr/>
        </p:nvSpPr>
        <p:spPr>
          <a:xfrm>
            <a:off x="6291072" y="3703320"/>
            <a:ext cx="5349240" cy="2240280"/>
          </a:xfrm>
          <a:prstGeom prst="rect">
            <a:avLst/>
          </a:prstGeom>
          <a:solidFill>
            <a:srgbClr val="F8FAFC"/>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91072" y="3703320"/>
            <a:ext cx="534924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66360" cy="274320"/>
          </a:xfrm>
          <a:prstGeom prst="rect">
            <a:avLst/>
          </a:prstGeom>
          <a:noFill/>
        </p:spPr>
        <p:txBody>
          <a:bodyPr wrap="square">
            <a:spAutoFit/>
          </a:bodyPr>
          <a:lstStyle/>
          <a:p>
            <a:pPr algn="l"/>
            <a:r>
              <a:rPr sz="1200" b="1" i="0">
                <a:solidFill>
                  <a:srgbClr val="7C3AED"/>
                </a:solidFill>
                <a:latin typeface="Arial"/>
              </a:rPr>
              <a:t>●● × Alineación</a:t>
            </a:r>
          </a:p>
        </p:txBody>
      </p:sp>
      <p:sp>
        <p:nvSpPr>
          <p:cNvPr id="19" name="TextBox 18"/>
          <p:cNvSpPr txBox="1"/>
          <p:nvPr/>
        </p:nvSpPr>
        <p:spPr>
          <a:xfrm>
            <a:off x="6400800" y="4178808"/>
            <a:ext cx="5166360" cy="1645920"/>
          </a:xfrm>
          <a:prstGeom prst="rect">
            <a:avLst/>
          </a:prstGeom>
          <a:noFill/>
        </p:spPr>
        <p:txBody>
          <a:bodyPr wrap="square">
            <a:spAutoFit/>
          </a:bodyPr>
          <a:lstStyle/>
          <a:p>
            <a:pPr algn="l"/>
            <a:r>
              <a:rPr sz="1100" b="0" i="0">
                <a:solidFill>
                  <a:srgbClr val="1A1A2E"/>
                </a:solidFill>
                <a:latin typeface="Arial"/>
              </a:rPr>
              <a:t>Moodboard pendiente: reportes ejecutivos limpios, solo excepciones visibles</a:t>
            </a:r>
          </a:p>
        </p:txBody>
      </p:sp>
      <p:sp>
        <p:nvSpPr>
          <p:cNvPr id="20" name="TextBox 19"/>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Líder</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0891B2"/>
                </a:solidFill>
                <a:latin typeface="Arial"/>
              </a:rPr>
              <a:t>Quiet UI</a:t>
            </a:r>
          </a:p>
        </p:txBody>
      </p:sp>
      <p:sp>
        <p:nvSpPr>
          <p:cNvPr id="5" name="Rectangle 4"/>
          <p:cNvSpPr/>
          <p:nvPr/>
        </p:nvSpPr>
        <p:spPr>
          <a:xfrm>
            <a:off x="320040" y="1261872"/>
            <a:ext cx="50292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Crisis</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"Algo se rompió"</a:t>
            </a:r>
          </a:p>
        </p:txBody>
      </p:sp>
      <p:sp>
        <p:nvSpPr>
          <p:cNvPr id="8" name="Rectangle 7"/>
          <p:cNvSpPr/>
          <p:nvPr/>
        </p:nvSpPr>
        <p:spPr>
          <a:xfrm>
            <a:off x="320040" y="236829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Silencio cromático. Consola acromática — color solo en anomalía.</a:t>
            </a:r>
          </a:p>
        </p:txBody>
      </p:sp>
      <p:sp>
        <p:nvSpPr>
          <p:cNvPr id="10" name="Rectangle 9"/>
          <p:cNvSpPr/>
          <p:nvPr/>
        </p:nvSpPr>
        <p:spPr>
          <a:xfrm>
            <a:off x="320040" y="277977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Escalamiento por excepción. Umbrales, no ruido.</a:t>
            </a:r>
          </a:p>
        </p:txBody>
      </p:sp>
      <p:sp>
        <p:nvSpPr>
          <p:cNvPr id="12" name="Rectangle 11"/>
          <p:cNvSpPr/>
          <p:nvPr/>
        </p:nvSpPr>
        <p:spPr>
          <a:xfrm>
            <a:off x="320040" y="319125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5029200" cy="384048"/>
          </a:xfrm>
          <a:prstGeom prst="rect">
            <a:avLst/>
          </a:prstGeom>
          <a:noFill/>
        </p:spPr>
        <p:txBody>
          <a:bodyPr wrap="square">
            <a:spAutoFit/>
          </a:bodyPr>
          <a:lstStyle/>
          <a:p>
            <a:pPr algn="l"/>
            <a:r>
              <a:rPr sz="1200" b="0" i="0">
                <a:solidFill>
                  <a:srgbClr val="1A1A2E"/>
                </a:solidFill>
                <a:latin typeface="Arial"/>
              </a:rPr>
              <a:t>Si ves color, actúa.</a:t>
            </a:r>
          </a:p>
        </p:txBody>
      </p:sp>
      <p:sp>
        <p:nvSpPr>
          <p:cNvPr id="14" name="Rectangle 13"/>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7" name="TextBox 16"/>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8" name="TextBox 17"/>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Presente</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0891B2"/>
                </a:solidFill>
                <a:latin typeface="Arial"/>
              </a:rPr>
              <a:t>Quiet UI</a:t>
            </a:r>
          </a:p>
        </p:txBody>
      </p:sp>
      <p:sp>
        <p:nvSpPr>
          <p:cNvPr id="5" name="Rectangle 4"/>
          <p:cNvSpPr/>
          <p:nvPr/>
        </p:nvSpPr>
        <p:spPr>
          <a:xfrm>
            <a:off x="320040" y="1261872"/>
            <a:ext cx="50292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Alineación Estratégica</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Dashboard ejecutivo sin ruido</a:t>
            </a:r>
          </a:p>
        </p:txBody>
      </p:sp>
      <p:sp>
        <p:nvSpPr>
          <p:cNvPr id="8" name="Rectangle 7"/>
          <p:cNvSpPr/>
          <p:nvPr/>
        </p:nvSpPr>
        <p:spPr>
          <a:xfrm>
            <a:off x="320040" y="236829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Reportes ejecutivos limpios. Solo excepciones visibles.</a:t>
            </a:r>
          </a:p>
        </p:txBody>
      </p:sp>
      <p:sp>
        <p:nvSpPr>
          <p:cNvPr id="10" name="Rectangle 9"/>
          <p:cNvSpPr/>
          <p:nvPr/>
        </p:nvSpPr>
        <p:spPr>
          <a:xfrm>
            <a:off x="320040" y="277977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Dashboard CFO sin ruido — KPIs clave, no data dump.</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Clear Path × Dominios</a:t>
            </a:r>
          </a:p>
        </p:txBody>
      </p:sp>
      <p:sp>
        <p:nvSpPr>
          <p:cNvPr id="3" name="TextBox 2"/>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Cada pantalla → acción. Recomendaciones con opciones A/B/C e impacto cuantificado.</a:t>
            </a:r>
          </a:p>
        </p:txBody>
      </p:sp>
      <p:sp>
        <p:nvSpPr>
          <p:cNvPr id="4" name="Rectangle 3"/>
          <p:cNvSpPr/>
          <p:nvPr/>
        </p:nvSpPr>
        <p:spPr>
          <a:xfrm>
            <a:off x="457200" y="1298448"/>
            <a:ext cx="5349240" cy="22402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98448"/>
            <a:ext cx="534924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89888"/>
            <a:ext cx="5166360" cy="274320"/>
          </a:xfrm>
          <a:prstGeom prst="rect">
            <a:avLst/>
          </a:prstGeom>
          <a:noFill/>
        </p:spPr>
        <p:txBody>
          <a:bodyPr wrap="square">
            <a:spAutoFit/>
          </a:bodyPr>
          <a:lstStyle/>
          <a:p>
            <a:pPr algn="l"/>
            <a:r>
              <a:rPr sz="1200" b="1" i="0">
                <a:solidFill>
                  <a:srgbClr val="0891B2"/>
                </a:solidFill>
                <a:latin typeface="Arial"/>
              </a:rPr>
              <a:t>●●● × Crisis</a:t>
            </a:r>
          </a:p>
        </p:txBody>
      </p:sp>
      <p:sp>
        <p:nvSpPr>
          <p:cNvPr id="7" name="TextBox 6"/>
          <p:cNvSpPr txBox="1"/>
          <p:nvPr/>
        </p:nvSpPr>
        <p:spPr>
          <a:xfrm>
            <a:off x="566928" y="1773936"/>
            <a:ext cx="5166360" cy="1645920"/>
          </a:xfrm>
          <a:prstGeom prst="rect">
            <a:avLst/>
          </a:prstGeom>
          <a:noFill/>
        </p:spPr>
        <p:txBody>
          <a:bodyPr wrap="square">
            <a:spAutoFit/>
          </a:bodyPr>
          <a:lstStyle/>
          <a:p>
            <a:pPr algn="l"/>
            <a:r>
              <a:rPr sz="1100" b="0" i="0">
                <a:solidFill>
                  <a:srgbClr val="1A1A2E"/>
                </a:solidFill>
                <a:latin typeface="Arial"/>
              </a:rPr>
              <a:t>Moodboard pendiente: ruta más rápida vs más segura,
impacto en tiempo/costo, D→A→R en crisis</a:t>
            </a:r>
          </a:p>
        </p:txBody>
      </p:sp>
      <p:sp>
        <p:nvSpPr>
          <p:cNvPr id="8" name="Rectangle 7"/>
          <p:cNvSpPr/>
          <p:nvPr/>
        </p:nvSpPr>
        <p:spPr>
          <a:xfrm>
            <a:off x="6291072" y="1298448"/>
            <a:ext cx="5349240" cy="2240280"/>
          </a:xfrm>
          <a:prstGeom prst="rect">
            <a:avLst/>
          </a:prstGeom>
          <a:solidFill>
            <a:srgbClr val="F8FAFC"/>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1072" y="1298448"/>
            <a:ext cx="534924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89888"/>
            <a:ext cx="5166360" cy="274320"/>
          </a:xfrm>
          <a:prstGeom prst="rect">
            <a:avLst/>
          </a:prstGeom>
          <a:noFill/>
        </p:spPr>
        <p:txBody>
          <a:bodyPr wrap="square">
            <a:spAutoFit/>
          </a:bodyPr>
          <a:lstStyle/>
          <a:p>
            <a:pPr algn="l"/>
            <a:r>
              <a:rPr sz="1200" b="1" i="0">
                <a:solidFill>
                  <a:srgbClr val="D97706"/>
                </a:solidFill>
                <a:latin typeface="Arial"/>
              </a:rPr>
              <a:t>●● × Anticipación</a:t>
            </a:r>
          </a:p>
        </p:txBody>
      </p:sp>
      <p:sp>
        <p:nvSpPr>
          <p:cNvPr id="11" name="TextBox 10"/>
          <p:cNvSpPr txBox="1"/>
          <p:nvPr/>
        </p:nvSpPr>
        <p:spPr>
          <a:xfrm>
            <a:off x="6400800" y="1773936"/>
            <a:ext cx="5166360" cy="1645920"/>
          </a:xfrm>
          <a:prstGeom prst="rect">
            <a:avLst/>
          </a:prstGeom>
          <a:noFill/>
        </p:spPr>
        <p:txBody>
          <a:bodyPr wrap="square">
            <a:spAutoFit/>
          </a:bodyPr>
          <a:lstStyle/>
          <a:p>
            <a:pPr algn="l"/>
            <a:r>
              <a:rPr sz="1100" b="0" i="0">
                <a:solidFill>
                  <a:srgbClr val="1A1A2E"/>
                </a:solidFill>
                <a:latin typeface="Arial"/>
              </a:rPr>
              <a:t>Moodboard pendiente: próxima mejor acción preventiva,
ventana de oportunidad</a:t>
            </a:r>
          </a:p>
        </p:txBody>
      </p:sp>
      <p:sp>
        <p:nvSpPr>
          <p:cNvPr id="12" name="Rectangle 11"/>
          <p:cNvSpPr/>
          <p:nvPr/>
        </p:nvSpPr>
        <p:spPr>
          <a:xfrm>
            <a:off x="457200" y="3703320"/>
            <a:ext cx="5349240" cy="224028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703320"/>
            <a:ext cx="534924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94760"/>
            <a:ext cx="5166360" cy="274320"/>
          </a:xfrm>
          <a:prstGeom prst="rect">
            <a:avLst/>
          </a:prstGeom>
          <a:noFill/>
        </p:spPr>
        <p:txBody>
          <a:bodyPr wrap="square">
            <a:spAutoFit/>
          </a:bodyPr>
          <a:lstStyle/>
          <a:p>
            <a:pPr algn="l"/>
            <a:r>
              <a:rPr sz="1200" b="1" i="0">
                <a:solidFill>
                  <a:srgbClr val="16A34A"/>
                </a:solidFill>
                <a:latin typeface="Arial"/>
              </a:rPr>
              <a:t>●● × Asistencia</a:t>
            </a:r>
          </a:p>
        </p:txBody>
      </p:sp>
      <p:sp>
        <p:nvSpPr>
          <p:cNvPr id="15" name="TextBox 14"/>
          <p:cNvSpPr txBox="1"/>
          <p:nvPr/>
        </p:nvSpPr>
        <p:spPr>
          <a:xfrm>
            <a:off x="566928" y="4178808"/>
            <a:ext cx="5166360" cy="1645920"/>
          </a:xfrm>
          <a:prstGeom prst="rect">
            <a:avLst/>
          </a:prstGeom>
          <a:noFill/>
        </p:spPr>
        <p:txBody>
          <a:bodyPr wrap="square">
            <a:spAutoFit/>
          </a:bodyPr>
          <a:lstStyle/>
          <a:p>
            <a:pPr algn="l"/>
            <a:r>
              <a:rPr sz="1100" b="0" i="0">
                <a:solidFill>
                  <a:srgbClr val="1A1A2E"/>
                </a:solidFill>
                <a:latin typeface="Arial"/>
              </a:rPr>
              <a:t>Moodboard pendiente: copiloto conversacional,
respuesta directa con paso siguiente</a:t>
            </a:r>
          </a:p>
        </p:txBody>
      </p:sp>
      <p:sp>
        <p:nvSpPr>
          <p:cNvPr id="16" name="Rectangle 15"/>
          <p:cNvSpPr/>
          <p:nvPr/>
        </p:nvSpPr>
        <p:spPr>
          <a:xfrm>
            <a:off x="6291072" y="3703320"/>
            <a:ext cx="5349240" cy="2240280"/>
          </a:xfrm>
          <a:prstGeom prst="rect">
            <a:avLst/>
          </a:prstGeom>
          <a:solidFill>
            <a:srgbClr val="F8FAFC"/>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91072" y="3703320"/>
            <a:ext cx="534924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66360" cy="274320"/>
          </a:xfrm>
          <a:prstGeom prst="rect">
            <a:avLst/>
          </a:prstGeom>
          <a:noFill/>
        </p:spPr>
        <p:txBody>
          <a:bodyPr wrap="square">
            <a:spAutoFit/>
          </a:bodyPr>
          <a:lstStyle/>
          <a:p>
            <a:pPr algn="l"/>
            <a:r>
              <a:rPr sz="1200" b="1" i="0">
                <a:solidFill>
                  <a:srgbClr val="7C3AED"/>
                </a:solidFill>
                <a:latin typeface="Arial"/>
              </a:rPr>
              <a:t>●● × Alineación</a:t>
            </a:r>
          </a:p>
        </p:txBody>
      </p:sp>
      <p:sp>
        <p:nvSpPr>
          <p:cNvPr id="19" name="TextBox 18"/>
          <p:cNvSpPr txBox="1"/>
          <p:nvPr/>
        </p:nvSpPr>
        <p:spPr>
          <a:xfrm>
            <a:off x="6400800" y="4178808"/>
            <a:ext cx="5166360" cy="1645920"/>
          </a:xfrm>
          <a:prstGeom prst="rect">
            <a:avLst/>
          </a:prstGeom>
          <a:noFill/>
        </p:spPr>
        <p:txBody>
          <a:bodyPr wrap="square">
            <a:spAutoFit/>
          </a:bodyPr>
          <a:lstStyle/>
          <a:p>
            <a:pPr algn="l"/>
            <a:r>
              <a:rPr sz="1100" b="0" i="0">
                <a:solidFill>
                  <a:srgbClr val="1A1A2E"/>
                </a:solidFill>
                <a:latin typeface="Arial"/>
              </a:rPr>
              <a:t>Moodboard pendiente: recomendación de re-planificación,
trade-offs con impacto en EBITDA</a:t>
            </a:r>
          </a:p>
        </p:txBody>
      </p:sp>
      <p:sp>
        <p:nvSpPr>
          <p:cNvPr id="20" name="TextBox 19"/>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Líder</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0891B2"/>
                </a:solidFill>
                <a:latin typeface="Arial"/>
              </a:rPr>
              <a:t>Clear Path</a:t>
            </a:r>
          </a:p>
        </p:txBody>
      </p:sp>
      <p:sp>
        <p:nvSpPr>
          <p:cNvPr id="5" name="Rectangle 4"/>
          <p:cNvSpPr/>
          <p:nvPr/>
        </p:nvSpPr>
        <p:spPr>
          <a:xfrm>
            <a:off x="320040" y="1261872"/>
            <a:ext cx="50292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Crisis</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"Algo se rompió"</a:t>
            </a:r>
          </a:p>
        </p:txBody>
      </p:sp>
      <p:sp>
        <p:nvSpPr>
          <p:cNvPr id="8" name="Rectangle 7"/>
          <p:cNvSpPr/>
          <p:nvPr/>
        </p:nvSpPr>
        <p:spPr>
          <a:xfrm>
            <a:off x="320040" y="236829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Ruta A vs ruta B vs ruta C — con impacto cuantificado en tiempo y costo.</a:t>
            </a:r>
          </a:p>
        </p:txBody>
      </p:sp>
      <p:sp>
        <p:nvSpPr>
          <p:cNvPr id="10" name="Rectangle 9"/>
          <p:cNvSpPr/>
          <p:nvPr/>
        </p:nvSpPr>
        <p:spPr>
          <a:xfrm>
            <a:off x="320040" y="277977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D→A→R en modo urgencia. Prescripción inmediata.</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Presente</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0891B2"/>
                </a:solidFill>
                <a:latin typeface="Arial"/>
              </a:rPr>
              <a:t>Clear Path</a:t>
            </a:r>
          </a:p>
        </p:txBody>
      </p:sp>
      <p:sp>
        <p:nvSpPr>
          <p:cNvPr id="5" name="Rectangle 4"/>
          <p:cNvSpPr/>
          <p:nvPr/>
        </p:nvSpPr>
        <p:spPr>
          <a:xfrm>
            <a:off x="320040" y="1261872"/>
            <a:ext cx="50292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Anticipación</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"Va a fallar"</a:t>
            </a:r>
          </a:p>
        </p:txBody>
      </p:sp>
      <p:sp>
        <p:nvSpPr>
          <p:cNvPr id="8" name="Rectangle 7"/>
          <p:cNvSpPr/>
          <p:nvPr/>
        </p:nvSpPr>
        <p:spPr>
          <a:xfrm>
            <a:off x="320040" y="236829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Próxima mejor acción preventiva.</a:t>
            </a:r>
          </a:p>
        </p:txBody>
      </p:sp>
      <p:sp>
        <p:nvSpPr>
          <p:cNvPr id="10" name="Rectangle 9"/>
          <p:cNvSpPr/>
          <p:nvPr/>
        </p:nvSpPr>
        <p:spPr>
          <a:xfrm>
            <a:off x="320040" y="277977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Ventana de oportunidad antes de la falla.</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Presente</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0891B2"/>
                </a:solidFill>
                <a:latin typeface="Arial"/>
              </a:rPr>
              <a:t>Clear Path</a:t>
            </a:r>
          </a:p>
        </p:txBody>
      </p:sp>
      <p:sp>
        <p:nvSpPr>
          <p:cNvPr id="5" name="Rectangle 4"/>
          <p:cNvSpPr/>
          <p:nvPr/>
        </p:nvSpPr>
        <p:spPr>
          <a:xfrm>
            <a:off x="320040" y="1261872"/>
            <a:ext cx="50292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Asistencia</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"Procesa esto"</a:t>
            </a:r>
          </a:p>
        </p:txBody>
      </p:sp>
      <p:sp>
        <p:nvSpPr>
          <p:cNvPr id="8" name="Rectangle 7"/>
          <p:cNvSpPr/>
          <p:nvPr/>
        </p:nvSpPr>
        <p:spPr>
          <a:xfrm>
            <a:off x="320040" y="236829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Copiloto conversacional.</a:t>
            </a:r>
          </a:p>
        </p:txBody>
      </p:sp>
      <p:sp>
        <p:nvSpPr>
          <p:cNvPr id="10" name="Rectangle 9"/>
          <p:cNvSpPr/>
          <p:nvPr/>
        </p:nvSpPr>
        <p:spPr>
          <a:xfrm>
            <a:off x="320040" y="277977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Respuesta directa con paso siguiente.</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Presente</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0891B2"/>
                </a:solidFill>
                <a:latin typeface="Arial"/>
              </a:rPr>
              <a:t>Clear Path</a:t>
            </a:r>
          </a:p>
        </p:txBody>
      </p:sp>
      <p:sp>
        <p:nvSpPr>
          <p:cNvPr id="5" name="Rectangle 4"/>
          <p:cNvSpPr/>
          <p:nvPr/>
        </p:nvSpPr>
        <p:spPr>
          <a:xfrm>
            <a:off x="320040" y="1261872"/>
            <a:ext cx="50292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Alineación Estratégica</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Re-planificación estratégica</a:t>
            </a:r>
          </a:p>
        </p:txBody>
      </p:sp>
      <p:sp>
        <p:nvSpPr>
          <p:cNvPr id="8" name="Rectangle 7"/>
          <p:cNvSpPr/>
          <p:nvPr/>
        </p:nvSpPr>
        <p:spPr>
          <a:xfrm>
            <a:off x="320040" y="236829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Recomendación de re-planificación.</a:t>
            </a:r>
          </a:p>
        </p:txBody>
      </p:sp>
      <p:sp>
        <p:nvSpPr>
          <p:cNvPr id="10" name="Rectangle 9"/>
          <p:cNvSpPr/>
          <p:nvPr/>
        </p:nvSpPr>
        <p:spPr>
          <a:xfrm>
            <a:off x="320040" y="277977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Trade-offs con impacto en EBITDA.</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Time Sight × Dominios</a:t>
            </a:r>
          </a:p>
        </p:txBody>
      </p:sp>
      <p:sp>
        <p:nvSpPr>
          <p:cNvPr id="3" name="TextBox 2"/>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Consciencia temporal — entender de dónde viene el problema, qué pasa ahora, qué puede pasar después.</a:t>
            </a:r>
          </a:p>
        </p:txBody>
      </p:sp>
      <p:sp>
        <p:nvSpPr>
          <p:cNvPr id="4" name="Rectangle 3"/>
          <p:cNvSpPr/>
          <p:nvPr/>
        </p:nvSpPr>
        <p:spPr>
          <a:xfrm>
            <a:off x="457200" y="1298448"/>
            <a:ext cx="5349240" cy="22402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98448"/>
            <a:ext cx="534924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89888"/>
            <a:ext cx="5166360" cy="274320"/>
          </a:xfrm>
          <a:prstGeom prst="rect">
            <a:avLst/>
          </a:prstGeom>
          <a:noFill/>
        </p:spPr>
        <p:txBody>
          <a:bodyPr wrap="square">
            <a:spAutoFit/>
          </a:bodyPr>
          <a:lstStyle/>
          <a:p>
            <a:pPr algn="l"/>
            <a:r>
              <a:rPr sz="1200" b="1" i="0">
                <a:solidFill>
                  <a:srgbClr val="0891B2"/>
                </a:solidFill>
                <a:latin typeface="Arial"/>
              </a:rPr>
              <a:t>●●● × Crisis</a:t>
            </a:r>
          </a:p>
        </p:txBody>
      </p:sp>
      <p:sp>
        <p:nvSpPr>
          <p:cNvPr id="7" name="TextBox 6"/>
          <p:cNvSpPr txBox="1"/>
          <p:nvPr/>
        </p:nvSpPr>
        <p:spPr>
          <a:xfrm>
            <a:off x="566928" y="1773936"/>
            <a:ext cx="5166360" cy="1645920"/>
          </a:xfrm>
          <a:prstGeom prst="rect">
            <a:avLst/>
          </a:prstGeom>
          <a:noFill/>
        </p:spPr>
        <p:txBody>
          <a:bodyPr wrap="square">
            <a:spAutoFit/>
          </a:bodyPr>
          <a:lstStyle/>
          <a:p>
            <a:pPr algn="l"/>
            <a:r>
              <a:rPr sz="1100" b="0" i="0">
                <a:solidFill>
                  <a:srgbClr val="1A1A2E"/>
                </a:solidFill>
                <a:latin typeface="Arial"/>
              </a:rPr>
              <a:t>Moodboard pendiente: análisis forense, cadena causal visual,
qué pasó → por qué → qué sigue</a:t>
            </a:r>
          </a:p>
        </p:txBody>
      </p:sp>
      <p:sp>
        <p:nvSpPr>
          <p:cNvPr id="8" name="Rectangle 7"/>
          <p:cNvSpPr/>
          <p:nvPr/>
        </p:nvSpPr>
        <p:spPr>
          <a:xfrm>
            <a:off x="6291072" y="1298448"/>
            <a:ext cx="5349240" cy="2240280"/>
          </a:xfrm>
          <a:prstGeom prst="rect">
            <a:avLst/>
          </a:prstGeom>
          <a:solidFill>
            <a:srgbClr val="F8FAFC"/>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1072" y="1298448"/>
            <a:ext cx="534924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89888"/>
            <a:ext cx="5166360" cy="274320"/>
          </a:xfrm>
          <a:prstGeom prst="rect">
            <a:avLst/>
          </a:prstGeom>
          <a:noFill/>
        </p:spPr>
        <p:txBody>
          <a:bodyPr wrap="square">
            <a:spAutoFit/>
          </a:bodyPr>
          <a:lstStyle/>
          <a:p>
            <a:pPr algn="l"/>
            <a:r>
              <a:rPr sz="1200" b="1" i="0">
                <a:solidFill>
                  <a:srgbClr val="D97706"/>
                </a:solidFill>
                <a:latin typeface="Arial"/>
              </a:rPr>
              <a:t>●●● × Anticipación</a:t>
            </a:r>
          </a:p>
        </p:txBody>
      </p:sp>
      <p:sp>
        <p:nvSpPr>
          <p:cNvPr id="11" name="TextBox 10"/>
          <p:cNvSpPr txBox="1"/>
          <p:nvPr/>
        </p:nvSpPr>
        <p:spPr>
          <a:xfrm>
            <a:off x="6400800" y="1773936"/>
            <a:ext cx="5166360" cy="1645920"/>
          </a:xfrm>
          <a:prstGeom prst="rect">
            <a:avLst/>
          </a:prstGeom>
          <a:noFill/>
        </p:spPr>
        <p:txBody>
          <a:bodyPr wrap="square">
            <a:spAutoFit/>
          </a:bodyPr>
          <a:lstStyle/>
          <a:p>
            <a:pPr algn="l"/>
            <a:r>
              <a:rPr sz="1100" b="0" i="0">
                <a:solidFill>
                  <a:srgbClr val="1A1A2E"/>
                </a:solidFill>
                <a:latin typeface="Arial"/>
              </a:rPr>
              <a:t>Moodboard pendiente: degradación progresiva,
ventana de acción, predicción con probabilidad</a:t>
            </a:r>
          </a:p>
        </p:txBody>
      </p:sp>
      <p:sp>
        <p:nvSpPr>
          <p:cNvPr id="12" name="Rectangle 11"/>
          <p:cNvSpPr/>
          <p:nvPr/>
        </p:nvSpPr>
        <p:spPr>
          <a:xfrm>
            <a:off x="457200" y="3703320"/>
            <a:ext cx="5349240" cy="2240280"/>
          </a:xfrm>
          <a:prstGeom prst="rect">
            <a:avLst/>
          </a:prstGeom>
          <a:solidFill>
            <a:srgbClr val="F9FAFB"/>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703320"/>
            <a:ext cx="534924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94760"/>
            <a:ext cx="5166360" cy="274320"/>
          </a:xfrm>
          <a:prstGeom prst="rect">
            <a:avLst/>
          </a:prstGeom>
          <a:noFill/>
        </p:spPr>
        <p:txBody>
          <a:bodyPr wrap="square">
            <a:spAutoFit/>
          </a:bodyPr>
          <a:lstStyle/>
          <a:p>
            <a:pPr algn="l"/>
            <a:r>
              <a:rPr sz="1200" b="1" i="0">
                <a:solidFill>
                  <a:srgbClr val="6B7280"/>
                </a:solidFill>
                <a:latin typeface="Arial"/>
              </a:rPr>
              <a:t>●○ × Asistencia</a:t>
            </a:r>
          </a:p>
        </p:txBody>
      </p:sp>
      <p:sp>
        <p:nvSpPr>
          <p:cNvPr id="15" name="TextBox 14"/>
          <p:cNvSpPr txBox="1"/>
          <p:nvPr/>
        </p:nvSpPr>
        <p:spPr>
          <a:xfrm>
            <a:off x="566928" y="4178808"/>
            <a:ext cx="5166360" cy="1645920"/>
          </a:xfrm>
          <a:prstGeom prst="rect">
            <a:avLst/>
          </a:prstGeom>
          <a:noFill/>
        </p:spPr>
        <p:txBody>
          <a:bodyPr wrap="square">
            <a:spAutoFit/>
          </a:bodyPr>
          <a:lstStyle/>
          <a:p>
            <a:pPr algn="l"/>
            <a:r>
              <a:rPr sz="1100" b="0" i="0">
                <a:solidFill>
                  <a:srgbClr val="6B7280"/>
                </a:solidFill>
                <a:latin typeface="Arial"/>
              </a:rPr>
              <a:t>Cruce débil — en asistencia el foco es la respuesta inmediata,
no la línea temporal. Time Sight aporta contexto pero no lidera.</a:t>
            </a:r>
          </a:p>
        </p:txBody>
      </p:sp>
      <p:sp>
        <p:nvSpPr>
          <p:cNvPr id="16" name="Rectangle 15"/>
          <p:cNvSpPr/>
          <p:nvPr/>
        </p:nvSpPr>
        <p:spPr>
          <a:xfrm>
            <a:off x="6291072" y="3703320"/>
            <a:ext cx="5349240" cy="2240280"/>
          </a:xfrm>
          <a:prstGeom prst="rect">
            <a:avLst/>
          </a:prstGeom>
          <a:solidFill>
            <a:srgbClr val="F8FAFC"/>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91072" y="3703320"/>
            <a:ext cx="534924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66360" cy="274320"/>
          </a:xfrm>
          <a:prstGeom prst="rect">
            <a:avLst/>
          </a:prstGeom>
          <a:noFill/>
        </p:spPr>
        <p:txBody>
          <a:bodyPr wrap="square">
            <a:spAutoFit/>
          </a:bodyPr>
          <a:lstStyle/>
          <a:p>
            <a:pPr algn="l"/>
            <a:r>
              <a:rPr sz="1200" b="1" i="0">
                <a:solidFill>
                  <a:srgbClr val="7C3AED"/>
                </a:solidFill>
                <a:latin typeface="Arial"/>
              </a:rPr>
              <a:t>●●● × Alineación</a:t>
            </a:r>
          </a:p>
        </p:txBody>
      </p:sp>
      <p:sp>
        <p:nvSpPr>
          <p:cNvPr id="19" name="TextBox 18"/>
          <p:cNvSpPr txBox="1"/>
          <p:nvPr/>
        </p:nvSpPr>
        <p:spPr>
          <a:xfrm>
            <a:off x="6400800" y="4178808"/>
            <a:ext cx="5166360" cy="1645920"/>
          </a:xfrm>
          <a:prstGeom prst="rect">
            <a:avLst/>
          </a:prstGeom>
          <a:noFill/>
        </p:spPr>
        <p:txBody>
          <a:bodyPr wrap="square">
            <a:spAutoFit/>
          </a:bodyPr>
          <a:lstStyle/>
          <a:p>
            <a:pPr algn="l"/>
            <a:r>
              <a:rPr sz="1100" b="0" i="0">
                <a:solidFill>
                  <a:srgbClr val="1A1A2E"/>
                </a:solidFill>
                <a:latin typeface="Arial"/>
              </a:rPr>
              <a:t>Moodboard pendiente: desviación continua del plan,
tendencias estructurales, re-planificación basada en historia</a:t>
            </a:r>
          </a:p>
        </p:txBody>
      </p:sp>
      <p:sp>
        <p:nvSpPr>
          <p:cNvPr id="20" name="TextBox 19"/>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Líder</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D97706"/>
                </a:solidFill>
                <a:latin typeface="Arial"/>
              </a:rPr>
              <a:t>Time Sight</a:t>
            </a:r>
          </a:p>
        </p:txBody>
      </p:sp>
      <p:sp>
        <p:nvSpPr>
          <p:cNvPr id="5" name="Rectangle 4"/>
          <p:cNvSpPr/>
          <p:nvPr/>
        </p:nvSpPr>
        <p:spPr>
          <a:xfrm>
            <a:off x="320040" y="1261872"/>
            <a:ext cx="50292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Crisis</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"Algo se rompió"</a:t>
            </a:r>
          </a:p>
        </p:txBody>
      </p:sp>
      <p:sp>
        <p:nvSpPr>
          <p:cNvPr id="8" name="Rectangle 7"/>
          <p:cNvSpPr/>
          <p:nvPr/>
        </p:nvSpPr>
        <p:spPr>
          <a:xfrm>
            <a:off x="320040" y="2368296"/>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Análisis forense. Cadena causal visual — qué pasó, por qué, qué sigue.</a:t>
            </a:r>
          </a:p>
        </p:txBody>
      </p:sp>
      <p:sp>
        <p:nvSpPr>
          <p:cNvPr id="10" name="Rectangle 9"/>
          <p:cNvSpPr/>
          <p:nvPr/>
        </p:nvSpPr>
        <p:spPr>
          <a:xfrm>
            <a:off x="320040" y="2779776"/>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Post-mortem en tiempo real.</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Líder</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D97706"/>
                </a:solidFill>
                <a:latin typeface="Arial"/>
              </a:rPr>
              <a:t>Time Sight</a:t>
            </a:r>
          </a:p>
        </p:txBody>
      </p:sp>
      <p:sp>
        <p:nvSpPr>
          <p:cNvPr id="5" name="Rectangle 4"/>
          <p:cNvSpPr/>
          <p:nvPr/>
        </p:nvSpPr>
        <p:spPr>
          <a:xfrm>
            <a:off x="320040" y="1261872"/>
            <a:ext cx="50292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Anticipación</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"Va a fallar"</a:t>
            </a:r>
          </a:p>
        </p:txBody>
      </p:sp>
      <p:sp>
        <p:nvSpPr>
          <p:cNvPr id="8" name="Rectangle 7"/>
          <p:cNvSpPr/>
          <p:nvPr/>
        </p:nvSpPr>
        <p:spPr>
          <a:xfrm>
            <a:off x="320040" y="2368296"/>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Degradación progresiva. Ventana de acción antes de la falla.</a:t>
            </a:r>
          </a:p>
        </p:txBody>
      </p:sp>
      <p:sp>
        <p:nvSpPr>
          <p:cNvPr id="10" name="Rectangle 9"/>
          <p:cNvSpPr/>
          <p:nvPr/>
        </p:nvSpPr>
        <p:spPr>
          <a:xfrm>
            <a:off x="320040" y="2779776"/>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Predicción con rango de probabilidad.</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Líder</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D97706"/>
                </a:solidFill>
                <a:latin typeface="Arial"/>
              </a:rPr>
              <a:t>Time Sight</a:t>
            </a:r>
          </a:p>
        </p:txBody>
      </p:sp>
      <p:sp>
        <p:nvSpPr>
          <p:cNvPr id="5" name="Rectangle 4"/>
          <p:cNvSpPr/>
          <p:nvPr/>
        </p:nvSpPr>
        <p:spPr>
          <a:xfrm>
            <a:off x="320040" y="1261872"/>
            <a:ext cx="50292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Alineación Estratégica</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Tendencias y re-planificación</a:t>
            </a:r>
          </a:p>
        </p:txBody>
      </p:sp>
      <p:sp>
        <p:nvSpPr>
          <p:cNvPr id="8" name="Rectangle 7"/>
          <p:cNvSpPr/>
          <p:nvPr/>
        </p:nvSpPr>
        <p:spPr>
          <a:xfrm>
            <a:off x="320040" y="2368296"/>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Desviación continua del plan. Tendencias estructurales.</a:t>
            </a:r>
          </a:p>
        </p:txBody>
      </p:sp>
      <p:sp>
        <p:nvSpPr>
          <p:cNvPr id="10" name="Rectangle 9"/>
          <p:cNvSpPr/>
          <p:nvPr/>
        </p:nvSpPr>
        <p:spPr>
          <a:xfrm>
            <a:off x="320040" y="2779776"/>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Re-planificación basada en historia y proyección.</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spAutoFit/>
          </a:bodyPr>
          <a:lstStyle/>
          <a:p>
            <a:pPr algn="l"/>
            <a:r>
              <a:rPr sz="2200" b="1" i="0">
                <a:solidFill>
                  <a:srgbClr val="1A1A2E"/>
                </a:solidFill>
                <a:latin typeface="Arial"/>
              </a:rPr>
              <a:t>Omni Sense × Dominios</a:t>
            </a:r>
          </a:p>
        </p:txBody>
      </p:sp>
      <p:sp>
        <p:nvSpPr>
          <p:cNvPr id="3" name="TextBox 2"/>
          <p:cNvSpPr txBox="1"/>
          <p:nvPr/>
        </p:nvSpPr>
        <p:spPr>
          <a:xfrm>
            <a:off x="457200" y="850392"/>
            <a:ext cx="11430000" cy="292608"/>
          </a:xfrm>
          <a:prstGeom prst="rect">
            <a:avLst/>
          </a:prstGeom>
          <a:noFill/>
        </p:spPr>
        <p:txBody>
          <a:bodyPr wrap="square">
            <a:spAutoFit/>
          </a:bodyPr>
          <a:lstStyle/>
          <a:p>
            <a:pPr algn="l"/>
            <a:r>
              <a:rPr sz="1200" b="0" i="0">
                <a:solidFill>
                  <a:srgbClr val="6B7280"/>
                </a:solidFill>
                <a:latin typeface="Arial"/>
              </a:rPr>
              <a:t>El touchpoint multimodal — el sistema te alcanza donde estés: WhatsApp, radio, IROC, dashboard.</a:t>
            </a:r>
          </a:p>
        </p:txBody>
      </p:sp>
      <p:sp>
        <p:nvSpPr>
          <p:cNvPr id="4" name="Rectangle 3"/>
          <p:cNvSpPr/>
          <p:nvPr/>
        </p:nvSpPr>
        <p:spPr>
          <a:xfrm>
            <a:off x="457200" y="1298448"/>
            <a:ext cx="5349240" cy="2240280"/>
          </a:xfrm>
          <a:prstGeom prst="rect">
            <a:avLst/>
          </a:prstGeom>
          <a:solidFill>
            <a:srgbClr val="F8FAFC"/>
          </a:solidFill>
          <a:ln w="9525">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98448"/>
            <a:ext cx="534924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89888"/>
            <a:ext cx="5166360" cy="274320"/>
          </a:xfrm>
          <a:prstGeom prst="rect">
            <a:avLst/>
          </a:prstGeom>
          <a:noFill/>
        </p:spPr>
        <p:txBody>
          <a:bodyPr wrap="square">
            <a:spAutoFit/>
          </a:bodyPr>
          <a:lstStyle/>
          <a:p>
            <a:pPr algn="l"/>
            <a:r>
              <a:rPr sz="1200" b="1" i="0">
                <a:solidFill>
                  <a:srgbClr val="0891B2"/>
                </a:solidFill>
                <a:latin typeface="Arial"/>
              </a:rPr>
              <a:t>●● × Crisis</a:t>
            </a:r>
          </a:p>
        </p:txBody>
      </p:sp>
      <p:sp>
        <p:nvSpPr>
          <p:cNvPr id="7" name="TextBox 6"/>
          <p:cNvSpPr txBox="1"/>
          <p:nvPr/>
        </p:nvSpPr>
        <p:spPr>
          <a:xfrm>
            <a:off x="566928" y="1773936"/>
            <a:ext cx="5166360" cy="1645920"/>
          </a:xfrm>
          <a:prstGeom prst="rect">
            <a:avLst/>
          </a:prstGeom>
          <a:noFill/>
        </p:spPr>
        <p:txBody>
          <a:bodyPr wrap="square">
            <a:spAutoFit/>
          </a:bodyPr>
          <a:lstStyle/>
          <a:p>
            <a:pPr algn="l"/>
            <a:r>
              <a:rPr sz="1100" b="0" i="0">
                <a:solidFill>
                  <a:srgbClr val="1A1A2E"/>
                </a:solidFill>
                <a:latin typeface="Arial"/>
              </a:rPr>
              <a:t>Moodboard pendiente: alerta correcta a la persona correcta,
triaje de radio, escalamiento dirigido</a:t>
            </a:r>
          </a:p>
        </p:txBody>
      </p:sp>
      <p:sp>
        <p:nvSpPr>
          <p:cNvPr id="8" name="Rectangle 7"/>
          <p:cNvSpPr/>
          <p:nvPr/>
        </p:nvSpPr>
        <p:spPr>
          <a:xfrm>
            <a:off x="6291072" y="1298448"/>
            <a:ext cx="5349240" cy="2240280"/>
          </a:xfrm>
          <a:prstGeom prst="rect">
            <a:avLst/>
          </a:prstGeom>
          <a:solidFill>
            <a:srgbClr val="F9FAFB"/>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1072" y="1298448"/>
            <a:ext cx="534924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89888"/>
            <a:ext cx="5166360" cy="274320"/>
          </a:xfrm>
          <a:prstGeom prst="rect">
            <a:avLst/>
          </a:prstGeom>
          <a:noFill/>
        </p:spPr>
        <p:txBody>
          <a:bodyPr wrap="square">
            <a:spAutoFit/>
          </a:bodyPr>
          <a:lstStyle/>
          <a:p>
            <a:pPr algn="l"/>
            <a:r>
              <a:rPr sz="1200" b="1" i="0">
                <a:solidFill>
                  <a:srgbClr val="6B7280"/>
                </a:solidFill>
                <a:latin typeface="Arial"/>
              </a:rPr>
              <a:t>●○ × Anticipación</a:t>
            </a:r>
          </a:p>
        </p:txBody>
      </p:sp>
      <p:sp>
        <p:nvSpPr>
          <p:cNvPr id="11" name="TextBox 10"/>
          <p:cNvSpPr txBox="1"/>
          <p:nvPr/>
        </p:nvSpPr>
        <p:spPr>
          <a:xfrm>
            <a:off x="6400800" y="1773936"/>
            <a:ext cx="5166360" cy="1645920"/>
          </a:xfrm>
          <a:prstGeom prst="rect">
            <a:avLst/>
          </a:prstGeom>
          <a:noFill/>
        </p:spPr>
        <p:txBody>
          <a:bodyPr wrap="square">
            <a:spAutoFit/>
          </a:bodyPr>
          <a:lstStyle/>
          <a:p>
            <a:pPr algn="l"/>
            <a:r>
              <a:rPr sz="1100" b="0" i="0">
                <a:solidFill>
                  <a:srgbClr val="6B7280"/>
                </a:solidFill>
                <a:latin typeface="Arial"/>
              </a:rPr>
              <a:t>Cruce débil — anticipación es más analítica que comunicacional.
Omni Sense aporta como canal de notificación preventiva.</a:t>
            </a:r>
          </a:p>
        </p:txBody>
      </p:sp>
      <p:sp>
        <p:nvSpPr>
          <p:cNvPr id="12" name="Rectangle 11"/>
          <p:cNvSpPr/>
          <p:nvPr/>
        </p:nvSpPr>
        <p:spPr>
          <a:xfrm>
            <a:off x="457200" y="3703320"/>
            <a:ext cx="5349240" cy="2240280"/>
          </a:xfrm>
          <a:prstGeom prst="rect">
            <a:avLst/>
          </a:prstGeom>
          <a:solidFill>
            <a:srgbClr val="F8FAFC"/>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703320"/>
            <a:ext cx="534924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94760"/>
            <a:ext cx="5166360" cy="274320"/>
          </a:xfrm>
          <a:prstGeom prst="rect">
            <a:avLst/>
          </a:prstGeom>
          <a:noFill/>
        </p:spPr>
        <p:txBody>
          <a:bodyPr wrap="square">
            <a:spAutoFit/>
          </a:bodyPr>
          <a:lstStyle/>
          <a:p>
            <a:pPr algn="l"/>
            <a:r>
              <a:rPr sz="1200" b="1" i="0">
                <a:solidFill>
                  <a:srgbClr val="16A34A"/>
                </a:solidFill>
                <a:latin typeface="Arial"/>
              </a:rPr>
              <a:t>●●● × Asistencia</a:t>
            </a:r>
          </a:p>
        </p:txBody>
      </p:sp>
      <p:sp>
        <p:nvSpPr>
          <p:cNvPr id="15" name="TextBox 14"/>
          <p:cNvSpPr txBox="1"/>
          <p:nvPr/>
        </p:nvSpPr>
        <p:spPr>
          <a:xfrm>
            <a:off x="566928" y="4178808"/>
            <a:ext cx="5166360" cy="1645920"/>
          </a:xfrm>
          <a:prstGeom prst="rect">
            <a:avLst/>
          </a:prstGeom>
          <a:noFill/>
        </p:spPr>
        <p:txBody>
          <a:bodyPr wrap="square">
            <a:spAutoFit/>
          </a:bodyPr>
          <a:lstStyle/>
          <a:p>
            <a:pPr algn="l"/>
            <a:r>
              <a:rPr sz="1100" b="0" i="0">
                <a:solidFill>
                  <a:srgbClr val="1A1A2E"/>
                </a:solidFill>
                <a:latin typeface="Arial"/>
              </a:rPr>
              <a:t>Moodboard pendiente: push contextual por turno/zona/perfil,
interfaz multimodal voz/foto, manos libres</a:t>
            </a:r>
          </a:p>
        </p:txBody>
      </p:sp>
      <p:sp>
        <p:nvSpPr>
          <p:cNvPr id="16" name="Rectangle 15"/>
          <p:cNvSpPr/>
          <p:nvPr/>
        </p:nvSpPr>
        <p:spPr>
          <a:xfrm>
            <a:off x="6291072" y="3703320"/>
            <a:ext cx="5349240" cy="2240280"/>
          </a:xfrm>
          <a:prstGeom prst="rect">
            <a:avLst/>
          </a:prstGeom>
          <a:solidFill>
            <a:srgbClr val="F8FAFC"/>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91072" y="3703320"/>
            <a:ext cx="534924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66360" cy="274320"/>
          </a:xfrm>
          <a:prstGeom prst="rect">
            <a:avLst/>
          </a:prstGeom>
          <a:noFill/>
        </p:spPr>
        <p:txBody>
          <a:bodyPr wrap="square">
            <a:spAutoFit/>
          </a:bodyPr>
          <a:lstStyle/>
          <a:p>
            <a:pPr algn="l"/>
            <a:r>
              <a:rPr sz="1200" b="1" i="0">
                <a:solidFill>
                  <a:srgbClr val="7C3AED"/>
                </a:solidFill>
                <a:latin typeface="Arial"/>
              </a:rPr>
              <a:t>●●● × Alineación</a:t>
            </a:r>
          </a:p>
        </p:txBody>
      </p:sp>
      <p:sp>
        <p:nvSpPr>
          <p:cNvPr id="19" name="TextBox 18"/>
          <p:cNvSpPr txBox="1"/>
          <p:nvPr/>
        </p:nvSpPr>
        <p:spPr>
          <a:xfrm>
            <a:off x="6400800" y="4178808"/>
            <a:ext cx="5166360" cy="1645920"/>
          </a:xfrm>
          <a:prstGeom prst="rect">
            <a:avLst/>
          </a:prstGeom>
          <a:noFill/>
        </p:spPr>
        <p:txBody>
          <a:bodyPr wrap="square">
            <a:spAutoFit/>
          </a:bodyPr>
          <a:lstStyle/>
          <a:p>
            <a:pPr algn="l"/>
            <a:r>
              <a:rPr sz="1100" b="0" i="0">
                <a:solidFill>
                  <a:srgbClr val="1A1A2E"/>
                </a:solidFill>
                <a:latin typeface="Arial"/>
              </a:rPr>
              <a:t>Moodboard pendiente: narrativa ejecutiva AI, reporte proactivo
a CFO, traducción op→financiera entregada al canal correcto</a:t>
            </a:r>
          </a:p>
        </p:txBody>
      </p:sp>
      <p:sp>
        <p:nvSpPr>
          <p:cNvPr id="20" name="TextBox 19"/>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Presente</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16A34A"/>
                </a:solidFill>
                <a:latin typeface="Arial"/>
              </a:rPr>
              <a:t>Omni Sense</a:t>
            </a:r>
          </a:p>
        </p:txBody>
      </p:sp>
      <p:sp>
        <p:nvSpPr>
          <p:cNvPr id="5" name="Rectangle 4"/>
          <p:cNvSpPr/>
          <p:nvPr/>
        </p:nvSpPr>
        <p:spPr>
          <a:xfrm>
            <a:off x="320040" y="1261872"/>
            <a:ext cx="50292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Crisis</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"Algo se rompió"</a:t>
            </a:r>
          </a:p>
        </p:txBody>
      </p:sp>
      <p:sp>
        <p:nvSpPr>
          <p:cNvPr id="8" name="Rectangle 7"/>
          <p:cNvSpPr/>
          <p:nvPr/>
        </p:nvSpPr>
        <p:spPr>
          <a:xfrm>
            <a:off x="320040" y="2368296"/>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Alerta a quien tiene que accionar, no a todos.</a:t>
            </a:r>
          </a:p>
        </p:txBody>
      </p:sp>
      <p:sp>
        <p:nvSpPr>
          <p:cNvPr id="10" name="Rectangle 9"/>
          <p:cNvSpPr/>
          <p:nvPr/>
        </p:nvSpPr>
        <p:spPr>
          <a:xfrm>
            <a:off x="320040" y="2779776"/>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Triaje de radio automático. Escalamiento dirigido.</a:t>
            </a:r>
          </a:p>
        </p:txBody>
      </p:sp>
      <p:sp>
        <p:nvSpPr>
          <p:cNvPr id="12" name="Rectangle 11"/>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5" name="TextBox 14"/>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6" name="TextBox 15"/>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Arial"/>
              </a:rPr>
              <a:t>●●● Líder</a:t>
            </a:r>
          </a:p>
        </p:txBody>
      </p:sp>
      <p:sp>
        <p:nvSpPr>
          <p:cNvPr id="4" name="TextBox 3"/>
          <p:cNvSpPr txBox="1"/>
          <p:nvPr/>
        </p:nvSpPr>
        <p:spPr>
          <a:xfrm>
            <a:off x="320040" y="713232"/>
            <a:ext cx="4572000" cy="502920"/>
          </a:xfrm>
          <a:prstGeom prst="rect">
            <a:avLst/>
          </a:prstGeom>
          <a:noFill/>
        </p:spPr>
        <p:txBody>
          <a:bodyPr wrap="square">
            <a:spAutoFit/>
          </a:bodyPr>
          <a:lstStyle/>
          <a:p>
            <a:pPr algn="l"/>
            <a:r>
              <a:rPr sz="2600" b="1" i="0">
                <a:solidFill>
                  <a:srgbClr val="16A34A"/>
                </a:solidFill>
                <a:latin typeface="Arial"/>
              </a:rPr>
              <a:t>Omni Sense</a:t>
            </a:r>
          </a:p>
        </p:txBody>
      </p:sp>
      <p:sp>
        <p:nvSpPr>
          <p:cNvPr id="5" name="Rectangle 4"/>
          <p:cNvSpPr/>
          <p:nvPr/>
        </p:nvSpPr>
        <p:spPr>
          <a:xfrm>
            <a:off x="320040" y="1261872"/>
            <a:ext cx="50292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spAutoFit/>
          </a:bodyPr>
          <a:lstStyle/>
          <a:p>
            <a:pPr algn="l"/>
            <a:r>
              <a:rPr sz="1800" b="1" i="0">
                <a:solidFill>
                  <a:srgbClr val="1A1A2E"/>
                </a:solidFill>
                <a:latin typeface="Arial"/>
              </a:rPr>
              <a:t>Asistencia</a:t>
            </a:r>
          </a:p>
        </p:txBody>
      </p:sp>
      <p:sp>
        <p:nvSpPr>
          <p:cNvPr id="7" name="TextBox 6"/>
          <p:cNvSpPr txBox="1"/>
          <p:nvPr/>
        </p:nvSpPr>
        <p:spPr>
          <a:xfrm>
            <a:off x="320040" y="1810512"/>
            <a:ext cx="5029200" cy="274320"/>
          </a:xfrm>
          <a:prstGeom prst="rect">
            <a:avLst/>
          </a:prstGeom>
          <a:noFill/>
        </p:spPr>
        <p:txBody>
          <a:bodyPr wrap="square">
            <a:spAutoFit/>
          </a:bodyPr>
          <a:lstStyle/>
          <a:p>
            <a:pPr algn="l"/>
            <a:r>
              <a:rPr sz="1200" b="0" i="1">
                <a:solidFill>
                  <a:srgbClr val="6B7280"/>
                </a:solidFill>
                <a:latin typeface="Arial"/>
              </a:rPr>
              <a:t>"Procesa esto"</a:t>
            </a:r>
          </a:p>
        </p:txBody>
      </p:sp>
      <p:sp>
        <p:nvSpPr>
          <p:cNvPr id="8" name="Rectangle 7"/>
          <p:cNvSpPr/>
          <p:nvPr/>
        </p:nvSpPr>
        <p:spPr>
          <a:xfrm>
            <a:off x="320040" y="2368296"/>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spAutoFit/>
          </a:bodyPr>
          <a:lstStyle/>
          <a:p>
            <a:pPr algn="l"/>
            <a:r>
              <a:rPr sz="1200" b="0" i="0">
                <a:solidFill>
                  <a:srgbClr val="1A1A2E"/>
                </a:solidFill>
                <a:latin typeface="Arial"/>
              </a:rPr>
              <a:t>Push contextual por turno, zona y perfil.</a:t>
            </a:r>
          </a:p>
        </p:txBody>
      </p:sp>
      <p:sp>
        <p:nvSpPr>
          <p:cNvPr id="10" name="Rectangle 9"/>
          <p:cNvSpPr/>
          <p:nvPr/>
        </p:nvSpPr>
        <p:spPr>
          <a:xfrm>
            <a:off x="320040" y="2779776"/>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spAutoFit/>
          </a:bodyPr>
          <a:lstStyle/>
          <a:p>
            <a:pPr algn="l"/>
            <a:r>
              <a:rPr sz="1200" b="0" i="0">
                <a:solidFill>
                  <a:srgbClr val="1A1A2E"/>
                </a:solidFill>
                <a:latin typeface="Arial"/>
              </a:rPr>
              <a:t>Interfaz multimodal: voz en cabina, foto para identificar equipo.</a:t>
            </a:r>
          </a:p>
        </p:txBody>
      </p:sp>
      <p:sp>
        <p:nvSpPr>
          <p:cNvPr id="12" name="Rectangle 11"/>
          <p:cNvSpPr/>
          <p:nvPr/>
        </p:nvSpPr>
        <p:spPr>
          <a:xfrm>
            <a:off x="320040" y="3191256"/>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5029200" cy="384048"/>
          </a:xfrm>
          <a:prstGeom prst="rect">
            <a:avLst/>
          </a:prstGeom>
          <a:noFill/>
        </p:spPr>
        <p:txBody>
          <a:bodyPr wrap="square">
            <a:spAutoFit/>
          </a:bodyPr>
          <a:lstStyle/>
          <a:p>
            <a:pPr algn="l"/>
            <a:r>
              <a:rPr sz="1200" b="0" i="0">
                <a:solidFill>
                  <a:srgbClr val="1A1A2E"/>
                </a:solidFill>
                <a:latin typeface="Arial"/>
              </a:rPr>
              <a:t>Manos libres.</a:t>
            </a:r>
          </a:p>
        </p:txBody>
      </p:sp>
      <p:sp>
        <p:nvSpPr>
          <p:cNvPr id="14" name="Rectangle 13"/>
          <p:cNvSpPr/>
          <p:nvPr/>
        </p:nvSpPr>
        <p:spPr>
          <a:xfrm>
            <a:off x="5943600" y="548640"/>
            <a:ext cx="5943600" cy="57607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685800"/>
            <a:ext cx="5669280" cy="5486400"/>
          </a:xfrm>
          <a:prstGeom prst="rect">
            <a:avLst/>
          </a:prstGeom>
          <a:solidFill>
            <a:srgbClr val="F8FAFC"/>
          </a:solidFill>
          <a:ln w="9525">
            <a:solidFill>
              <a:srgbClr val="C8D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0" y="2560320"/>
            <a:ext cx="5943600" cy="411480"/>
          </a:xfrm>
          <a:prstGeom prst="rect">
            <a:avLst/>
          </a:prstGeom>
          <a:noFill/>
        </p:spPr>
        <p:txBody>
          <a:bodyPr wrap="square">
            <a:spAutoFit/>
          </a:bodyPr>
          <a:lstStyle/>
          <a:p>
            <a:pPr algn="ctr"/>
            <a:r>
              <a:rPr sz="1400" b="1" i="0">
                <a:solidFill>
                  <a:srgbClr val="6B7280"/>
                </a:solidFill>
                <a:latin typeface="Arial"/>
              </a:rPr>
              <a:t>Moodboard pendiente</a:t>
            </a:r>
          </a:p>
        </p:txBody>
      </p:sp>
      <p:sp>
        <p:nvSpPr>
          <p:cNvPr id="17" name="TextBox 16"/>
          <p:cNvSpPr txBox="1"/>
          <p:nvPr/>
        </p:nvSpPr>
        <p:spPr>
          <a:xfrm>
            <a:off x="5943600" y="3090672"/>
            <a:ext cx="5943600" cy="594360"/>
          </a:xfrm>
          <a:prstGeom prst="rect">
            <a:avLst/>
          </a:prstGeom>
          <a:noFill/>
        </p:spPr>
        <p:txBody>
          <a:bodyPr wrap="square">
            <a:spAutoFit/>
          </a:bodyPr>
          <a:lstStyle/>
          <a:p>
            <a:pPr algn="ctr"/>
            <a:r>
              <a:rPr sz="1100" b="0" i="0">
                <a:solidFill>
                  <a:srgbClr val="B0BAC8"/>
                </a:solidFill>
                <a:latin typeface="Arial"/>
              </a:rPr>
              <a:t>img / wireframe / ref
drop visual here</a:t>
            </a:r>
          </a:p>
        </p:txBody>
      </p:sp>
      <p:sp>
        <p:nvSpPr>
          <p:cNvPr id="18" name="TextBox 17"/>
          <p:cNvSpPr txBox="1"/>
          <p:nvPr/>
        </p:nvSpPr>
        <p:spPr>
          <a:xfrm>
            <a:off x="11643055" y="6537960"/>
            <a:ext cx="457200" cy="228600"/>
          </a:xfrm>
          <a:prstGeom prst="rect">
            <a:avLst/>
          </a:prstGeom>
          <a:noFill/>
        </p:spPr>
        <p:txBody>
          <a:bodyPr wrap="square">
            <a:spAutoFit/>
          </a:bodyPr>
          <a:lstStyle/>
          <a:p>
            <a:pPr algn="r"/>
            <a:r>
              <a:rPr sz="1000" b="0" i="0">
                <a:solidFill>
                  <a:srgbClr val="6B728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74320"/>
            <a:ext cx="1371600"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 Líder</a:t>
            </a:r>
          </a:p>
        </p:txBody>
      </p:sp>
      <p:sp>
        <p:nvSpPr>
          <p:cNvPr id="4" name="TextBox 3"/>
          <p:cNvSpPr txBox="1"/>
          <p:nvPr/>
        </p:nvSpPr>
        <p:spPr>
          <a:xfrm>
            <a:off x="320040" y="713232"/>
            <a:ext cx="5000000" cy="502920"/>
          </a:xfrm>
          <a:prstGeom prst="rect">
            <a:avLst/>
          </a:prstGeom>
          <a:noFill/>
        </p:spPr>
        <p:txBody>
          <a:bodyPr wrap="square"/>
          <a:lstStyle/>
          <a:p>
            <a:pPr algn="l"/>
            <a:r>
              <a:rPr sz="2600" b="1" i="0">
                <a:solidFill>
                  <a:srgbClr val="16A34A"/>
                </a:solidFill>
              </a:rPr>
              <a:t>Omni Sense</a:t>
            </a:r>
          </a:p>
        </p:txBody>
      </p:sp>
      <p:sp>
        <p:nvSpPr>
          <p:cNvPr id="5" name="Rectangle 4"/>
          <p:cNvSpPr/>
          <p:nvPr/>
        </p:nvSpPr>
        <p:spPr>
          <a:xfrm>
            <a:off x="320040" y="1261872"/>
            <a:ext cx="50292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89888"/>
            <a:ext cx="5029200" cy="411480"/>
          </a:xfrm>
          <a:prstGeom prst="rect">
            <a:avLst/>
          </a:prstGeom>
          <a:noFill/>
        </p:spPr>
        <p:txBody>
          <a:bodyPr wrap="square"/>
          <a:lstStyle/>
          <a:p>
            <a:pPr algn="l"/>
            <a:r>
              <a:rPr sz="1800" b="1" i="0">
                <a:solidFill>
                  <a:srgbClr val="1A1A2E"/>
                </a:solidFill>
              </a:rPr>
              <a:t>Alineación Estratégica</a:t>
            </a:r>
          </a:p>
        </p:txBody>
      </p:sp>
      <p:sp>
        <p:nvSpPr>
          <p:cNvPr id="7" name="TextBox 6"/>
          <p:cNvSpPr txBox="1"/>
          <p:nvPr/>
        </p:nvSpPr>
        <p:spPr>
          <a:xfrm>
            <a:off x="320040" y="1810512"/>
            <a:ext cx="5029200" cy="274320"/>
          </a:xfrm>
          <a:prstGeom prst="rect">
            <a:avLst/>
          </a:prstGeom>
          <a:noFill/>
        </p:spPr>
        <p:txBody>
          <a:bodyPr wrap="square"/>
          <a:lstStyle/>
          <a:p>
            <a:pPr algn="l"/>
            <a:r>
              <a:rPr sz="1200" b="0" i="0">
                <a:solidFill>
                  <a:srgbClr val="6B7280"/>
                </a:solidFill>
              </a:rPr>
              <a:t>Narrativa ejecutiva AI</a:t>
            </a:r>
          </a:p>
        </p:txBody>
      </p:sp>
      <p:sp>
        <p:nvSpPr>
          <p:cNvPr id="8" name="Rectangle 7"/>
          <p:cNvSpPr/>
          <p:nvPr/>
        </p:nvSpPr>
        <p:spPr>
          <a:xfrm>
            <a:off x="320040" y="2368296"/>
            <a:ext cx="64008"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5029200" cy="384048"/>
          </a:xfrm>
          <a:prstGeom prst="rect">
            <a:avLst/>
          </a:prstGeom>
          <a:noFill/>
        </p:spPr>
        <p:txBody>
          <a:bodyPr wrap="square"/>
          <a:lstStyle/>
          <a:p>
            <a:pPr algn="l"/>
            <a:r>
              <a:rPr sz="1200" b="0" i="0">
                <a:solidFill>
                  <a:srgbClr val="1A1A2E"/>
                </a:solidFill>
              </a:rPr>
              <a:t>Narrativa ejecutiva AI. Reporte proactivo al CFO.</a:t>
            </a:r>
          </a:p>
        </p:txBody>
      </p:sp>
      <p:sp>
        <p:nvSpPr>
          <p:cNvPr id="10" name="Rectangle 9"/>
          <p:cNvSpPr/>
          <p:nvPr/>
        </p:nvSpPr>
        <p:spPr>
          <a:xfrm>
            <a:off x="320040" y="2779776"/>
            <a:ext cx="64008"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51760"/>
            <a:ext cx="5029200" cy="384048"/>
          </a:xfrm>
          <a:prstGeom prst="rect">
            <a:avLst/>
          </a:prstGeom>
          <a:noFill/>
        </p:spPr>
        <p:txBody>
          <a:bodyPr wrap="square"/>
          <a:lstStyle/>
          <a:p>
            <a:pPr algn="l"/>
            <a:r>
              <a:rPr sz="1200" b="0" i="0">
                <a:solidFill>
                  <a:srgbClr val="1A1A2E"/>
                </a:solidFill>
              </a:rPr>
              <a:t>Traducción op→financiera entregada al canal correcto.</a:t>
            </a:r>
          </a:p>
        </p:txBody>
      </p:sp>
      <p:sp>
        <p:nvSpPr>
          <p:cNvPr id="12" name="Rectangle 11"/>
          <p:cNvSpPr/>
          <p:nvPr/>
        </p:nvSpPr>
        <p:spPr>
          <a:xfrm>
            <a:off x="320040" y="3191256"/>
            <a:ext cx="64008"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5029200" cy="384048"/>
          </a:xfrm>
          <a:prstGeom prst="rect">
            <a:avLst/>
          </a:prstGeom>
          <a:noFill/>
        </p:spPr>
        <p:txBody>
          <a:bodyPr wrap="square"/>
          <a:lstStyle/>
          <a:p>
            <a:pPr algn="l"/>
            <a:r>
              <a:rPr sz="1200" b="0" i="0">
                <a:solidFill>
                  <a:srgbClr val="1A1A2E"/>
                </a:solidFill>
              </a:rPr>
              <a:t>El sistema busca al ejecutivo — no al revés.</a:t>
            </a:r>
          </a:p>
        </p:txBody>
      </p:sp>
      <p:sp>
        <p:nvSpPr>
          <p:cNvPr id="14" name="Rectangle 13"/>
          <p:cNvSpPr/>
          <p:nvPr/>
        </p:nvSpPr>
        <p:spPr>
          <a:xfrm>
            <a:off x="5943600" y="548640"/>
            <a:ext cx="5943600" cy="5760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685800"/>
            <a:ext cx="5669280" cy="54864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0" y="2560320"/>
            <a:ext cx="5943600" cy="411480"/>
          </a:xfrm>
          <a:prstGeom prst="rect">
            <a:avLst/>
          </a:prstGeom>
          <a:noFill/>
        </p:spPr>
        <p:txBody>
          <a:bodyPr wrap="square"/>
          <a:lstStyle/>
          <a:p>
            <a:pPr algn="l"/>
            <a:r>
              <a:rPr sz="1400" b="1" i="0">
                <a:solidFill>
                  <a:srgbClr val="6B7280"/>
                </a:solidFill>
              </a:rPr>
              <a:t>Moodboard pendiente</a:t>
            </a:r>
          </a:p>
        </p:txBody>
      </p:sp>
      <p:sp>
        <p:nvSpPr>
          <p:cNvPr id="17" name="TextBox 16"/>
          <p:cNvSpPr txBox="1"/>
          <p:nvPr/>
        </p:nvSpPr>
        <p:spPr>
          <a:xfrm>
            <a:off x="5943600" y="3090672"/>
            <a:ext cx="5943600" cy="594360"/>
          </a:xfrm>
          <a:prstGeom prst="rect">
            <a:avLst/>
          </a:prstGeom>
          <a:noFill/>
        </p:spPr>
        <p:txBody>
          <a:bodyPr wrap="square"/>
          <a:lstStyle/>
          <a:p>
            <a:pPr algn="l"/>
            <a:r>
              <a:rPr sz="1100" b="0" i="0">
                <a:solidFill>
                  <a:srgbClr val="B0BAC8"/>
                </a:solidFill>
              </a:rPr>
              <a:t>img / wireframe / ref
drop visual here</a:t>
            </a:r>
          </a:p>
        </p:txBody>
      </p:sp>
      <p:sp>
        <p:nvSpPr>
          <p:cNvPr id="18" name="TextBox 17"/>
          <p:cNvSpPr txBox="1"/>
          <p:nvPr/>
        </p:nvSpPr>
        <p:spPr>
          <a:xfrm>
            <a:off x="11643055" y="6537960"/>
            <a:ext cx="457200" cy="228600"/>
          </a:xfrm>
          <a:prstGeom prst="rect">
            <a:avLst/>
          </a:prstGeom>
          <a:noFill/>
        </p:spPr>
        <p:txBody>
          <a:bodyPr wrap="square"/>
          <a:lstStyle/>
          <a:p>
            <a:pPr algn="l"/>
            <a:r>
              <a:rPr sz="1000" b="0" i="0">
                <a:solidFill>
                  <a:srgbClr val="6B7280"/>
                </a:solidFil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548640"/>
            <a:ext cx="10972800" cy="320040"/>
          </a:xfrm>
          <a:prstGeom prst="rect">
            <a:avLst/>
          </a:prstGeom>
          <a:noFill/>
        </p:spPr>
        <p:txBody>
          <a:bodyPr wrap="square"/>
          <a:lstStyle/>
          <a:p>
            <a:pPr algn="l"/>
            <a:r>
              <a:rPr sz="1400" b="0" i="0">
                <a:solidFill>
                  <a:srgbClr val="6B7280"/>
                </a:solidFill>
              </a:rPr>
              <a:t>Capítulo definicional cerrado</a:t>
            </a:r>
          </a:p>
        </p:txBody>
      </p:sp>
      <p:sp>
        <p:nvSpPr>
          <p:cNvPr id="3" name="TextBox 2"/>
          <p:cNvSpPr txBox="1"/>
          <p:nvPr/>
        </p:nvSpPr>
        <p:spPr>
          <a:xfrm>
            <a:off x="457200" y="914400"/>
            <a:ext cx="10972800" cy="274320"/>
          </a:xfrm>
          <a:prstGeom prst="rect">
            <a:avLst/>
          </a:prstGeom>
          <a:noFill/>
        </p:spPr>
        <p:txBody>
          <a:bodyPr wrap="square"/>
          <a:lstStyle/>
          <a:p>
            <a:pPr algn="l"/>
            <a:r>
              <a:rPr sz="1300" b="1" i="0">
                <a:solidFill>
                  <a:srgbClr val="0891B2"/>
                </a:solidFill>
              </a:rPr>
              <a:t>4 Pilares · 4 Dominios · 12 Cruces</a:t>
            </a:r>
          </a:p>
        </p:txBody>
      </p:sp>
      <p:sp>
        <p:nvSpPr>
          <p:cNvPr id="4" name="Rectangle 3"/>
          <p:cNvSpPr/>
          <p:nvPr/>
        </p:nvSpPr>
        <p:spPr>
          <a:xfrm>
            <a:off x="457200" y="1280160"/>
            <a:ext cx="109728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89888"/>
            <a:ext cx="10972800" cy="548640"/>
          </a:xfrm>
          <a:prstGeom prst="rect">
            <a:avLst/>
          </a:prstGeom>
          <a:noFill/>
        </p:spPr>
        <p:txBody>
          <a:bodyPr wrap="square"/>
          <a:lstStyle/>
          <a:p>
            <a:pPr algn="l"/>
            <a:r>
              <a:rPr sz="3200" b="1" i="0">
                <a:solidFill>
                  <a:srgbClr val="1A1A2E"/>
                </a:solidFill>
              </a:rPr>
              <a:t>De la Definición a la Experiencia</a:t>
            </a:r>
          </a:p>
        </p:txBody>
      </p:sp>
      <p:sp>
        <p:nvSpPr>
          <p:cNvPr id="6" name="TextBox 5"/>
          <p:cNvSpPr txBox="1"/>
          <p:nvPr/>
        </p:nvSpPr>
        <p:spPr>
          <a:xfrm>
            <a:off x="457200" y="2084832"/>
            <a:ext cx="10972800" cy="365760"/>
          </a:xfrm>
          <a:prstGeom prst="rect">
            <a:avLst/>
          </a:prstGeom>
          <a:noFill/>
        </p:spPr>
        <p:txBody>
          <a:bodyPr wrap="square"/>
          <a:lstStyle/>
          <a:p>
            <a:pPr algn="l"/>
            <a:r>
              <a:rPr sz="1600" b="0" i="0">
                <a:solidFill>
                  <a:srgbClr val="6B7280"/>
                </a:solidFill>
              </a:rPr>
              <a:t>Ahora veamos cómo se aplica:</a:t>
            </a:r>
          </a:p>
        </p:txBody>
      </p:sp>
      <p:sp>
        <p:nvSpPr>
          <p:cNvPr id="7" name="Rectangle 6"/>
          <p:cNvSpPr/>
          <p:nvPr/>
        </p:nvSpPr>
        <p:spPr>
          <a:xfrm>
            <a:off x="457200" y="2560320"/>
            <a:ext cx="10972800" cy="5486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615184"/>
            <a:ext cx="10606080" cy="438912"/>
          </a:xfrm>
          <a:prstGeom prst="rect">
            <a:avLst/>
          </a:prstGeom>
          <a:noFill/>
        </p:spPr>
        <p:txBody>
          <a:bodyPr wrap="square"/>
          <a:lstStyle/>
          <a:p>
            <a:pPr algn="l"/>
            <a:r>
              <a:rPr sz="1800" b="1" i="0">
                <a:solidFill>
                  <a:srgbClr val="FFFFFF"/>
                </a:solidFill>
              </a:rPr>
              <a:t>8 casos de uso reales que recorren el flujo</a:t>
            </a:r>
          </a:p>
        </p:txBody>
      </p:sp>
      <p:sp>
        <p:nvSpPr>
          <p:cNvPr id="9" name="Rectangle 8"/>
          <p:cNvSpPr/>
          <p:nvPr/>
        </p:nvSpPr>
        <p:spPr>
          <a:xfrm>
            <a:off x="457200" y="3291840"/>
            <a:ext cx="32004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28416"/>
            <a:ext cx="3017520" cy="292608"/>
          </a:xfrm>
          <a:prstGeom prst="rect">
            <a:avLst/>
          </a:prstGeom>
          <a:noFill/>
        </p:spPr>
        <p:txBody>
          <a:bodyPr wrap="square"/>
          <a:lstStyle/>
          <a:p>
            <a:pPr algn="l"/>
            <a:r>
              <a:rPr sz="1600" b="1" i="0">
                <a:solidFill>
                  <a:srgbClr val="0891B2"/>
                </a:solidFill>
              </a:rPr>
              <a:t>Detección →</a:t>
            </a:r>
          </a:p>
        </p:txBody>
      </p:sp>
      <p:sp>
        <p:nvSpPr>
          <p:cNvPr id="11" name="Rectangle 10"/>
          <p:cNvSpPr/>
          <p:nvPr/>
        </p:nvSpPr>
        <p:spPr>
          <a:xfrm>
            <a:off x="4114800" y="3291840"/>
            <a:ext cx="32004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3328416"/>
            <a:ext cx="3017520" cy="292608"/>
          </a:xfrm>
          <a:prstGeom prst="rect">
            <a:avLst/>
          </a:prstGeom>
          <a:noFill/>
        </p:spPr>
        <p:txBody>
          <a:bodyPr wrap="square"/>
          <a:lstStyle/>
          <a:p>
            <a:pPr algn="l"/>
            <a:r>
              <a:rPr sz="1600" b="1" i="0">
                <a:solidFill>
                  <a:srgbClr val="0891B2"/>
                </a:solidFill>
              </a:rPr>
              <a:t>Análisis →</a:t>
            </a:r>
          </a:p>
        </p:txBody>
      </p:sp>
      <p:sp>
        <p:nvSpPr>
          <p:cNvPr id="13" name="Rectangle 12"/>
          <p:cNvSpPr/>
          <p:nvPr/>
        </p:nvSpPr>
        <p:spPr>
          <a:xfrm>
            <a:off x="7772400" y="3291840"/>
            <a:ext cx="32004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3328416"/>
            <a:ext cx="3017520" cy="292608"/>
          </a:xfrm>
          <a:prstGeom prst="rect">
            <a:avLst/>
          </a:prstGeom>
          <a:noFill/>
        </p:spPr>
        <p:txBody>
          <a:bodyPr wrap="square"/>
          <a:lstStyle/>
          <a:p>
            <a:pPr algn="l"/>
            <a:r>
              <a:rPr sz="1600" b="1" i="0">
                <a:solidFill>
                  <a:srgbClr val="0891B2"/>
                </a:solidFill>
              </a:rPr>
              <a:t>Recomendación</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lstStyle/>
          <a:p>
            <a:pPr algn="l"/>
            <a:r>
              <a:rPr sz="2200" b="1" i="0">
                <a:solidFill>
                  <a:srgbClr val="1A1A2E"/>
                </a:solidFill>
              </a:rPr>
              <a:t>Prerrequisito: Confianza en Datos</a:t>
            </a:r>
          </a:p>
        </p:txBody>
      </p:sp>
      <p:sp>
        <p:nvSpPr>
          <p:cNvPr id="3" name="TextBox 2"/>
          <p:cNvSpPr txBox="1"/>
          <p:nvPr/>
        </p:nvSpPr>
        <p:spPr>
          <a:xfrm>
            <a:off x="5657200" y="292608"/>
            <a:ext cx="1097280" cy="274320"/>
          </a:xfrm>
          <a:prstGeom prst="rect">
            <a:avLst/>
          </a:prstGeom>
          <a:noFill/>
        </p:spPr>
        <p:txBody>
          <a:bodyPr wrap="square"/>
          <a:lstStyle/>
          <a:p>
            <a:pPr algn="l"/>
            <a:r>
              <a:rPr sz="900" b="1" i="0">
                <a:solidFill>
                  <a:srgbClr val="16A34A"/>
                </a:solidFill>
              </a:rPr>
              <a:t>NUEVO</a:t>
            </a:r>
          </a:p>
        </p:txBody>
      </p:sp>
      <p:sp>
        <p:nvSpPr>
          <p:cNvPr id="4" name="TextBox 3"/>
          <p:cNvSpPr txBox="1"/>
          <p:nvPr/>
        </p:nvSpPr>
        <p:spPr>
          <a:xfrm>
            <a:off x="457200" y="850392"/>
            <a:ext cx="11430000" cy="292608"/>
          </a:xfrm>
          <a:prstGeom prst="rect">
            <a:avLst/>
          </a:prstGeom>
          <a:noFill/>
        </p:spPr>
        <p:txBody>
          <a:bodyPr wrap="square"/>
          <a:lstStyle/>
          <a:p>
            <a:pPr algn="l"/>
            <a:r>
              <a:rPr sz="1200" b="0" i="0">
                <a:solidFill>
                  <a:srgbClr val="6B7280"/>
                </a:solidFill>
              </a:rPr>
              <a:t>Antes de pilares, antes de dominios — si el operador no confía en el dato, vuelve a la radio.</a:t>
            </a:r>
          </a:p>
        </p:txBody>
      </p:sp>
      <p:sp>
        <p:nvSpPr>
          <p:cNvPr id="5" name="Rectangle 4"/>
          <p:cNvSpPr/>
          <p:nvPr/>
        </p:nvSpPr>
        <p:spPr>
          <a:xfrm>
            <a:off x="457200" y="1298448"/>
            <a:ext cx="5394960" cy="2926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35024"/>
            <a:ext cx="5394960" cy="228600"/>
          </a:xfrm>
          <a:prstGeom prst="rect">
            <a:avLst/>
          </a:prstGeom>
          <a:noFill/>
        </p:spPr>
        <p:txBody>
          <a:bodyPr wrap="square"/>
          <a:lstStyle/>
          <a:p>
            <a:pPr algn="l"/>
            <a:r>
              <a:rPr sz="1000" b="1" i="0">
                <a:solidFill>
                  <a:srgbClr val="FFFFFF"/>
                </a:solidFill>
              </a:rPr>
              <a:t>El problema</a:t>
            </a:r>
          </a:p>
        </p:txBody>
      </p:sp>
      <p:sp>
        <p:nvSpPr>
          <p:cNvPr id="7" name="Rectangle 6"/>
          <p:cNvSpPr/>
          <p:nvPr/>
        </p:nvSpPr>
        <p:spPr>
          <a:xfrm>
            <a:off x="457200" y="1591056"/>
            <a:ext cx="539496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5212080" cy="274320"/>
          </a:xfrm>
          <a:prstGeom prst="rect">
            <a:avLst/>
          </a:prstGeom>
          <a:noFill/>
        </p:spPr>
        <p:txBody>
          <a:bodyPr wrap="square"/>
          <a:lstStyle/>
          <a:p>
            <a:pPr algn="l"/>
            <a:r>
              <a:rPr sz="1100" b="0" i="0">
                <a:solidFill>
                  <a:srgbClr val="1A1A2E"/>
                </a:solidFill>
              </a:rPr>
              <a:t>"Confianza en los datos como tema crítico — si los datos no son confiables, las decisiones tampoco."</a:t>
            </a:r>
          </a:p>
        </p:txBody>
      </p:sp>
      <p:sp>
        <p:nvSpPr>
          <p:cNvPr id="9" name="TextBox 8"/>
          <p:cNvSpPr txBox="1"/>
          <p:nvPr/>
        </p:nvSpPr>
        <p:spPr>
          <a:xfrm>
            <a:off x="548640" y="1920240"/>
            <a:ext cx="5212080" cy="201168"/>
          </a:xfrm>
          <a:prstGeom prst="rect">
            <a:avLst/>
          </a:prstGeom>
          <a:noFill/>
        </p:spPr>
        <p:txBody>
          <a:bodyPr wrap="square"/>
          <a:lstStyle/>
          <a:p>
            <a:pPr algn="l"/>
            <a:r>
              <a:rPr sz="1000" b="1" i="0">
                <a:solidFill>
                  <a:srgbClr val="0891B2"/>
                </a:solidFill>
              </a:rPr>
              <a:t>Juan Pablo Palma — Superintendente Pelambres</a:t>
            </a:r>
          </a:p>
        </p:txBody>
      </p:sp>
      <p:sp>
        <p:nvSpPr>
          <p:cNvPr id="10" name="Rectangle 9"/>
          <p:cNvSpPr/>
          <p:nvPr/>
        </p:nvSpPr>
        <p:spPr>
          <a:xfrm>
            <a:off x="457200" y="2706336"/>
            <a:ext cx="5394960" cy="9144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42912"/>
            <a:ext cx="5212080" cy="274320"/>
          </a:xfrm>
          <a:prstGeom prst="rect">
            <a:avLst/>
          </a:prstGeom>
          <a:noFill/>
        </p:spPr>
        <p:txBody>
          <a:bodyPr wrap="square"/>
          <a:lstStyle/>
          <a:p>
            <a:pPr algn="l"/>
            <a:r>
              <a:rPr sz="1100" b="0" i="0">
                <a:solidFill>
                  <a:srgbClr val="1A1A2E"/>
                </a:solidFill>
              </a:rPr>
              <a:t>"Hoy no aporta" — cuando los datos no cuadran con lo que ven en terreno, dejan de usar la herramienta.</a:t>
            </a:r>
          </a:p>
        </p:txBody>
      </p:sp>
      <p:sp>
        <p:nvSpPr>
          <p:cNvPr id="12" name="TextBox 11"/>
          <p:cNvSpPr txBox="1"/>
          <p:nvPr/>
        </p:nvSpPr>
        <p:spPr>
          <a:xfrm>
            <a:off x="548640" y="3035520"/>
            <a:ext cx="5212080" cy="201168"/>
          </a:xfrm>
          <a:prstGeom prst="rect">
            <a:avLst/>
          </a:prstGeom>
          <a:noFill/>
        </p:spPr>
        <p:txBody>
          <a:bodyPr wrap="square"/>
          <a:lstStyle/>
          <a:p>
            <a:pPr algn="l"/>
            <a:r>
              <a:rPr sz="1000" b="1" i="0">
                <a:solidFill>
                  <a:srgbClr val="0891B2"/>
                </a:solidFill>
              </a:rPr>
              <a:t>Felipe Reyes — profesional minero</a:t>
            </a:r>
          </a:p>
        </p:txBody>
      </p:sp>
      <p:sp>
        <p:nvSpPr>
          <p:cNvPr id="13" name="TextBox 12"/>
          <p:cNvSpPr txBox="1"/>
          <p:nvPr/>
        </p:nvSpPr>
        <p:spPr>
          <a:xfrm>
            <a:off x="457200" y="3639312"/>
            <a:ext cx="5394960" cy="457200"/>
          </a:xfrm>
          <a:prstGeom prst="rect">
            <a:avLst/>
          </a:prstGeom>
          <a:noFill/>
        </p:spPr>
        <p:txBody>
          <a:bodyPr wrap="square"/>
          <a:lstStyle/>
          <a:p>
            <a:pPr algn="l"/>
            <a:r>
              <a:rPr sz="1100" b="0" i="0">
                <a:solidFill>
                  <a:srgbClr val="6B7280"/>
                </a:solidFill>
              </a:rPr>
              <a:t>Los mineros "de camioneta" prefieren confiar en su experiencia. No es un problema de UX — es un problema de credibilidad del dato.</a:t>
            </a:r>
          </a:p>
        </p:txBody>
      </p:sp>
      <p:sp>
        <p:nvSpPr>
          <p:cNvPr id="14" name="Rectangle 13"/>
          <p:cNvSpPr/>
          <p:nvPr/>
        </p:nvSpPr>
        <p:spPr>
          <a:xfrm>
            <a:off x="6035040" y="1298448"/>
            <a:ext cx="539496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335024"/>
            <a:ext cx="5394960" cy="228600"/>
          </a:xfrm>
          <a:prstGeom prst="rect">
            <a:avLst/>
          </a:prstGeom>
          <a:noFill/>
        </p:spPr>
        <p:txBody>
          <a:bodyPr wrap="square"/>
          <a:lstStyle/>
          <a:p>
            <a:pPr algn="l"/>
            <a:r>
              <a:rPr sz="1000" b="1" i="0">
                <a:solidFill>
                  <a:srgbClr val="FFFFFF"/>
                </a:solidFill>
              </a:rPr>
              <a:t>Principios de diseño</a:t>
            </a:r>
          </a:p>
        </p:txBody>
      </p:sp>
      <p:sp>
        <p:nvSpPr>
          <p:cNvPr id="16" name="Rectangle 15"/>
          <p:cNvSpPr/>
          <p:nvPr/>
        </p:nvSpPr>
        <p:spPr>
          <a:xfrm>
            <a:off x="6035040" y="1664568"/>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573128"/>
            <a:ext cx="5212080" cy="310000"/>
          </a:xfrm>
          <a:prstGeom prst="rect">
            <a:avLst/>
          </a:prstGeom>
          <a:noFill/>
        </p:spPr>
        <p:txBody>
          <a:bodyPr wrap="square"/>
          <a:lstStyle/>
          <a:p>
            <a:pPr algn="l"/>
            <a:r>
              <a:rPr sz="1100" b="1" i="0">
                <a:solidFill>
                  <a:srgbClr val="1A1A2E"/>
                </a:solidFill>
              </a:rPr>
              <a:t>Mostrar la fuente</a:t>
            </a:r>
            <a:r>
              <a:rPr sz="1100" b="0" i="0">
                <a:solidFill>
                  <a:srgbClr val="6B7280"/>
                </a:solidFill>
              </a:rPr>
              <a:t>— de dónde viene cada dato</a:t>
            </a:r>
          </a:p>
        </p:txBody>
      </p:sp>
      <p:sp>
        <p:nvSpPr>
          <p:cNvPr id="18" name="Rectangle 17"/>
          <p:cNvSpPr/>
          <p:nvPr/>
        </p:nvSpPr>
        <p:spPr>
          <a:xfrm>
            <a:off x="6035040" y="2048616"/>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957176"/>
            <a:ext cx="5212080" cy="310000"/>
          </a:xfrm>
          <a:prstGeom prst="rect">
            <a:avLst/>
          </a:prstGeom>
          <a:noFill/>
        </p:spPr>
        <p:txBody>
          <a:bodyPr wrap="square"/>
          <a:lstStyle/>
          <a:p>
            <a:pPr algn="l"/>
            <a:r>
              <a:rPr sz="1100" b="1" i="0">
                <a:solidFill>
                  <a:srgbClr val="1A1A2E"/>
                </a:solidFill>
              </a:rPr>
              <a:t>Mostrar el timestamp</a:t>
            </a:r>
            <a:r>
              <a:rPr sz="1100" b="0" i="0">
                <a:solidFill>
                  <a:srgbClr val="6B7280"/>
                </a:solidFill>
              </a:rPr>
              <a:t>— cuándo se actualizó</a:t>
            </a:r>
          </a:p>
        </p:txBody>
      </p:sp>
      <p:sp>
        <p:nvSpPr>
          <p:cNvPr id="20" name="Rectangle 19"/>
          <p:cNvSpPr/>
          <p:nvPr/>
        </p:nvSpPr>
        <p:spPr>
          <a:xfrm>
            <a:off x="6035040" y="2432664"/>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2341224"/>
            <a:ext cx="5212080" cy="310000"/>
          </a:xfrm>
          <a:prstGeom prst="rect">
            <a:avLst/>
          </a:prstGeom>
          <a:noFill/>
        </p:spPr>
        <p:txBody>
          <a:bodyPr wrap="square"/>
          <a:lstStyle/>
          <a:p>
            <a:pPr algn="l"/>
            <a:r>
              <a:rPr sz="1100" b="1" i="0">
                <a:solidFill>
                  <a:srgbClr val="1A1A2E"/>
                </a:solidFill>
              </a:rPr>
              <a:t>Comparar con medición manual</a:t>
            </a:r>
            <a:r>
              <a:rPr sz="1100" b="0" i="0">
                <a:solidFill>
                  <a:srgbClr val="6B7280"/>
                </a:solidFill>
              </a:rPr>
              <a:t>— cerrar la brecha</a:t>
            </a:r>
          </a:p>
        </p:txBody>
      </p:sp>
      <p:sp>
        <p:nvSpPr>
          <p:cNvPr id="22" name="Rectangle 21"/>
          <p:cNvSpPr/>
          <p:nvPr/>
        </p:nvSpPr>
        <p:spPr>
          <a:xfrm>
            <a:off x="6035040" y="2816712"/>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0" y="2725272"/>
            <a:ext cx="5212080" cy="310000"/>
          </a:xfrm>
          <a:prstGeom prst="rect">
            <a:avLst/>
          </a:prstGeom>
          <a:noFill/>
        </p:spPr>
        <p:txBody>
          <a:bodyPr wrap="square"/>
          <a:lstStyle/>
          <a:p>
            <a:pPr algn="l"/>
            <a:r>
              <a:rPr sz="1100" b="1" i="0">
                <a:solidFill>
                  <a:srgbClr val="1A1A2E"/>
                </a:solidFill>
              </a:rPr>
              <a:t>Precisión visible</a:t>
            </a:r>
            <a:r>
              <a:rPr sz="1100" b="0" i="0">
                <a:solidFill>
                  <a:srgbClr val="6B7280"/>
                </a:solidFill>
              </a:rPr>
              <a:t>— margen de error explícito</a:t>
            </a:r>
          </a:p>
        </p:txBody>
      </p:sp>
      <p:sp>
        <p:nvSpPr>
          <p:cNvPr id="24" name="Rectangle 23"/>
          <p:cNvSpPr/>
          <p:nvPr/>
        </p:nvSpPr>
        <p:spPr>
          <a:xfrm>
            <a:off x="457200" y="5322960"/>
            <a:ext cx="11247120"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395112"/>
            <a:ext cx="10972800" cy="457200"/>
          </a:xfrm>
          <a:prstGeom prst="rect">
            <a:avLst/>
          </a:prstGeom>
          <a:noFill/>
        </p:spPr>
        <p:txBody>
          <a:bodyPr wrap="square"/>
          <a:lstStyle/>
          <a:p>
            <a:pPr algn="l"/>
            <a:r>
              <a:rPr sz="1300" b="1" i="0">
                <a:solidFill>
                  <a:srgbClr val="FFFFFF"/>
                </a:solidFill>
              </a:rPr>
              <a:t>Regla: El sistema debe demostrar que sus datos son correctos antes de pedir que actúen.</a:t>
            </a:r>
          </a:p>
        </p:txBody>
      </p:sp>
      <p:sp>
        <p:nvSpPr>
          <p:cNvPr id="26" name="TextBox 25"/>
          <p:cNvSpPr txBox="1"/>
          <p:nvPr/>
        </p:nvSpPr>
        <p:spPr>
          <a:xfrm>
            <a:off x="11643055" y="6537960"/>
            <a:ext cx="457200" cy="228600"/>
          </a:xfrm>
          <a:prstGeom prst="rect">
            <a:avLst/>
          </a:prstGeom>
          <a:noFill/>
        </p:spPr>
        <p:txBody>
          <a:bodyPr wrap="square"/>
          <a:lstStyle/>
          <a:p>
            <a:pPr algn="l"/>
            <a:r>
              <a:rPr sz="1000" b="0" i="0">
                <a:solidFill>
                  <a:srgbClr val="6B7280"/>
                </a:solidFil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#1: Caída de Equipo Crítico</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A: Respuesta a Crisis</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Incertidumbre en tiempos de reparación y presión por metas de tonelaje.</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Información inmediata y opciones viables de respuesta.</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El radio corta el silencio de la sala IROC a las 2:47 AM: "Pala 07 abajo." No es mantención programada — es una caída imprevista. Tres camiones ya circulan hacia un punto de carga muerto. El despachador salta entre dashboard, mapa GPS, planilla de mantención y radio — ninguno le dice cuánto durará n…</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La pantalla acromática de la sala IROC se ilumina — solo por la anomalía. Antes de que el despachador levante el radio, la alerta ya está en su celular y en la pantalla principal. El silencio se rompe únicamente cuando algo se rompe.</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Impacto estimado en tonelaje del turno. Topografía actualizada hace 8 minutos confirma restricciones. Comparativa con fallas históricas similares — la última vez, la opción 2 ahorró 40 minutos.</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Tres opciones rankeadas por impacto en tonelaje y costo por hora. Un tap. Los tres camiones ya se redirigen. El despachador eligió entre alternativas calculadas.</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Despachador IROC, Supervisor de Turno, Jefe de Turno</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#1 — Caída de Equipo Crítico</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0891B2"/>
                </a:solidFill>
              </a:rPr>
              <a:t>Momento: Recomendación</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Sala IROC — Recomendación: 3 opciones rankeadas</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0891B2"/>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Consola acromática (95% gris/negro). Color solo en la anomalía: la pala caída pulsa en cyan. Panel lateral con opciones listas.</a:t>
            </a:r>
          </a:p>
        </p:txBody>
      </p:sp>
      <p:sp>
        <p:nvSpPr>
          <p:cNvPr id="12" name="Rectangle 11"/>
          <p:cNvSpPr/>
          <p:nvPr/>
        </p:nvSpPr>
        <p:spPr>
          <a:xfrm>
            <a:off x="8046720" y="2743200"/>
            <a:ext cx="3596335"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0891B2"/>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La pala ya cayó. El sistema ya detectó y analizó. Ahora muestra 3 opciones rankeadas con impacto en tonelaje. El operador no interpreta — elige.</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#2: Riesgo Espacial y Seguridad</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A · C: Respuesta a Crisis · Asistencia Inteligente</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Responsabilidad legal directa. Múltiples sistemas sin integrar (ARIS, GPS, radio…</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Cruce automático de fuentes sensoriales. Certeza para decisión con impacto legal…</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10:15 AM. La Pala 07 opera a 200 metros de una zona inestable. En 40 minutos hay tronadura programada y dos loros no están en posición. El supervisor salta entre ARIS, GPS, planilla de tronadura y radio — cada uno con un pedazo de la verdad. La responsabilidad legal es directa: si algo sale mal, la …</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Cruce automático: radar geotécnico + posición GPS de equipos + estado de loros de tronadura. Un solo mapa con la zona de restricción actualizada, equipos afectados y distancia al riesgo.</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Simulación de escenarios: si la pala sigue operando, cuál es la ventana de riesgo. Zonas de restricción proyectadas en tiempo real sobre el mapa.</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Maniobra de evacuación recomendada con impacto operacional medido. Una firma respaldada por fusión de sensores — certeza legal, no intuición.</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Supervisor Monitoreo, Gerente Mina, Jefe de Turno</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#2 — Riesgo Espacial y Seguridad</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16A34A"/>
                </a:solidFill>
              </a:rPr>
              <a:t>Momento: Detección</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Riesgo Espacial — Detección: mapa geotécnico con sensores</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16A34A"/>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Fusión multisensor: radar + GPS + prismas en un solo mapa. Zonas de restricción en tiempo real. Alerta automática sin consultar múltiples sistemas.</a:t>
            </a:r>
          </a:p>
        </p:txBody>
      </p:sp>
      <p:sp>
        <p:nvSpPr>
          <p:cNvPr id="12" name="Rectangle 11"/>
          <p:cNvSpPr/>
          <p:nvPr/>
        </p:nvSpPr>
        <p:spPr>
          <a:xfrm>
            <a:off x="8046720" y="2743200"/>
            <a:ext cx="3596335"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16A34A"/>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El sistema cruza datos de ARIS (radar geotécnico), GPS de equipos y prismas de monitoreo. Detecta que la Pala EX-205 está en zona de riesgo — antes de que el operador lo note.</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#3: Anticipación de Cuello de Botella</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B: Anticipación Operativa</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Impacto aguas abajo invisible. Silos entre áreas impiden coordinación preventiva…</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Visibilidad predictiva y capacidad de reasignación rápida de recursos.</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Mediodía, turno diurno. La operación parece normal. Pero la velocidad de alimentación al chancador cae lento, constante. Nadie lo nota porque cada área mira su propio dashboard. Cuando el bloqueo ocurra en 45 minutos, las tres áreas se van a enterar por radio — tarde, descoordinadas y sin opciones. …</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Detección predictiva: el patrón de desaceleración se forma antes de que el bloqueo exista. La alerta no espera al problema — se activa cuando la tendencia se confirma. Proyección: bloqueo en 45 minutos.</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Impacto aguas abajo calculado antes del bloqueo: tonelaje perdido por hora, costo acumulado, áreas afectadas en cascada. Todo en una vista — no en tres reportes separados.</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Redistribución de flujo recomendada con equipos reasignables identificados. Tres áreas coordinadas antes del problema — sin radio, sin silos, sin improvisación.</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Jefe Chancado, Planificador PyT, Jefe Operaciones</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#3 — Anticipación de Cuello de Botella</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D97706"/>
                </a:solidFill>
              </a:rPr>
              <a:t>Momento: Análisis</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Anticipación — Análisis: timeline predictivo 45 min</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D97706"/>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Timeline predictivo del turno con marcador de impacto. Causas y efectos en cascada visibles.</a:t>
            </a:r>
          </a:p>
        </p:txBody>
      </p:sp>
      <p:sp>
        <p:nvSpPr>
          <p:cNvPr id="12" name="Rectangle 11"/>
          <p:cNvSpPr/>
          <p:nvPr/>
        </p:nvSpPr>
        <p:spPr>
          <a:xfrm>
            <a:off x="8046720" y="2743200"/>
            <a:ext cx="359633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D97706"/>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El sistema ya detectó que en 45 min se bloquea el chancador. Ahora muestra el impacto aguas abajo — tonelaje, dinero, áreas afectadas — y la causa raíz específica.</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#4: Briefing Inteligente</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C: Asistencia Inteligente</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Contexto disperso entre dashboards, reportes y correos.</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Contexto instantáneo sin preparación manual. El sistema la busca a ella.</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7:45 AM. Sofía camina hacia la sala de coordinación — casco, radio, cero tiempo. Reunión en 15 minutos. No ha podido prepararse: correos sin leer, tres reuniones previas, radio sin parar. La información existe — dispersa entre el dashboard de despacho, el reporte de mantención y los correos del jefe…</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El briefing llega al WhatsApp de Sofía — el canal correcto para alguien caminando al turno. Resumen contra plan: turno noche al 87%, tronadura -20%, 5 camiones parados, 2 alertas de seguridad.</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Priorización objetiva: lo más importante primero, medido por impacto en el plan. Causa raíz de cada brecha identificada. Sofía llega a la reunión con contexto completo — en 30 segundos.</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Post-reunión: seguimiento automático de compromisos asumidos en reunión, distribuido al equipo.</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Supervisor IROC</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#4 — Briefing Inteligente</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16A34A"/>
                </a:solidFill>
              </a:rPr>
              <a:t>Momento: Detección</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Briefing TIM — Detección: push móvil en terreno</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16A34A"/>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Briefing proactivo: tronadura -20%, 5 camiones parados, 2 riesgos. Priorización objetiva contra plan. Llega listo, no el raw data.</a:t>
            </a:r>
          </a:p>
        </p:txBody>
      </p:sp>
      <p:sp>
        <p:nvSpPr>
          <p:cNvPr id="12" name="Rectangle 11"/>
          <p:cNvSpPr/>
          <p:nvPr/>
        </p:nvSpPr>
        <p:spPr>
          <a:xfrm>
            <a:off x="8046720" y="2743200"/>
            <a:ext cx="3596335"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16A34A"/>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Sofía camina al turno. 15 min antes de la reunión, el sistema la alcanza por WhatsApp — el canal correcto para alguien en movimiento.</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#5: Copiloto en Terreno</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C: Asistencia Inteligente</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Radio saturada con múltiples solicitudes. Normas inaccesibles en terreno. Manos …</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Respuesta inmediata, manos libres. Voz y foto como interfaz primaria.</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El jefe de turno frena la camioneta junto a una berma. Algo no se ve bien — la altura parece insuficiente. La normativa de Sernageomin está en un PDF en la oficina, a 20 minutos. La radio suena con tres solicitudes simultáneas. Las manos están en el volante. No hay cómo consultar, priorizar ni respo…</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Consulta directa: foto de la berma + pregunta por voz. El sistema recibe por el canal disponible — voz, imagen, texto. La radio se transcribe automáticamente, las solicitudes se identifican y se ponen en cola.</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Cruce instantáneo con normativa vigente: Sernageomin, prevención de riesgos, procedimientos de faena. Las tres solicitudes de radio priorizadas por urgencia, cada una con contexto suficiente para decidir.</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Respuesta directa con fundamento normativo. Las solicitudes de radio respondidas en orden de urgencia. El jefe firma su decisión con respaldo del sistema.</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Jefe de Turno, Despachador</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#5 — Copiloto en Terreno</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16A34A"/>
                </a:solidFill>
              </a:rPr>
              <a:t>Momento: Análisis</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Copiloto en Terreno — Análisis: voice assistant en camioneta</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16A34A"/>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Interfaz por voz y foto — manos libres en terreno. El sistema escucha la radio, transcribe y prioriza solicitudes. Normativa cruzada automáticamente.</a:t>
            </a:r>
          </a:p>
        </p:txBody>
      </p:sp>
      <p:sp>
        <p:nvSpPr>
          <p:cNvPr id="12" name="Rectangle 11"/>
          <p:cNvSpPr/>
          <p:nvPr/>
        </p:nvSpPr>
        <p:spPr>
          <a:xfrm>
            <a:off x="8046720" y="2743200"/>
            <a:ext cx="3596335"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16A34A"/>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El jefe de turno preguntó por voz. El sistema identificó la normativa Sernageomin aplicable y priorizó las tres solicitudes de radio por urgencia — sin que el operador tocara una pantalla.</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lstStyle/>
          <a:p>
            <a:pPr algn="l"/>
            <a:r>
              <a:rPr sz="2800" b="1" i="0">
                <a:solidFill>
                  <a:srgbClr val="1A1A2E"/>
                </a:solidFill>
              </a:rPr>
              <a:t>De Cumplir a Optimizar</a:t>
            </a:r>
          </a:p>
        </p:txBody>
      </p:sp>
      <p:sp>
        <p:nvSpPr>
          <p:cNvPr id="3" name="Rectangle 2"/>
          <p:cNvSpPr/>
          <p:nvPr/>
        </p:nvSpPr>
        <p:spPr>
          <a:xfrm>
            <a:off x="457200" y="868680"/>
            <a:ext cx="109728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00000"/>
            <a:ext cx="3566160" cy="4937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0000"/>
            <a:ext cx="356616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1440"/>
            <a:ext cx="3383280" cy="228600"/>
          </a:xfrm>
          <a:prstGeom prst="rect">
            <a:avLst/>
          </a:prstGeom>
          <a:noFill/>
        </p:spPr>
        <p:txBody>
          <a:bodyPr wrap="square"/>
          <a:lstStyle/>
          <a:p>
            <a:pPr algn="l"/>
            <a:r>
              <a:rPr sz="1000" b="1" i="0">
                <a:solidFill>
                  <a:srgbClr val="0891B2"/>
                </a:solidFill>
              </a:rPr>
              <a:t>Casos 1 – 6</a:t>
            </a:r>
          </a:p>
        </p:txBody>
      </p:sp>
      <p:sp>
        <p:nvSpPr>
          <p:cNvPr id="7" name="TextBox 6"/>
          <p:cNvSpPr txBox="1"/>
          <p:nvPr/>
        </p:nvSpPr>
        <p:spPr>
          <a:xfrm>
            <a:off x="548640" y="1365760"/>
            <a:ext cx="3383280" cy="365760"/>
          </a:xfrm>
          <a:prstGeom prst="rect">
            <a:avLst/>
          </a:prstGeom>
          <a:noFill/>
        </p:spPr>
        <p:txBody>
          <a:bodyPr wrap="square"/>
          <a:lstStyle/>
          <a:p>
            <a:pPr algn="l"/>
            <a:r>
              <a:rPr sz="1800" b="1" i="0">
                <a:solidFill>
                  <a:srgbClr val="1A1A2E"/>
                </a:solidFill>
              </a:rPr>
              <a:t>Cumplir el Plan</a:t>
            </a:r>
          </a:p>
        </p:txBody>
      </p:sp>
      <p:sp>
        <p:nvSpPr>
          <p:cNvPr id="8" name="Rectangle 7"/>
          <p:cNvSpPr/>
          <p:nvPr/>
        </p:nvSpPr>
        <p:spPr>
          <a:xfrm>
            <a:off x="548640" y="1777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68680"/>
            <a:ext cx="3383280" cy="3200400"/>
          </a:xfrm>
          <a:prstGeom prst="rect">
            <a:avLst/>
          </a:prstGeom>
          <a:noFill/>
        </p:spPr>
        <p:txBody>
          <a:bodyPr wrap="square"/>
          <a:lstStyle/>
          <a:p>
            <a:pPr algn="l"/>
            <a:r>
              <a:rPr sz="1200" b="0" i="0">
                <a:solidFill>
                  <a:srgbClr val="1A1A2E"/>
                </a:solidFill>
              </a:rPr>
              <a:t>aplicado a incidentes de turno, anticipación operativa y asistencia en terreno.
La base. Sin esto, no hay plataforma.</a:t>
            </a:r>
          </a:p>
        </p:txBody>
      </p:sp>
      <p:sp>
        <p:nvSpPr>
          <p:cNvPr id="10" name="Rectangle 9"/>
          <p:cNvSpPr/>
          <p:nvPr/>
        </p:nvSpPr>
        <p:spPr>
          <a:xfrm>
            <a:off x="548640" y="5572000"/>
            <a:ext cx="182880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626864"/>
            <a:ext cx="1828800" cy="228600"/>
          </a:xfrm>
          <a:prstGeom prst="rect">
            <a:avLst/>
          </a:prstGeom>
          <a:noFill/>
        </p:spPr>
        <p:txBody>
          <a:bodyPr wrap="square"/>
          <a:lstStyle/>
          <a:p>
            <a:pPr algn="l"/>
            <a:r>
              <a:rPr sz="1000" b="1" i="0">
                <a:solidFill>
                  <a:srgbClr val="FFFFFF"/>
                </a:solidFill>
              </a:rPr>
              <a:t>COMPLETADO</a:t>
            </a:r>
          </a:p>
        </p:txBody>
      </p:sp>
      <p:sp>
        <p:nvSpPr>
          <p:cNvPr id="12" name="Rectangle 11"/>
          <p:cNvSpPr/>
          <p:nvPr/>
        </p:nvSpPr>
        <p:spPr>
          <a:xfrm>
            <a:off x="4251960" y="1000000"/>
            <a:ext cx="3566160" cy="4937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1000000"/>
            <a:ext cx="356616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091440"/>
            <a:ext cx="3383280" cy="228600"/>
          </a:xfrm>
          <a:prstGeom prst="rect">
            <a:avLst/>
          </a:prstGeom>
          <a:noFill/>
        </p:spPr>
        <p:txBody>
          <a:bodyPr wrap="square"/>
          <a:lstStyle/>
          <a:p>
            <a:pPr algn="l"/>
            <a:r>
              <a:rPr sz="1000" b="1" i="0">
                <a:solidFill>
                  <a:srgbClr val="7C3AED"/>
                </a:solidFill>
              </a:rPr>
              <a:t>Casos 7 – 8</a:t>
            </a:r>
          </a:p>
        </p:txBody>
      </p:sp>
      <p:sp>
        <p:nvSpPr>
          <p:cNvPr id="15" name="TextBox 14"/>
          <p:cNvSpPr txBox="1"/>
          <p:nvPr/>
        </p:nvSpPr>
        <p:spPr>
          <a:xfrm>
            <a:off x="4343400" y="1365760"/>
            <a:ext cx="3383280" cy="365760"/>
          </a:xfrm>
          <a:prstGeom prst="rect">
            <a:avLst/>
          </a:prstGeom>
          <a:noFill/>
        </p:spPr>
        <p:txBody>
          <a:bodyPr wrap="square"/>
          <a:lstStyle/>
          <a:p>
            <a:pPr algn="l"/>
            <a:r>
              <a:rPr sz="1800" b="1" i="0">
                <a:solidFill>
                  <a:srgbClr val="1A1A2E"/>
                </a:solidFill>
              </a:rPr>
              <a:t>Optimizar el Plan</a:t>
            </a:r>
          </a:p>
        </p:txBody>
      </p:sp>
      <p:sp>
        <p:nvSpPr>
          <p:cNvPr id="16" name="Rectangle 15"/>
          <p:cNvSpPr/>
          <p:nvPr/>
        </p:nvSpPr>
        <p:spPr>
          <a:xfrm>
            <a:off x="4343400" y="1777240"/>
            <a:ext cx="338328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1868680"/>
            <a:ext cx="3383280" cy="3200400"/>
          </a:xfrm>
          <a:prstGeom prst="rect">
            <a:avLst/>
          </a:prstGeom>
          <a:noFill/>
        </p:spPr>
        <p:txBody>
          <a:bodyPr wrap="square"/>
          <a:lstStyle/>
          <a:p>
            <a:pPr algn="l"/>
            <a:r>
              <a:rPr sz="1200" b="0" i="0">
                <a:solidFill>
                  <a:srgbClr val="1A1A2E"/>
                </a:solidFill>
              </a:rPr>
              <a:t>aplicado a decisiones estratégicas que trascienden el turno.
CORE ya existe y funciona. ¿Qué más puedo hacer con esto?</a:t>
            </a:r>
          </a:p>
        </p:txBody>
      </p:sp>
      <p:sp>
        <p:nvSpPr>
          <p:cNvPr id="18" name="Rectangle 17"/>
          <p:cNvSpPr/>
          <p:nvPr/>
        </p:nvSpPr>
        <p:spPr>
          <a:xfrm>
            <a:off x="4343400" y="5572000"/>
            <a:ext cx="182880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5626864"/>
            <a:ext cx="1828800" cy="228600"/>
          </a:xfrm>
          <a:prstGeom prst="rect">
            <a:avLst/>
          </a:prstGeom>
          <a:noFill/>
        </p:spPr>
        <p:txBody>
          <a:bodyPr wrap="square"/>
          <a:lstStyle/>
          <a:p>
            <a:pPr algn="l"/>
            <a:r>
              <a:rPr sz="1000" b="1" i="0">
                <a:solidFill>
                  <a:srgbClr val="FFFFFF"/>
                </a:solidFill>
              </a:rPr>
              <a:t>NUEVO</a:t>
            </a:r>
          </a:p>
        </p:txBody>
      </p:sp>
      <p:sp>
        <p:nvSpPr>
          <p:cNvPr id="20" name="Rectangle 19"/>
          <p:cNvSpPr/>
          <p:nvPr/>
        </p:nvSpPr>
        <p:spPr>
          <a:xfrm>
            <a:off x="8046720" y="1000000"/>
            <a:ext cx="3566160" cy="4937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000000"/>
            <a:ext cx="35661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1091440"/>
            <a:ext cx="3383280" cy="228600"/>
          </a:xfrm>
          <a:prstGeom prst="rect">
            <a:avLst/>
          </a:prstGeom>
          <a:noFill/>
        </p:spPr>
        <p:txBody>
          <a:bodyPr wrap="square"/>
          <a:lstStyle/>
          <a:p>
            <a:pPr algn="l"/>
            <a:r>
              <a:rPr sz="1000" b="1" i="0">
                <a:solidFill>
                  <a:srgbClr val="D97706"/>
                </a:solidFill>
              </a:rPr>
              <a:t>Horizonte</a:t>
            </a:r>
          </a:p>
        </p:txBody>
      </p:sp>
      <p:sp>
        <p:nvSpPr>
          <p:cNvPr id="23" name="TextBox 22"/>
          <p:cNvSpPr txBox="1"/>
          <p:nvPr/>
        </p:nvSpPr>
        <p:spPr>
          <a:xfrm>
            <a:off x="8138160" y="1365760"/>
            <a:ext cx="3383280" cy="365760"/>
          </a:xfrm>
          <a:prstGeom prst="rect">
            <a:avLst/>
          </a:prstGeom>
          <a:noFill/>
        </p:spPr>
        <p:txBody>
          <a:bodyPr wrap="square"/>
          <a:lstStyle/>
          <a:p>
            <a:pPr algn="l"/>
            <a:r>
              <a:rPr sz="1800" b="1" i="0">
                <a:solidFill>
                  <a:srgbClr val="1A1A2E"/>
                </a:solidFill>
              </a:rPr>
              <a:t>Cerebro Autónomo</a:t>
            </a:r>
          </a:p>
        </p:txBody>
      </p:sp>
      <p:sp>
        <p:nvSpPr>
          <p:cNvPr id="24" name="Rectangle 23"/>
          <p:cNvSpPr/>
          <p:nvPr/>
        </p:nvSpPr>
        <p:spPr>
          <a:xfrm>
            <a:off x="8138160" y="1777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868680"/>
            <a:ext cx="3383280" cy="3200400"/>
          </a:xfrm>
          <a:prstGeom prst="rect">
            <a:avLst/>
          </a:prstGeom>
          <a:noFill/>
        </p:spPr>
        <p:txBody>
          <a:bodyPr wrap="square"/>
          <a:lstStyle/>
          <a:p>
            <a:pPr algn="l"/>
            <a:r>
              <a:rPr sz="1200" b="0" i="0">
                <a:solidFill>
                  <a:srgbClr val="1A1A2E"/>
                </a:solidFill>
              </a:rPr>
              <a:t>CORE como el sistema nervioso central de la mina — percibe, decide y actúa sin intervención humana.
Machine-to-Machine: CORE habla directo con equipos y sensores.</a:t>
            </a:r>
          </a:p>
        </p:txBody>
      </p:sp>
      <p:sp>
        <p:nvSpPr>
          <p:cNvPr id="26" name="Rectangle 25"/>
          <p:cNvSpPr/>
          <p:nvPr/>
        </p:nvSpPr>
        <p:spPr>
          <a:xfrm>
            <a:off x="8138160" y="5572000"/>
            <a:ext cx="182880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626864"/>
            <a:ext cx="1828800" cy="228600"/>
          </a:xfrm>
          <a:prstGeom prst="rect">
            <a:avLst/>
          </a:prstGeom>
          <a:noFill/>
        </p:spPr>
        <p:txBody>
          <a:bodyPr wrap="square"/>
          <a:lstStyle/>
          <a:p>
            <a:pPr algn="l"/>
            <a:r>
              <a:rPr sz="1000" b="1" i="0">
                <a:solidFill>
                  <a:srgbClr val="FFFFFF"/>
                </a:solidFill>
              </a:rPr>
              <a:t>FUTURO</a:t>
            </a:r>
          </a:p>
        </p:txBody>
      </p:sp>
      <p:sp>
        <p:nvSpPr>
          <p:cNvPr id="28" name="TextBox 27"/>
          <p:cNvSpPr txBox="1"/>
          <p:nvPr/>
        </p:nvSpPr>
        <p:spPr>
          <a:xfrm>
            <a:off x="11643055" y="6537960"/>
            <a:ext cx="457200" cy="228600"/>
          </a:xfrm>
          <a:prstGeom prst="rect">
            <a:avLst/>
          </a:prstGeom>
          <a:noFill/>
        </p:spPr>
        <p:txBody>
          <a:bodyPr wrap="square"/>
          <a:lstStyle/>
          <a:p>
            <a:pPr algn="l"/>
            <a:r>
              <a:rPr sz="1000" b="0" i="0">
                <a:solidFill>
                  <a:srgbClr val="6B7280"/>
                </a:solidFil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#6: Mejoramiento Continuo del Plan</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D: Alineación Estratégica (envolvente)</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Cuatro sistemas con versiones parciales de la verdad.</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Detectar brechas entre plan y ejecución para mejorar continuamente — no solo cor…</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Lunes, cierre semanal. El Gerente de Mina revisa los números: mineral cumplido, lastre cumplido. Pero la recuperación de planta está 6% bajo meta. Los autónomos se detuvieron 14 veces durante el fin de semana — ¿por qué? La respuesta está en cuatro sistemas distintos. No necesita más datos — necesit…</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Alerta de brecha continua — no espera al cierre mensual. El gap entre plan y realidad se detecta mientras ocurre, con la pregunta ya respondida antes de que alguien la haga.</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Time Scrubbing: rebobinar hasta el momento exacto del primer desvío. Cadena causal completa: antena descalibrada → posicionamiento incorrecto → alimentación errática → recuperación baja.</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Ajustes recomendados con impacto cuantificado. No solo corregir la desviación — mejorar la ejecución. De reacción a mejora continua estructural.</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Gerente Minas, Planificador CP, Gerente Mina</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#6 — Mejoramiento Continuo</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7C3AED"/>
                </a:solidFill>
              </a:rPr>
              <a:t>Momento: Análisis</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Plan vs Realidad — Análisis: dashboard comparativo</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7C3AED"/>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Time Scrubbing: rebobinar la semana segundo a segundo. Split Plan/Realidad con gap visual. Anomalías geolocalizadas en mapa. Causa raíz con correlación.</a:t>
            </a:r>
          </a:p>
        </p:txBody>
      </p:sp>
      <p:sp>
        <p:nvSpPr>
          <p:cNvPr id="12" name="Rectangle 11"/>
          <p:cNvSpPr/>
          <p:nvPr/>
        </p:nvSpPr>
        <p:spPr>
          <a:xfrm>
            <a:off x="8046720" y="2743200"/>
            <a:ext cx="359633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7C3AED"/>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El gerente ve la brecha entre plan y realidad. El sistema ya cruzó datos de autónomos, antenas y mineral. Ahora muestra la cadena causal completa — de síntoma a causa raíz.</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#7: Optimización del Plan Minero</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D: Alineación Estratégica</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Plan estático hecho hace 3 meses. Realidad geológica lo invalidó pero nadie lo c…</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Visibilidad de que la configuración actual ya no es óptima. Herramientas para re…</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Reunión mensual de planificación. Fase Sur lleva 3 semanas rindiendo bajo plan — no por incidentes, sino porque la roca es más dura de lo proyectado. Cada turno manda la misma flota a las mismas fases. Nadie cuestiona porque "el plan dice así." El gap es estructural. No necesita corregir un turno — …</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Patrón estructural detectado: Fase Sur rindió bajo plan en 18 de los últimos 21 turnos. No son incidentes aislados — es una tendencia sistémica. Divergencia: dureza de roca 15% sobre la proyección.</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Orchestra simula configuraciones alternativas de secuenciación de fases para las próximas 4 semanas. Impacto cuantificado por cada alternativa.</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Configuración recomendada: concentrar 60% del esfuerzo en Fase Norte por semanas 5–8. Recuperación proyectada: +8% vs trayectoria actual. Impacto: USD 4.2M en valor recuperado.</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Gerente Minas, Planificador CP</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#7 — Optimización del Plan</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7C3AED"/>
                </a:solidFill>
              </a:rPr>
              <a:t>Momento: Recomendación</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Dashboard dark — Orchestra simulation con fases coloreadas y proyección</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7C3AED"/>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De decisiones tácticas a reconfiguración estratégica. Orchestra simulation con fases coloreadas y proyección de 4 semanas.</a:t>
            </a:r>
          </a:p>
        </p:txBody>
      </p:sp>
      <p:sp>
        <p:nvSpPr>
          <p:cNvPr id="12" name="Rectangle 11"/>
          <p:cNvSpPr/>
          <p:nvPr/>
        </p:nvSpPr>
        <p:spPr>
          <a:xfrm>
            <a:off x="8046720" y="2743200"/>
            <a:ext cx="359633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7C3AED"/>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Orchestra simuló 4 configuraciones de secuenciación de fases. Ahora muestra la estrategia recomendada para las próximas 4 semanas — no un fix de turno, sino una reconfiguración global.</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000000" cy="411480"/>
          </a:xfrm>
          <a:prstGeom prst="rect">
            <a:avLst/>
          </a:prstGeom>
          <a:noFill/>
        </p:spPr>
        <p:txBody>
          <a:bodyPr wrap="square"/>
          <a:lstStyle/>
          <a:p>
            <a:pPr algn="l"/>
            <a:r>
              <a:rPr sz="2000" b="1" i="0">
                <a:solidFill>
                  <a:srgbClr val="FFFFFF"/>
                </a:solidFill>
              </a:rPr>
              <a:t>Caso #8: Reportería Ejecutiva</a:t>
            </a:r>
          </a:p>
        </p:txBody>
      </p:sp>
      <p:sp>
        <p:nvSpPr>
          <p:cNvPr id="4" name="TextBox 3"/>
          <p:cNvSpPr txBox="1"/>
          <p:nvPr/>
        </p:nvSpPr>
        <p:spPr>
          <a:xfrm>
            <a:off x="457200" y="274320"/>
            <a:ext cx="8000000" cy="274320"/>
          </a:xfrm>
          <a:prstGeom prst="rect">
            <a:avLst/>
          </a:prstGeom>
          <a:noFill/>
        </p:spPr>
        <p:txBody>
          <a:bodyPr wrap="square"/>
          <a:lstStyle/>
          <a:p>
            <a:pPr algn="l"/>
            <a:r>
              <a:rPr sz="1100" b="0" i="0">
                <a:solidFill>
                  <a:srgbClr val="FFFFFF"/>
                </a:solidFill>
              </a:rPr>
              <a:t>Dominio D: Alineación Estratégica</a:t>
            </a:r>
          </a:p>
        </p:txBody>
      </p:sp>
      <p:sp>
        <p:nvSpPr>
          <p:cNvPr id="5" name="Rectangle 4"/>
          <p:cNvSpPr/>
          <p:nvPr/>
        </p:nvSpPr>
        <p:spPr>
          <a:xfrm>
            <a:off x="45720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621720"/>
            <a:ext cx="53950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76584"/>
            <a:ext cx="5212120" cy="182880"/>
          </a:xfrm>
          <a:prstGeom prst="rect">
            <a:avLst/>
          </a:prstGeom>
          <a:noFill/>
        </p:spPr>
        <p:txBody>
          <a:bodyPr wrap="square"/>
          <a:lstStyle/>
          <a:p>
            <a:pPr algn="l"/>
            <a:r>
              <a:rPr sz="800" b="1" i="0">
                <a:solidFill>
                  <a:srgbClr val="D97706"/>
                </a:solidFill>
              </a:rPr>
              <a:t>DOLOR</a:t>
            </a:r>
          </a:p>
        </p:txBody>
      </p:sp>
      <p:sp>
        <p:nvSpPr>
          <p:cNvPr id="8" name="TextBox 7"/>
          <p:cNvSpPr txBox="1"/>
          <p:nvPr/>
        </p:nvSpPr>
        <p:spPr>
          <a:xfrm>
            <a:off x="548640" y="804600"/>
            <a:ext cx="5212120" cy="201168"/>
          </a:xfrm>
          <a:prstGeom prst="rect">
            <a:avLst/>
          </a:prstGeom>
          <a:noFill/>
        </p:spPr>
        <p:txBody>
          <a:bodyPr wrap="square"/>
          <a:lstStyle/>
          <a:p>
            <a:pPr algn="l"/>
            <a:r>
              <a:rPr sz="1000" b="0" i="0">
                <a:solidFill>
                  <a:srgbClr val="1A1A2E"/>
                </a:solidFill>
              </a:rPr>
              <a:t>Datos atrapados en sistemas de ingenieros. El CFO no puede responder sin llamar …</a:t>
            </a:r>
          </a:p>
        </p:txBody>
      </p:sp>
      <p:sp>
        <p:nvSpPr>
          <p:cNvPr id="9" name="Rectangle 8"/>
          <p:cNvSpPr/>
          <p:nvPr/>
        </p:nvSpPr>
        <p:spPr>
          <a:xfrm>
            <a:off x="6035080" y="621720"/>
            <a:ext cx="539500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80" y="621720"/>
            <a:ext cx="53950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520" y="676584"/>
            <a:ext cx="5212120" cy="182880"/>
          </a:xfrm>
          <a:prstGeom prst="rect">
            <a:avLst/>
          </a:prstGeom>
          <a:noFill/>
        </p:spPr>
        <p:txBody>
          <a:bodyPr wrap="square"/>
          <a:lstStyle/>
          <a:p>
            <a:pPr algn="l"/>
            <a:r>
              <a:rPr sz="800" b="1" i="0">
                <a:solidFill>
                  <a:srgbClr val="16A34A"/>
                </a:solidFill>
              </a:rPr>
              <a:t>NECESIDAD</a:t>
            </a:r>
          </a:p>
        </p:txBody>
      </p:sp>
      <p:sp>
        <p:nvSpPr>
          <p:cNvPr id="12" name="TextBox 11"/>
          <p:cNvSpPr txBox="1"/>
          <p:nvPr/>
        </p:nvSpPr>
        <p:spPr>
          <a:xfrm>
            <a:off x="6126520" y="804600"/>
            <a:ext cx="5212120" cy="201168"/>
          </a:xfrm>
          <a:prstGeom prst="rect">
            <a:avLst/>
          </a:prstGeom>
          <a:noFill/>
        </p:spPr>
        <p:txBody>
          <a:bodyPr wrap="square"/>
          <a:lstStyle/>
          <a:p>
            <a:pPr algn="l"/>
            <a:r>
              <a:rPr sz="1000" b="0" i="0">
                <a:solidFill>
                  <a:srgbClr val="1A1A2E"/>
                </a:solidFill>
              </a:rPr>
              <a:t>Reporte ejecutivo automático sin armar PDFs. Impacto en dinero, no en tonelaje.</a:t>
            </a:r>
          </a:p>
        </p:txBody>
      </p:sp>
      <p:sp>
        <p:nvSpPr>
          <p:cNvPr id="13" name="Rectangle 12"/>
          <p:cNvSpPr/>
          <p:nvPr/>
        </p:nvSpPr>
        <p:spPr>
          <a:xfrm>
            <a:off x="457200" y="1097280"/>
            <a:ext cx="112471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52144"/>
            <a:ext cx="11247120" cy="182880"/>
          </a:xfrm>
          <a:prstGeom prst="rect">
            <a:avLst/>
          </a:prstGeom>
          <a:noFill/>
        </p:spPr>
        <p:txBody>
          <a:bodyPr wrap="square"/>
          <a:lstStyle/>
          <a:p>
            <a:pPr algn="l"/>
            <a:r>
              <a:rPr sz="900" b="1" i="0">
                <a:solidFill>
                  <a:srgbClr val="6B7280"/>
                </a:solidFill>
              </a:rPr>
              <a:t>CONTEXTO</a:t>
            </a:r>
          </a:p>
        </p:txBody>
      </p:sp>
      <p:sp>
        <p:nvSpPr>
          <p:cNvPr id="15" name="TextBox 14"/>
          <p:cNvSpPr txBox="1"/>
          <p:nvPr/>
        </p:nvSpPr>
        <p:spPr>
          <a:xfrm>
            <a:off x="457200" y="1298448"/>
            <a:ext cx="11247120" cy="548640"/>
          </a:xfrm>
          <a:prstGeom prst="rect">
            <a:avLst/>
          </a:prstGeom>
          <a:noFill/>
        </p:spPr>
        <p:txBody>
          <a:bodyPr wrap="square"/>
          <a:lstStyle/>
          <a:p>
            <a:pPr algn="l"/>
            <a:r>
              <a:rPr sz="1000" b="0" i="0">
                <a:solidFill>
                  <a:srgbClr val="1A1A2E"/>
                </a:solidFill>
              </a:rPr>
              <a:t>Reunión de directorio en curso. Alguien pregunta: "¿cómo va la operación minera?" El CFO no puede responder sin llamar a alguien o abrir un software que no entiende. Los datos existen — tonelaje, turnos, disponibilidad — pero están en un idioma que no es el suyo. No necesita acceso a sistemas de ope…</a:t>
            </a:r>
          </a:p>
        </p:txBody>
      </p:sp>
      <p:sp>
        <p:nvSpPr>
          <p:cNvPr id="16" name="Rectangle 15"/>
          <p:cNvSpPr/>
          <p:nvPr/>
        </p:nvSpPr>
        <p:spPr>
          <a:xfrm>
            <a:off x="45720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92024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56816"/>
            <a:ext cx="3383280" cy="2743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975104"/>
            <a:ext cx="3200400" cy="228600"/>
          </a:xfrm>
          <a:prstGeom prst="rect">
            <a:avLst/>
          </a:prstGeom>
          <a:noFill/>
        </p:spPr>
        <p:txBody>
          <a:bodyPr wrap="square"/>
          <a:lstStyle/>
          <a:p>
            <a:pPr algn="l"/>
            <a:r>
              <a:rPr sz="1100" b="1" i="0">
                <a:solidFill>
                  <a:srgbClr val="FFFFFF"/>
                </a:solidFill>
              </a:rPr>
              <a:t>DETECTA</a:t>
            </a:r>
          </a:p>
        </p:txBody>
      </p:sp>
      <p:sp>
        <p:nvSpPr>
          <p:cNvPr id="20" name="TextBox 19"/>
          <p:cNvSpPr txBox="1"/>
          <p:nvPr/>
        </p:nvSpPr>
        <p:spPr>
          <a:xfrm>
            <a:off x="548640" y="2286000"/>
            <a:ext cx="3200400" cy="3657600"/>
          </a:xfrm>
          <a:prstGeom prst="rect">
            <a:avLst/>
          </a:prstGeom>
          <a:noFill/>
        </p:spPr>
        <p:txBody>
          <a:bodyPr wrap="square"/>
          <a:lstStyle/>
          <a:p>
            <a:pPr algn="l"/>
            <a:r>
              <a:rPr sz="1000" b="0" i="0">
                <a:solidFill>
                  <a:srgbClr val="1A1A2E"/>
                </a:solidFill>
              </a:rPr>
              <a:t>Notificación en el teléfono del CFO — un resumen ejecutivo que cabe en una pantalla. Cuatro KPIs traducidos a dinero: adherencia, producción, seguridad, valor capturado. Un solo indicador destacado pide atención.</a:t>
            </a:r>
          </a:p>
        </p:txBody>
      </p:sp>
      <p:sp>
        <p:nvSpPr>
          <p:cNvPr id="21" name="Rectangle 20"/>
          <p:cNvSpPr/>
          <p:nvPr/>
        </p:nvSpPr>
        <p:spPr>
          <a:xfrm>
            <a:off x="402336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192024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0" y="1956816"/>
            <a:ext cx="3383280" cy="274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75104"/>
            <a:ext cx="3200400" cy="228600"/>
          </a:xfrm>
          <a:prstGeom prst="rect">
            <a:avLst/>
          </a:prstGeom>
          <a:noFill/>
        </p:spPr>
        <p:txBody>
          <a:bodyPr wrap="square"/>
          <a:lstStyle/>
          <a:p>
            <a:pPr algn="l"/>
            <a:r>
              <a:rPr sz="1100" b="1" i="0">
                <a:solidFill>
                  <a:srgbClr val="FFFFFF"/>
                </a:solidFill>
              </a:rPr>
              <a:t>ANALIZA</a:t>
            </a:r>
          </a:p>
        </p:txBody>
      </p:sp>
      <p:sp>
        <p:nvSpPr>
          <p:cNvPr id="25" name="TextBox 24"/>
          <p:cNvSpPr txBox="1"/>
          <p:nvPr/>
        </p:nvSpPr>
        <p:spPr>
          <a:xfrm>
            <a:off x="4114800" y="2286000"/>
            <a:ext cx="3200400" cy="3657600"/>
          </a:xfrm>
          <a:prstGeom prst="rect">
            <a:avLst/>
          </a:prstGeom>
          <a:noFill/>
        </p:spPr>
        <p:txBody>
          <a:bodyPr wrap="square"/>
          <a:lstStyle/>
          <a:p>
            <a:pPr algn="l"/>
            <a:r>
              <a:rPr sz="1000" b="0" i="0">
                <a:solidFill>
                  <a:srgbClr val="1A1A2E"/>
                </a:solidFill>
              </a:rPr>
              <a:t>Un tap en el indicador destacado. Drill-down financiero: qué turno fue el peor, por qué, cuánto costó. Comparativa con trimestres anteriores. Proyección de cierre si no se corrige.</a:t>
            </a:r>
          </a:p>
        </p:txBody>
      </p:sp>
      <p:sp>
        <p:nvSpPr>
          <p:cNvPr id="26" name="Rectangle 25"/>
          <p:cNvSpPr/>
          <p:nvPr/>
        </p:nvSpPr>
        <p:spPr>
          <a:xfrm>
            <a:off x="7589520" y="192024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192024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956816"/>
            <a:ext cx="338328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1975104"/>
            <a:ext cx="3200400" cy="228600"/>
          </a:xfrm>
          <a:prstGeom prst="rect">
            <a:avLst/>
          </a:prstGeom>
          <a:noFill/>
        </p:spPr>
        <p:txBody>
          <a:bodyPr wrap="square"/>
          <a:lstStyle/>
          <a:p>
            <a:pPr algn="l"/>
            <a:r>
              <a:rPr sz="1100" b="1" i="0">
                <a:solidFill>
                  <a:srgbClr val="FFFFFF"/>
                </a:solidFill>
              </a:rPr>
              <a:t>RECOMIENDA</a:t>
            </a:r>
          </a:p>
        </p:txBody>
      </p:sp>
      <p:sp>
        <p:nvSpPr>
          <p:cNvPr id="30" name="TextBox 29"/>
          <p:cNvSpPr txBox="1"/>
          <p:nvPr/>
        </p:nvSpPr>
        <p:spPr>
          <a:xfrm>
            <a:off x="7680960" y="2286000"/>
            <a:ext cx="3200400" cy="3657600"/>
          </a:xfrm>
          <a:prstGeom prst="rect">
            <a:avLst/>
          </a:prstGeom>
          <a:noFill/>
        </p:spPr>
        <p:txBody>
          <a:bodyPr wrap="square"/>
          <a:lstStyle/>
          <a:p>
            <a:pPr algn="l"/>
            <a:r>
              <a:rPr sz="1000" b="0" i="0">
                <a:solidFill>
                  <a:srgbClr val="1A1A2E"/>
                </a:solidFill>
              </a:rPr>
              <a:t>El CFO responde en reunión con datos frescos, en lenguaje de negocio. El reporte se genera automáticamente — sin PDF manual, sin llamadas, sin esperar consolidados.</a:t>
            </a:r>
          </a:p>
        </p:txBody>
      </p:sp>
      <p:sp>
        <p:nvSpPr>
          <p:cNvPr id="31" name="TextBox 30"/>
          <p:cNvSpPr txBox="1"/>
          <p:nvPr/>
        </p:nvSpPr>
        <p:spPr>
          <a:xfrm>
            <a:off x="457200" y="6537960"/>
            <a:ext cx="8000000" cy="228600"/>
          </a:xfrm>
          <a:prstGeom prst="rect">
            <a:avLst/>
          </a:prstGeom>
          <a:noFill/>
        </p:spPr>
        <p:txBody>
          <a:bodyPr wrap="square"/>
          <a:lstStyle/>
          <a:p>
            <a:pPr algn="l"/>
            <a:r>
              <a:rPr sz="900" b="0" i="0">
                <a:solidFill>
                  <a:srgbClr val="6B7280"/>
                </a:solidFill>
              </a:rPr>
              <a:t>Roles: CFO, Gerente Minas, Controller</a:t>
            </a:r>
          </a:p>
        </p:txBody>
      </p:sp>
      <p:sp>
        <p:nvSpPr>
          <p:cNvPr id="32" name="TextBox 31"/>
          <p:cNvSpPr txBox="1"/>
          <p:nvPr/>
        </p:nvSpPr>
        <p:spPr>
          <a:xfrm>
            <a:off x="11643055" y="6537960"/>
            <a:ext cx="457200" cy="228600"/>
          </a:xfrm>
          <a:prstGeom prst="rect">
            <a:avLst/>
          </a:prstGeom>
          <a:noFill/>
        </p:spPr>
        <p:txBody>
          <a:bodyPr wrap="square"/>
          <a:lstStyle/>
          <a:p>
            <a:pPr algn="l"/>
            <a:r>
              <a:rPr sz="1000" b="0" i="0">
                <a:solidFill>
                  <a:srgbClr val="6B7280"/>
                </a:solidFil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000000" cy="274320"/>
          </a:xfrm>
          <a:prstGeom prst="rect">
            <a:avLst/>
          </a:prstGeom>
          <a:noFill/>
        </p:spPr>
        <p:txBody>
          <a:bodyPr wrap="square"/>
          <a:lstStyle/>
          <a:p>
            <a:pPr algn="l"/>
            <a:r>
              <a:rPr sz="1400" b="1" i="0">
                <a:solidFill>
                  <a:srgbClr val="FFFFFF"/>
                </a:solidFill>
              </a:rPr>
              <a:t>Caso #8 — Reportería Ejecutiva</a:t>
            </a:r>
          </a:p>
        </p:txBody>
      </p:sp>
      <p:sp>
        <p:nvSpPr>
          <p:cNvPr id="4" name="TextBox 3"/>
          <p:cNvSpPr txBox="1"/>
          <p:nvPr/>
        </p:nvSpPr>
        <p:spPr>
          <a:xfrm>
            <a:off x="457200" y="228600"/>
            <a:ext cx="6000000" cy="228600"/>
          </a:xfrm>
          <a:prstGeom prst="rect">
            <a:avLst/>
          </a:prstGeom>
          <a:noFill/>
        </p:spPr>
        <p:txBody>
          <a:bodyPr wrap="square"/>
          <a:lstStyle/>
          <a:p>
            <a:pPr algn="l"/>
            <a:r>
              <a:rPr sz="1100" b="0" i="0">
                <a:solidFill>
                  <a:srgbClr val="7C3AED"/>
                </a:solidFill>
              </a:rPr>
              <a:t>Momento: Detección</a:t>
            </a:r>
          </a:p>
        </p:txBody>
      </p:sp>
      <p:sp>
        <p:nvSpPr>
          <p:cNvPr id="5" name="Rectangle 4"/>
          <p:cNvSpPr/>
          <p:nvPr/>
        </p:nvSpPr>
        <p:spPr>
          <a:xfrm>
            <a:off x="457200" y="548640"/>
            <a:ext cx="731520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6948480" cy="548640"/>
          </a:xfrm>
          <a:prstGeom prst="rect">
            <a:avLst/>
          </a:prstGeom>
          <a:noFill/>
        </p:spPr>
        <p:txBody>
          <a:bodyPr wrap="square"/>
          <a:lstStyle/>
          <a:p>
            <a:pPr algn="ctr"/>
            <a:r>
              <a:rPr sz="1300" b="1" i="0">
                <a:solidFill>
                  <a:srgbClr val="6B7280"/>
                </a:solidFill>
              </a:rPr>
              <a:t>Executive Dashboard dark — KPIs financieros con semáforo y proyección</a:t>
            </a:r>
          </a:p>
        </p:txBody>
      </p:sp>
      <p:sp>
        <p:nvSpPr>
          <p:cNvPr id="7" name="TextBox 6"/>
          <p:cNvSpPr txBox="1"/>
          <p:nvPr/>
        </p:nvSpPr>
        <p:spPr>
          <a:xfrm>
            <a:off x="640080" y="2926080"/>
            <a:ext cx="6948480" cy="365760"/>
          </a:xfrm>
          <a:prstGeom prst="rect">
            <a:avLst/>
          </a:prstGeom>
          <a:noFill/>
        </p:spPr>
        <p:txBody>
          <a:bodyPr wrap="square"/>
          <a:lstStyle/>
          <a:p>
            <a:pPr algn="ctr"/>
            <a:r>
              <a:rPr sz="1100" b="0" i="0">
                <a:solidFill>
                  <a:srgbClr val="B0BAC8"/>
                </a:solidFill>
              </a:rPr>
              <a:t>[ Wireframe / Visual ]</a:t>
            </a:r>
          </a:p>
        </p:txBody>
      </p:sp>
      <p:sp>
        <p:nvSpPr>
          <p:cNvPr id="8" name="Rectangle 7"/>
          <p:cNvSpPr/>
          <p:nvPr/>
        </p:nvSpPr>
        <p:spPr>
          <a:xfrm>
            <a:off x="7955280" y="548640"/>
            <a:ext cx="3779215"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0" y="548640"/>
            <a:ext cx="377921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640080"/>
            <a:ext cx="3596335" cy="274320"/>
          </a:xfrm>
          <a:prstGeom prst="rect">
            <a:avLst/>
          </a:prstGeom>
          <a:noFill/>
        </p:spPr>
        <p:txBody>
          <a:bodyPr wrap="square"/>
          <a:lstStyle/>
          <a:p>
            <a:pPr algn="l"/>
            <a:r>
              <a:rPr sz="900" b="1" i="0">
                <a:solidFill>
                  <a:srgbClr val="7C3AED"/>
                </a:solidFill>
              </a:rPr>
              <a:t>Pilar aplicado</a:t>
            </a:r>
          </a:p>
        </p:txBody>
      </p:sp>
      <p:sp>
        <p:nvSpPr>
          <p:cNvPr id="11" name="TextBox 10"/>
          <p:cNvSpPr txBox="1"/>
          <p:nvPr/>
        </p:nvSpPr>
        <p:spPr>
          <a:xfrm>
            <a:off x="8046720" y="822960"/>
            <a:ext cx="3596335" cy="1737360"/>
          </a:xfrm>
          <a:prstGeom prst="rect">
            <a:avLst/>
          </a:prstGeom>
          <a:noFill/>
        </p:spPr>
        <p:txBody>
          <a:bodyPr wrap="square"/>
          <a:lstStyle/>
          <a:p>
            <a:pPr algn="l"/>
            <a:r>
              <a:rPr sz="1100" b="0" i="0">
                <a:solidFill>
                  <a:srgbClr val="1A1A2E"/>
                </a:solidFill>
              </a:rPr>
              <a:t>El reporte busca al CFO — no al revés. Traducción automática: de tonelaje a dinero. Drill-down financiero en el teléfono, listo para directorio.</a:t>
            </a:r>
          </a:p>
        </p:txBody>
      </p:sp>
      <p:sp>
        <p:nvSpPr>
          <p:cNvPr id="12" name="Rectangle 11"/>
          <p:cNvSpPr/>
          <p:nvPr/>
        </p:nvSpPr>
        <p:spPr>
          <a:xfrm>
            <a:off x="8046720" y="2743200"/>
            <a:ext cx="359633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834640"/>
            <a:ext cx="3596335" cy="274320"/>
          </a:xfrm>
          <a:prstGeom prst="rect">
            <a:avLst/>
          </a:prstGeom>
          <a:noFill/>
        </p:spPr>
        <p:txBody>
          <a:bodyPr wrap="square"/>
          <a:lstStyle/>
          <a:p>
            <a:pPr algn="l"/>
            <a:r>
              <a:rPr sz="900" b="1" i="0">
                <a:solidFill>
                  <a:srgbClr val="7C3AED"/>
                </a:solidFill>
              </a:rPr>
              <a:t>El momento</a:t>
            </a:r>
          </a:p>
        </p:txBody>
      </p:sp>
      <p:sp>
        <p:nvSpPr>
          <p:cNvPr id="14" name="TextBox 13"/>
          <p:cNvSpPr txBox="1"/>
          <p:nvPr/>
        </p:nvSpPr>
        <p:spPr>
          <a:xfrm>
            <a:off x="8046720" y="3017520"/>
            <a:ext cx="3596335" cy="2194560"/>
          </a:xfrm>
          <a:prstGeom prst="rect">
            <a:avLst/>
          </a:prstGeom>
          <a:noFill/>
        </p:spPr>
        <p:txBody>
          <a:bodyPr wrap="square"/>
          <a:lstStyle/>
          <a:p>
            <a:pPr algn="l"/>
            <a:r>
              <a:rPr sz="1100" b="0" i="0">
                <a:solidFill>
                  <a:srgbClr val="1A1A2E"/>
                </a:solidFill>
              </a:rPr>
              <a:t>Viernes 3 PM, pre-directorio. El reporte llega automático al CFO — semáforo de KPIs, sin PDF manual. El sistema busca al CFO, no al revés.</a:t>
            </a:r>
          </a:p>
        </p:txBody>
      </p:sp>
      <p:sp>
        <p:nvSpPr>
          <p:cNvPr id="15" name="TextBox 14"/>
          <p:cNvSpPr txBox="1"/>
          <p:nvPr/>
        </p:nvSpPr>
        <p:spPr>
          <a:xfrm>
            <a:off x="11643055" y="6537960"/>
            <a:ext cx="457200" cy="228600"/>
          </a:xfrm>
          <a:prstGeom prst="rect">
            <a:avLst/>
          </a:prstGeom>
          <a:noFill/>
        </p:spPr>
        <p:txBody>
          <a:bodyPr wrap="square"/>
          <a:lstStyle/>
          <a:p>
            <a:pPr algn="l"/>
            <a:r>
              <a:rPr sz="1000" b="0" i="0">
                <a:solidFill>
                  <a:srgbClr val="6B7280"/>
                </a:solidFil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lstStyle/>
          <a:p>
            <a:pPr algn="l"/>
            <a:r>
              <a:rPr sz="2200" b="1" i="0">
                <a:solidFill>
                  <a:srgbClr val="1A1A2E"/>
                </a:solidFill>
              </a:rPr>
              <a:t>Horizonte de Evolución</a:t>
            </a:r>
          </a:p>
        </p:txBody>
      </p:sp>
      <p:sp>
        <p:nvSpPr>
          <p:cNvPr id="3" name="TextBox 2"/>
          <p:cNvSpPr txBox="1"/>
          <p:nvPr/>
        </p:nvSpPr>
        <p:spPr>
          <a:xfrm>
            <a:off x="457200" y="850392"/>
            <a:ext cx="11430000" cy="292608"/>
          </a:xfrm>
          <a:prstGeom prst="rect">
            <a:avLst/>
          </a:prstGeom>
          <a:noFill/>
        </p:spPr>
        <p:txBody>
          <a:bodyPr wrap="square"/>
          <a:lstStyle/>
          <a:p>
            <a:pPr algn="l"/>
            <a:r>
              <a:rPr sz="1200" b="0" i="0">
                <a:solidFill>
                  <a:srgbClr val="6B7280"/>
                </a:solidFill>
              </a:rPr>
              <a:t>Etapas de madurez de la plataforma CORE — de asistente reactivo a cerebro autónomo.</a:t>
            </a:r>
          </a:p>
        </p:txBody>
      </p:sp>
      <p:sp>
        <p:nvSpPr>
          <p:cNvPr id="4" name="Rectangle 3"/>
          <p:cNvSpPr/>
          <p:nvPr/>
        </p:nvSpPr>
        <p:spPr>
          <a:xfrm>
            <a:off x="457200" y="128016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65960" y="1371600"/>
            <a:ext cx="365760" cy="3657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444752"/>
            <a:ext cx="365760" cy="228600"/>
          </a:xfrm>
          <a:prstGeom prst="rect">
            <a:avLst/>
          </a:prstGeom>
          <a:noFill/>
        </p:spPr>
        <p:txBody>
          <a:bodyPr wrap="square"/>
          <a:lstStyle/>
          <a:p>
            <a:pPr algn="ctr"/>
            <a:r>
              <a:rPr sz="1600" b="1" i="0">
                <a:solidFill>
                  <a:srgbClr val="FFFFFF"/>
                </a:solidFill>
              </a:rPr>
              <a:t>1</a:t>
            </a:r>
          </a:p>
        </p:txBody>
      </p:sp>
      <p:sp>
        <p:nvSpPr>
          <p:cNvPr id="8" name="TextBox 7"/>
          <p:cNvSpPr txBox="1"/>
          <p:nvPr/>
        </p:nvSpPr>
        <p:spPr>
          <a:xfrm>
            <a:off x="548640" y="1828800"/>
            <a:ext cx="3200400" cy="365760"/>
          </a:xfrm>
          <a:prstGeom prst="rect">
            <a:avLst/>
          </a:prstGeom>
          <a:noFill/>
        </p:spPr>
        <p:txBody>
          <a:bodyPr wrap="square"/>
          <a:lstStyle/>
          <a:p>
            <a:pPr algn="l"/>
            <a:r>
              <a:rPr sz="1300" b="1" i="0">
                <a:solidFill>
                  <a:srgbClr val="1A1A2E"/>
                </a:solidFill>
              </a:rPr>
              <a:t>v1 — Asistente Reactivo</a:t>
            </a:r>
          </a:p>
        </p:txBody>
      </p:sp>
      <p:sp>
        <p:nvSpPr>
          <p:cNvPr id="9" name="Rectangle 8"/>
          <p:cNvSpPr/>
          <p:nvPr/>
        </p:nvSpPr>
        <p:spPr>
          <a:xfrm>
            <a:off x="548640" y="2240280"/>
            <a:ext cx="32004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3200400" cy="2743200"/>
          </a:xfrm>
          <a:prstGeom prst="rect">
            <a:avLst/>
          </a:prstGeom>
          <a:noFill/>
        </p:spPr>
        <p:txBody>
          <a:bodyPr wrap="square"/>
          <a:lstStyle/>
          <a:p>
            <a:pPr algn="l"/>
            <a:r>
              <a:rPr sz="1100" b="0" i="0">
                <a:solidFill>
                  <a:srgbClr val="1A1A2E"/>
                </a:solidFill>
              </a:rPr>
              <a:t>Detecta anomalías y recomienda acciones. El operador decide y ejecuta. El sistema aprende del feedback.</a:t>
            </a:r>
          </a:p>
        </p:txBody>
      </p:sp>
      <p:sp>
        <p:nvSpPr>
          <p:cNvPr id="11" name="Rectangle 10"/>
          <p:cNvSpPr/>
          <p:nvPr/>
        </p:nvSpPr>
        <p:spPr>
          <a:xfrm>
            <a:off x="548640" y="5120640"/>
            <a:ext cx="320040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174304"/>
            <a:ext cx="3200400" cy="228600"/>
          </a:xfrm>
          <a:prstGeom prst="rect">
            <a:avLst/>
          </a:prstGeom>
          <a:noFill/>
        </p:spPr>
        <p:txBody>
          <a:bodyPr wrap="square"/>
          <a:lstStyle/>
          <a:p>
            <a:pPr algn="l"/>
            <a:r>
              <a:rPr sz="1000" b="1" i="0">
                <a:solidFill>
                  <a:srgbClr val="FFFFFF"/>
                </a:solidFill>
              </a:rPr>
              <a:t>Disponible hoy</a:t>
            </a:r>
          </a:p>
        </p:txBody>
      </p:sp>
      <p:sp>
        <p:nvSpPr>
          <p:cNvPr id="13" name="Rectangle 12"/>
          <p:cNvSpPr/>
          <p:nvPr/>
        </p:nvSpPr>
        <p:spPr>
          <a:xfrm>
            <a:off x="4069080" y="128016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69080" y="128016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77840" y="1371600"/>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444752"/>
            <a:ext cx="365760" cy="228600"/>
          </a:xfrm>
          <a:prstGeom prst="rect">
            <a:avLst/>
          </a:prstGeom>
          <a:noFill/>
        </p:spPr>
        <p:txBody>
          <a:bodyPr wrap="square"/>
          <a:lstStyle/>
          <a:p>
            <a:pPr algn="ctr"/>
            <a:r>
              <a:rPr sz="1600" b="1" i="0">
                <a:solidFill>
                  <a:srgbClr val="FFFFFF"/>
                </a:solidFill>
              </a:rPr>
              <a:t>2</a:t>
            </a:r>
          </a:p>
        </p:txBody>
      </p:sp>
      <p:sp>
        <p:nvSpPr>
          <p:cNvPr id="17" name="TextBox 16"/>
          <p:cNvSpPr txBox="1"/>
          <p:nvPr/>
        </p:nvSpPr>
        <p:spPr>
          <a:xfrm>
            <a:off x="4160520" y="1828800"/>
            <a:ext cx="3200400" cy="365760"/>
          </a:xfrm>
          <a:prstGeom prst="rect">
            <a:avLst/>
          </a:prstGeom>
          <a:noFill/>
        </p:spPr>
        <p:txBody>
          <a:bodyPr wrap="square"/>
          <a:lstStyle/>
          <a:p>
            <a:pPr algn="l"/>
            <a:r>
              <a:rPr sz="1300" b="1" i="0">
                <a:solidFill>
                  <a:srgbClr val="1A1A2E"/>
                </a:solidFill>
              </a:rPr>
              <a:t>v2 — Copiloto Proactivo</a:t>
            </a:r>
          </a:p>
        </p:txBody>
      </p:sp>
      <p:sp>
        <p:nvSpPr>
          <p:cNvPr id="18" name="Rectangle 17"/>
          <p:cNvSpPr/>
          <p:nvPr/>
        </p:nvSpPr>
        <p:spPr>
          <a:xfrm>
            <a:off x="4160520" y="2240280"/>
            <a:ext cx="32004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2331720"/>
            <a:ext cx="3200400" cy="2743200"/>
          </a:xfrm>
          <a:prstGeom prst="rect">
            <a:avLst/>
          </a:prstGeom>
          <a:noFill/>
        </p:spPr>
        <p:txBody>
          <a:bodyPr wrap="square"/>
          <a:lstStyle/>
          <a:p>
            <a:pPr algn="l"/>
            <a:r>
              <a:rPr sz="1100" b="0" i="0">
                <a:solidFill>
                  <a:srgbClr val="1A1A2E"/>
                </a:solidFill>
              </a:rPr>
              <a:t>Anticipa problemas antes de que ocurran. Briefings automáticos. Contexto llega sin pedirlo. Orchestra simula alternativas.</a:t>
            </a:r>
          </a:p>
        </p:txBody>
      </p:sp>
      <p:sp>
        <p:nvSpPr>
          <p:cNvPr id="20" name="Rectangle 19"/>
          <p:cNvSpPr/>
          <p:nvPr/>
        </p:nvSpPr>
        <p:spPr>
          <a:xfrm>
            <a:off x="4160520" y="5120640"/>
            <a:ext cx="320040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60" y="5174304"/>
            <a:ext cx="3200400" cy="228600"/>
          </a:xfrm>
          <a:prstGeom prst="rect">
            <a:avLst/>
          </a:prstGeom>
          <a:noFill/>
        </p:spPr>
        <p:txBody>
          <a:bodyPr wrap="square"/>
          <a:lstStyle/>
          <a:p>
            <a:pPr algn="l"/>
            <a:r>
              <a:rPr sz="1000" b="1" i="0">
                <a:solidFill>
                  <a:srgbClr val="FFFFFF"/>
                </a:solidFill>
              </a:rPr>
              <a:t>En construcción</a:t>
            </a:r>
          </a:p>
        </p:txBody>
      </p:sp>
      <p:sp>
        <p:nvSpPr>
          <p:cNvPr id="22" name="Rectangle 21"/>
          <p:cNvSpPr/>
          <p:nvPr/>
        </p:nvSpPr>
        <p:spPr>
          <a:xfrm>
            <a:off x="7680960" y="1280160"/>
            <a:ext cx="3383280" cy="42058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1280160"/>
            <a:ext cx="338328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20" y="1371600"/>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20" y="1444752"/>
            <a:ext cx="365760" cy="228600"/>
          </a:xfrm>
          <a:prstGeom prst="rect">
            <a:avLst/>
          </a:prstGeom>
          <a:noFill/>
        </p:spPr>
        <p:txBody>
          <a:bodyPr wrap="square"/>
          <a:lstStyle/>
          <a:p>
            <a:pPr algn="ctr"/>
            <a:r>
              <a:rPr sz="1600" b="1" i="0">
                <a:solidFill>
                  <a:srgbClr val="FFFFFF"/>
                </a:solidFill>
              </a:rPr>
              <a:t>3</a:t>
            </a:r>
          </a:p>
        </p:txBody>
      </p:sp>
      <p:sp>
        <p:nvSpPr>
          <p:cNvPr id="26" name="TextBox 25"/>
          <p:cNvSpPr txBox="1"/>
          <p:nvPr/>
        </p:nvSpPr>
        <p:spPr>
          <a:xfrm>
            <a:off x="7772400" y="1828800"/>
            <a:ext cx="3200400" cy="365760"/>
          </a:xfrm>
          <a:prstGeom prst="rect">
            <a:avLst/>
          </a:prstGeom>
          <a:noFill/>
        </p:spPr>
        <p:txBody>
          <a:bodyPr wrap="square"/>
          <a:lstStyle/>
          <a:p>
            <a:pPr algn="l"/>
            <a:r>
              <a:rPr sz="1300" b="1" i="0">
                <a:solidFill>
                  <a:srgbClr val="1A1A2E"/>
                </a:solidFill>
              </a:rPr>
              <a:t>v3 — Cerebro Autónomo</a:t>
            </a:r>
          </a:p>
        </p:txBody>
      </p:sp>
      <p:sp>
        <p:nvSpPr>
          <p:cNvPr id="27" name="Rectangle 26"/>
          <p:cNvSpPr/>
          <p:nvPr/>
        </p:nvSpPr>
        <p:spPr>
          <a:xfrm>
            <a:off x="7772400" y="2240280"/>
            <a:ext cx="32004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2331720"/>
            <a:ext cx="3200400" cy="2743200"/>
          </a:xfrm>
          <a:prstGeom prst="rect">
            <a:avLst/>
          </a:prstGeom>
          <a:noFill/>
        </p:spPr>
        <p:txBody>
          <a:bodyPr wrap="square"/>
          <a:lstStyle/>
          <a:p>
            <a:pPr algn="l"/>
            <a:r>
              <a:rPr sz="1100" b="0" i="0">
                <a:solidFill>
                  <a:srgbClr val="1A1A2E"/>
                </a:solidFill>
              </a:rPr>
              <a:t>Machine-to-Machine: CORE habla directo con equipos, sensores y sistemas. La operación se auto-optimiza. Mínima intervención humana.</a:t>
            </a:r>
          </a:p>
        </p:txBody>
      </p:sp>
      <p:sp>
        <p:nvSpPr>
          <p:cNvPr id="29" name="Rectangle 28"/>
          <p:cNvSpPr/>
          <p:nvPr/>
        </p:nvSpPr>
        <p:spPr>
          <a:xfrm>
            <a:off x="7772400" y="5120640"/>
            <a:ext cx="3200400" cy="29260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5174304"/>
            <a:ext cx="3200400" cy="228600"/>
          </a:xfrm>
          <a:prstGeom prst="rect">
            <a:avLst/>
          </a:prstGeom>
          <a:noFill/>
        </p:spPr>
        <p:txBody>
          <a:bodyPr wrap="square"/>
          <a:lstStyle/>
          <a:p>
            <a:pPr algn="l"/>
            <a:r>
              <a:rPr sz="1000" b="1" i="0">
                <a:solidFill>
                  <a:srgbClr val="FFFFFF"/>
                </a:solidFill>
              </a:rPr>
              <a:t>Horizonte</a:t>
            </a:r>
          </a:p>
        </p:txBody>
      </p:sp>
      <p:sp>
        <p:nvSpPr>
          <p:cNvPr id="31" name="TextBox 30"/>
          <p:cNvSpPr txBox="1"/>
          <p:nvPr/>
        </p:nvSpPr>
        <p:spPr>
          <a:xfrm>
            <a:off x="11643055" y="6537960"/>
            <a:ext cx="457200" cy="228600"/>
          </a:xfrm>
          <a:prstGeom prst="rect">
            <a:avLst/>
          </a:prstGeom>
          <a:noFill/>
        </p:spPr>
        <p:txBody>
          <a:bodyPr wrap="square"/>
          <a:lstStyle/>
          <a:p>
            <a:pPr algn="l"/>
            <a:r>
              <a:rPr sz="1000" b="0" i="0">
                <a:solidFill>
                  <a:srgbClr val="6B7280"/>
                </a:solidFil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000000" cy="502920"/>
          </a:xfrm>
          <a:prstGeom prst="rect">
            <a:avLst/>
          </a:prstGeom>
          <a:noFill/>
        </p:spPr>
        <p:txBody>
          <a:bodyPr wrap="square"/>
          <a:lstStyle/>
          <a:p>
            <a:pPr algn="l"/>
            <a:r>
              <a:rPr sz="2200" b="1" i="0">
                <a:solidFill>
                  <a:srgbClr val="1A1A2E"/>
                </a:solidFill>
              </a:rPr>
              <a:t>Hoja de Ruta — Plan Idemax</a:t>
            </a:r>
          </a:p>
        </p:txBody>
      </p:sp>
      <p:sp>
        <p:nvSpPr>
          <p:cNvPr id="3" name="TextBox 2"/>
          <p:cNvSpPr txBox="1"/>
          <p:nvPr/>
        </p:nvSpPr>
        <p:spPr>
          <a:xfrm>
            <a:off x="5257200" y="292608"/>
            <a:ext cx="1371600" cy="274320"/>
          </a:xfrm>
          <a:prstGeom prst="rect">
            <a:avLst/>
          </a:prstGeom>
          <a:noFill/>
        </p:spPr>
        <p:txBody>
          <a:bodyPr wrap="square"/>
          <a:lstStyle/>
          <a:p>
            <a:pPr algn="l"/>
            <a:r>
              <a:rPr sz="900" b="1" i="0">
                <a:solidFill>
                  <a:srgbClr val="0891B2"/>
                </a:solidFill>
              </a:rPr>
              <a:t>SEMANA 5</a:t>
            </a:r>
          </a:p>
        </p:txBody>
      </p:sp>
      <p:sp>
        <p:nvSpPr>
          <p:cNvPr id="4" name="TextBox 3"/>
          <p:cNvSpPr txBox="1"/>
          <p:nvPr/>
        </p:nvSpPr>
        <p:spPr>
          <a:xfrm>
            <a:off x="457200" y="768096"/>
            <a:ext cx="2560320" cy="228600"/>
          </a:xfrm>
          <a:prstGeom prst="rect">
            <a:avLst/>
          </a:prstGeom>
          <a:noFill/>
        </p:spPr>
        <p:txBody>
          <a:bodyPr wrap="square"/>
          <a:lstStyle/>
          <a:p>
            <a:pPr algn="ctr"/>
            <a:r>
              <a:rPr sz="1000" b="0" i="0">
                <a:solidFill>
                  <a:srgbClr val="6B7280"/>
                </a:solidFill>
              </a:rPr>
              <a:t>Sem 1</a:t>
            </a:r>
          </a:p>
        </p:txBody>
      </p:sp>
      <p:sp>
        <p:nvSpPr>
          <p:cNvPr id="5" name="TextBox 4"/>
          <p:cNvSpPr txBox="1"/>
          <p:nvPr/>
        </p:nvSpPr>
        <p:spPr>
          <a:xfrm>
            <a:off x="3200400" y="768096"/>
            <a:ext cx="2560320" cy="228600"/>
          </a:xfrm>
          <a:prstGeom prst="rect">
            <a:avLst/>
          </a:prstGeom>
          <a:noFill/>
        </p:spPr>
        <p:txBody>
          <a:bodyPr wrap="square"/>
          <a:lstStyle/>
          <a:p>
            <a:pPr algn="ctr"/>
            <a:r>
              <a:rPr sz="1000" b="0" i="0">
                <a:solidFill>
                  <a:srgbClr val="6B7280"/>
                </a:solidFill>
              </a:rPr>
              <a:t>Sem 2–3</a:t>
            </a:r>
          </a:p>
        </p:txBody>
      </p:sp>
      <p:sp>
        <p:nvSpPr>
          <p:cNvPr id="6" name="TextBox 5"/>
          <p:cNvSpPr txBox="1"/>
          <p:nvPr/>
        </p:nvSpPr>
        <p:spPr>
          <a:xfrm>
            <a:off x="5943600" y="768096"/>
            <a:ext cx="2560320" cy="228600"/>
          </a:xfrm>
          <a:prstGeom prst="rect">
            <a:avLst/>
          </a:prstGeom>
          <a:noFill/>
        </p:spPr>
        <p:txBody>
          <a:bodyPr wrap="square"/>
          <a:lstStyle/>
          <a:p>
            <a:pPr algn="ctr"/>
            <a:r>
              <a:rPr sz="1000" b="1" i="0">
                <a:solidFill>
                  <a:srgbClr val="0891B2"/>
                </a:solidFill>
              </a:rPr>
              <a:t>← Estamos aquí (Sem 5)</a:t>
            </a:r>
          </a:p>
        </p:txBody>
      </p:sp>
      <p:sp>
        <p:nvSpPr>
          <p:cNvPr id="7" name="TextBox 6"/>
          <p:cNvSpPr txBox="1"/>
          <p:nvPr/>
        </p:nvSpPr>
        <p:spPr>
          <a:xfrm>
            <a:off x="8686800" y="768096"/>
            <a:ext cx="2560320" cy="228600"/>
          </a:xfrm>
          <a:prstGeom prst="rect">
            <a:avLst/>
          </a:prstGeom>
          <a:noFill/>
        </p:spPr>
        <p:txBody>
          <a:bodyPr wrap="square"/>
          <a:lstStyle/>
          <a:p>
            <a:pPr algn="ctr"/>
            <a:r>
              <a:rPr sz="1000" b="0" i="0">
                <a:solidFill>
                  <a:srgbClr val="6B7280"/>
                </a:solidFill>
              </a:rPr>
              <a:t>Sem 9–10</a:t>
            </a:r>
          </a:p>
        </p:txBody>
      </p:sp>
      <p:sp>
        <p:nvSpPr>
          <p:cNvPr id="8" name="Rectangle 7"/>
          <p:cNvSpPr/>
          <p:nvPr/>
        </p:nvSpPr>
        <p:spPr>
          <a:xfrm>
            <a:off x="457200" y="996696"/>
            <a:ext cx="10972800" cy="36576"/>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2560320" cy="3840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256032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188720"/>
            <a:ext cx="2377440" cy="228600"/>
          </a:xfrm>
          <a:prstGeom prst="rect">
            <a:avLst/>
          </a:prstGeom>
          <a:noFill/>
        </p:spPr>
        <p:txBody>
          <a:bodyPr wrap="square"/>
          <a:lstStyle/>
          <a:p>
            <a:pPr algn="l"/>
            <a:r>
              <a:rPr sz="900" b="1" i="0">
                <a:solidFill>
                  <a:srgbClr val="16A34A"/>
                </a:solidFill>
              </a:rPr>
              <a:t>Etapa 1</a:t>
            </a:r>
          </a:p>
        </p:txBody>
      </p:sp>
      <p:sp>
        <p:nvSpPr>
          <p:cNvPr id="12" name="TextBox 11"/>
          <p:cNvSpPr txBox="1"/>
          <p:nvPr/>
        </p:nvSpPr>
        <p:spPr>
          <a:xfrm>
            <a:off x="548640" y="1463040"/>
            <a:ext cx="2377440" cy="292608"/>
          </a:xfrm>
          <a:prstGeom prst="rect">
            <a:avLst/>
          </a:prstGeom>
          <a:noFill/>
        </p:spPr>
        <p:txBody>
          <a:bodyPr wrap="square"/>
          <a:lstStyle/>
          <a:p>
            <a:pPr algn="l"/>
            <a:r>
              <a:rPr sz="1600" b="1" i="0">
                <a:solidFill>
                  <a:srgbClr val="1A1A2E"/>
                </a:solidFill>
              </a:rPr>
              <a:t>Inmersión</a:t>
            </a:r>
          </a:p>
        </p:txBody>
      </p:sp>
      <p:sp>
        <p:nvSpPr>
          <p:cNvPr id="13" name="Rectangle 12"/>
          <p:cNvSpPr/>
          <p:nvPr/>
        </p:nvSpPr>
        <p:spPr>
          <a:xfrm>
            <a:off x="548640" y="1828800"/>
            <a:ext cx="237744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20240"/>
            <a:ext cx="2377440" cy="2194560"/>
          </a:xfrm>
          <a:prstGeom prst="rect">
            <a:avLst/>
          </a:prstGeom>
          <a:noFill/>
        </p:spPr>
        <p:txBody>
          <a:bodyPr wrap="square"/>
          <a:lstStyle/>
          <a:p>
            <a:pPr algn="l"/>
            <a:r>
              <a:rPr sz="1000" b="0" i="0">
                <a:solidFill>
                  <a:srgbClr val="1A1A2E"/>
                </a:solidFill>
              </a:rPr>
              <a:t>Racional estratégico. 4 entrevistas, benchmark, alineación CEO/CTO/COO.</a:t>
            </a:r>
          </a:p>
        </p:txBody>
      </p:sp>
      <p:sp>
        <p:nvSpPr>
          <p:cNvPr id="15" name="Rectangle 14"/>
          <p:cNvSpPr/>
          <p:nvPr/>
        </p:nvSpPr>
        <p:spPr>
          <a:xfrm>
            <a:off x="548640" y="4480560"/>
            <a:ext cx="237744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34424"/>
            <a:ext cx="2377440" cy="228600"/>
          </a:xfrm>
          <a:prstGeom prst="rect">
            <a:avLst/>
          </a:prstGeom>
          <a:noFill/>
        </p:spPr>
        <p:txBody>
          <a:bodyPr wrap="square"/>
          <a:lstStyle/>
          <a:p>
            <a:pPr algn="l"/>
            <a:r>
              <a:rPr sz="900" b="1" i="0">
                <a:solidFill>
                  <a:srgbClr val="FFFFFF"/>
                </a:solidFill>
              </a:rPr>
              <a:t>COMPLETADA</a:t>
            </a:r>
          </a:p>
        </p:txBody>
      </p:sp>
      <p:sp>
        <p:nvSpPr>
          <p:cNvPr id="17" name="Rectangle 16"/>
          <p:cNvSpPr/>
          <p:nvPr/>
        </p:nvSpPr>
        <p:spPr>
          <a:xfrm>
            <a:off x="3200400" y="1097280"/>
            <a:ext cx="2560320" cy="3840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0" y="1097280"/>
            <a:ext cx="256032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0" y="1188720"/>
            <a:ext cx="2377440" cy="228600"/>
          </a:xfrm>
          <a:prstGeom prst="rect">
            <a:avLst/>
          </a:prstGeom>
          <a:noFill/>
        </p:spPr>
        <p:txBody>
          <a:bodyPr wrap="square"/>
          <a:lstStyle/>
          <a:p>
            <a:pPr algn="l"/>
            <a:r>
              <a:rPr sz="900" b="1" i="0">
                <a:solidFill>
                  <a:srgbClr val="16A34A"/>
                </a:solidFill>
              </a:rPr>
              <a:t>Etapa 2</a:t>
            </a:r>
          </a:p>
        </p:txBody>
      </p:sp>
      <p:sp>
        <p:nvSpPr>
          <p:cNvPr id="20" name="TextBox 19"/>
          <p:cNvSpPr txBox="1"/>
          <p:nvPr/>
        </p:nvSpPr>
        <p:spPr>
          <a:xfrm>
            <a:off x="3291840" y="1463040"/>
            <a:ext cx="2377440" cy="292608"/>
          </a:xfrm>
          <a:prstGeom prst="rect">
            <a:avLst/>
          </a:prstGeom>
          <a:noFill/>
        </p:spPr>
        <p:txBody>
          <a:bodyPr wrap="square"/>
          <a:lstStyle/>
          <a:p>
            <a:pPr algn="l"/>
            <a:r>
              <a:rPr sz="1600" b="1" i="0">
                <a:solidFill>
                  <a:srgbClr val="1A1A2E"/>
                </a:solidFill>
              </a:rPr>
              <a:t>Experiencia</a:t>
            </a:r>
          </a:p>
        </p:txBody>
      </p:sp>
      <p:sp>
        <p:nvSpPr>
          <p:cNvPr id="21" name="Rectangle 20"/>
          <p:cNvSpPr/>
          <p:nvPr/>
        </p:nvSpPr>
        <p:spPr>
          <a:xfrm>
            <a:off x="3291840" y="1828800"/>
            <a:ext cx="237744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1920240"/>
            <a:ext cx="2377440" cy="2194560"/>
          </a:xfrm>
          <a:prstGeom prst="rect">
            <a:avLst/>
          </a:prstGeom>
          <a:noFill/>
        </p:spPr>
        <p:txBody>
          <a:bodyPr wrap="square"/>
          <a:lstStyle/>
          <a:p>
            <a:pPr algn="l"/>
            <a:r>
              <a:rPr sz="1000" b="0" i="0">
                <a:solidFill>
                  <a:srgbClr val="1A1A2E"/>
                </a:solidFill>
              </a:rPr>
              <a:t>8 casos de uso, 4 entrevistas usuarios, framework refinado. Touchpoint 1 completado.</a:t>
            </a:r>
          </a:p>
        </p:txBody>
      </p:sp>
      <p:sp>
        <p:nvSpPr>
          <p:cNvPr id="23" name="Rectangle 22"/>
          <p:cNvSpPr/>
          <p:nvPr/>
        </p:nvSpPr>
        <p:spPr>
          <a:xfrm>
            <a:off x="3291840" y="4480560"/>
            <a:ext cx="237744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4534424"/>
            <a:ext cx="2377440" cy="228600"/>
          </a:xfrm>
          <a:prstGeom prst="rect">
            <a:avLst/>
          </a:prstGeom>
          <a:noFill/>
        </p:spPr>
        <p:txBody>
          <a:bodyPr wrap="square"/>
          <a:lstStyle/>
          <a:p>
            <a:pPr algn="l"/>
            <a:r>
              <a:rPr sz="900" b="1" i="0">
                <a:solidFill>
                  <a:srgbClr val="FFFFFF"/>
                </a:solidFill>
              </a:rPr>
              <a:t>COMPLETADA</a:t>
            </a:r>
          </a:p>
        </p:txBody>
      </p:sp>
      <p:sp>
        <p:nvSpPr>
          <p:cNvPr id="25" name="Rectangle 24"/>
          <p:cNvSpPr/>
          <p:nvPr/>
        </p:nvSpPr>
        <p:spPr>
          <a:xfrm>
            <a:off x="5943600" y="1097280"/>
            <a:ext cx="2560320" cy="3840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097280"/>
            <a:ext cx="256032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1188720"/>
            <a:ext cx="2377440" cy="228600"/>
          </a:xfrm>
          <a:prstGeom prst="rect">
            <a:avLst/>
          </a:prstGeom>
          <a:noFill/>
        </p:spPr>
        <p:txBody>
          <a:bodyPr wrap="square"/>
          <a:lstStyle/>
          <a:p>
            <a:pPr algn="l"/>
            <a:r>
              <a:rPr sz="900" b="1" i="0">
                <a:solidFill>
                  <a:srgbClr val="D97706"/>
                </a:solidFill>
              </a:rPr>
              <a:t>Etapa 3</a:t>
            </a:r>
          </a:p>
        </p:txBody>
      </p:sp>
      <p:sp>
        <p:nvSpPr>
          <p:cNvPr id="28" name="TextBox 27"/>
          <p:cNvSpPr txBox="1"/>
          <p:nvPr/>
        </p:nvSpPr>
        <p:spPr>
          <a:xfrm>
            <a:off x="6035040" y="1463040"/>
            <a:ext cx="2377440" cy="292608"/>
          </a:xfrm>
          <a:prstGeom prst="rect">
            <a:avLst/>
          </a:prstGeom>
          <a:noFill/>
        </p:spPr>
        <p:txBody>
          <a:bodyPr wrap="square"/>
          <a:lstStyle/>
          <a:p>
            <a:pPr algn="l"/>
            <a:r>
              <a:rPr sz="1600" b="1" i="0">
                <a:solidFill>
                  <a:srgbClr val="1A1A2E"/>
                </a:solidFill>
              </a:rPr>
              <a:t>Lineamientos</a:t>
            </a:r>
          </a:p>
        </p:txBody>
      </p:sp>
      <p:sp>
        <p:nvSpPr>
          <p:cNvPr id="29" name="Rectangle 28"/>
          <p:cNvSpPr/>
          <p:nvPr/>
        </p:nvSpPr>
        <p:spPr>
          <a:xfrm>
            <a:off x="6035040" y="1828800"/>
            <a:ext cx="237744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1920240"/>
            <a:ext cx="2377440" cy="2194560"/>
          </a:xfrm>
          <a:prstGeom prst="rect">
            <a:avLst/>
          </a:prstGeom>
          <a:noFill/>
        </p:spPr>
        <p:txBody>
          <a:bodyPr wrap="square"/>
          <a:lstStyle/>
          <a:p>
            <a:pPr algn="l"/>
            <a:r>
              <a:rPr sz="1000" b="0" i="0">
                <a:solidFill>
                  <a:srgbClr val="1A1A2E"/>
                </a:solidFill>
              </a:rPr>
              <a:t>Sistema de diseño, wireframes caso piloto, moodboards por pilar × dominio, prototipo.</a:t>
            </a:r>
          </a:p>
        </p:txBody>
      </p:sp>
      <p:sp>
        <p:nvSpPr>
          <p:cNvPr id="31" name="Rectangle 30"/>
          <p:cNvSpPr/>
          <p:nvPr/>
        </p:nvSpPr>
        <p:spPr>
          <a:xfrm>
            <a:off x="6035040" y="4480560"/>
            <a:ext cx="237744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0" y="4534424"/>
            <a:ext cx="2377440" cy="228600"/>
          </a:xfrm>
          <a:prstGeom prst="rect">
            <a:avLst/>
          </a:prstGeom>
          <a:noFill/>
        </p:spPr>
        <p:txBody>
          <a:bodyPr wrap="square"/>
          <a:lstStyle/>
          <a:p>
            <a:pPr algn="l"/>
            <a:r>
              <a:rPr sz="900" b="1" i="0">
                <a:solidFill>
                  <a:srgbClr val="FFFFFF"/>
                </a:solidFill>
              </a:rPr>
              <a:t>EN CURSO — SEM 5</a:t>
            </a:r>
          </a:p>
        </p:txBody>
      </p:sp>
      <p:sp>
        <p:nvSpPr>
          <p:cNvPr id="33" name="Rectangle 32"/>
          <p:cNvSpPr/>
          <p:nvPr/>
        </p:nvSpPr>
        <p:spPr>
          <a:xfrm>
            <a:off x="8686800" y="1097280"/>
            <a:ext cx="2560320" cy="3840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6800" y="1097280"/>
            <a:ext cx="256032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78240" y="1188720"/>
            <a:ext cx="2377440" cy="228600"/>
          </a:xfrm>
          <a:prstGeom prst="rect">
            <a:avLst/>
          </a:prstGeom>
          <a:noFill/>
        </p:spPr>
        <p:txBody>
          <a:bodyPr wrap="square"/>
          <a:lstStyle/>
          <a:p>
            <a:pPr algn="l"/>
            <a:r>
              <a:rPr sz="900" b="1" i="0">
                <a:solidFill>
                  <a:srgbClr val="6B7280"/>
                </a:solidFill>
              </a:rPr>
              <a:t>Etapa 4</a:t>
            </a:r>
          </a:p>
        </p:txBody>
      </p:sp>
      <p:sp>
        <p:nvSpPr>
          <p:cNvPr id="36" name="TextBox 35"/>
          <p:cNvSpPr txBox="1"/>
          <p:nvPr/>
        </p:nvSpPr>
        <p:spPr>
          <a:xfrm>
            <a:off x="8778240" y="1463040"/>
            <a:ext cx="2377440" cy="292608"/>
          </a:xfrm>
          <a:prstGeom prst="rect">
            <a:avLst/>
          </a:prstGeom>
          <a:noFill/>
        </p:spPr>
        <p:txBody>
          <a:bodyPr wrap="square"/>
          <a:lstStyle/>
          <a:p>
            <a:pPr algn="l"/>
            <a:r>
              <a:rPr sz="1600" b="1" i="0">
                <a:solidFill>
                  <a:srgbClr val="1A1A2E"/>
                </a:solidFill>
              </a:rPr>
              <a:t>Comunicación</a:t>
            </a:r>
          </a:p>
        </p:txBody>
      </p:sp>
      <p:sp>
        <p:nvSpPr>
          <p:cNvPr id="37" name="Rectangle 36"/>
          <p:cNvSpPr/>
          <p:nvPr/>
        </p:nvSpPr>
        <p:spPr>
          <a:xfrm>
            <a:off x="8778240" y="1828800"/>
            <a:ext cx="2377440" cy="3657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0" y="1920240"/>
            <a:ext cx="2377440" cy="2194560"/>
          </a:xfrm>
          <a:prstGeom prst="rect">
            <a:avLst/>
          </a:prstGeom>
          <a:noFill/>
        </p:spPr>
        <p:txBody>
          <a:bodyPr wrap="square"/>
          <a:lstStyle/>
          <a:p>
            <a:pPr algn="l"/>
            <a:r>
              <a:rPr sz="1000" b="0" i="0">
                <a:solidFill>
                  <a:srgbClr val="1A1A2E"/>
                </a:solidFill>
              </a:rPr>
              <a:t>Narrativa estratégica, mensajes clave por audiencia, propuesta de marca CORE.</a:t>
            </a:r>
          </a:p>
        </p:txBody>
      </p:sp>
      <p:sp>
        <p:nvSpPr>
          <p:cNvPr id="39" name="Rectangle 38"/>
          <p:cNvSpPr/>
          <p:nvPr/>
        </p:nvSpPr>
        <p:spPr>
          <a:xfrm>
            <a:off x="8778240" y="4480560"/>
            <a:ext cx="2377440" cy="3657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4534424"/>
            <a:ext cx="2377440" cy="228600"/>
          </a:xfrm>
          <a:prstGeom prst="rect">
            <a:avLst/>
          </a:prstGeom>
          <a:noFill/>
        </p:spPr>
        <p:txBody>
          <a:bodyPr wrap="square"/>
          <a:lstStyle/>
          <a:p>
            <a:pPr algn="l"/>
            <a:r>
              <a:rPr sz="900" b="1" i="0">
                <a:solidFill>
                  <a:srgbClr val="FFFFFF"/>
                </a:solidFill>
              </a:rPr>
              <a:t>PENDIENTE</a:t>
            </a:r>
          </a:p>
        </p:txBody>
      </p:sp>
      <p:sp>
        <p:nvSpPr>
          <p:cNvPr id="41" name="Rectangle 40"/>
          <p:cNvSpPr/>
          <p:nvPr/>
        </p:nvSpPr>
        <p:spPr>
          <a:xfrm>
            <a:off x="457200" y="5029200"/>
            <a:ext cx="5394960" cy="12801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5029200"/>
            <a:ext cx="539496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120640"/>
            <a:ext cx="5212080" cy="228600"/>
          </a:xfrm>
          <a:prstGeom prst="rect">
            <a:avLst/>
          </a:prstGeom>
          <a:noFill/>
        </p:spPr>
        <p:txBody>
          <a:bodyPr wrap="square"/>
          <a:lstStyle/>
          <a:p>
            <a:pPr algn="l"/>
            <a:r>
              <a:rPr sz="1100" b="1" i="0">
                <a:solidFill>
                  <a:srgbClr val="0891B2"/>
                </a:solidFill>
              </a:rPr>
              <a:t>Siguiente paso</a:t>
            </a:r>
          </a:p>
        </p:txBody>
      </p:sp>
      <p:sp>
        <p:nvSpPr>
          <p:cNvPr id="44" name="TextBox 43"/>
          <p:cNvSpPr txBox="1"/>
          <p:nvPr/>
        </p:nvSpPr>
        <p:spPr>
          <a:xfrm>
            <a:off x="548640" y="5394960"/>
            <a:ext cx="5212080" cy="777240"/>
          </a:xfrm>
          <a:prstGeom prst="rect">
            <a:avLst/>
          </a:prstGeom>
          <a:noFill/>
        </p:spPr>
        <p:txBody>
          <a:bodyPr wrap="square"/>
          <a:lstStyle/>
          <a:p>
            <a:pPr algn="l"/>
            <a:r>
              <a:rPr sz="1000" b="0" i="0">
                <a:solidFill>
                  <a:srgbClr val="1A1A2E"/>
                </a:solidFill>
              </a:rPr>
              <a:t>Moodboards concretos por pilar × dominio showcase.
Prototipo del Caso #1 (Crisis) con flujo D→A→R completo.</a:t>
            </a:r>
          </a:p>
        </p:txBody>
      </p:sp>
      <p:sp>
        <p:nvSpPr>
          <p:cNvPr id="45" name="Rectangle 44"/>
          <p:cNvSpPr/>
          <p:nvPr/>
        </p:nvSpPr>
        <p:spPr>
          <a:xfrm>
            <a:off x="6035040" y="5029200"/>
            <a:ext cx="5669280" cy="12801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035040" y="5029200"/>
            <a:ext cx="5669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26480" y="5120640"/>
            <a:ext cx="5486400" cy="228600"/>
          </a:xfrm>
          <a:prstGeom prst="rect">
            <a:avLst/>
          </a:prstGeom>
          <a:noFill/>
        </p:spPr>
        <p:txBody>
          <a:bodyPr wrap="square"/>
          <a:lstStyle/>
          <a:p>
            <a:pPr algn="l"/>
            <a:r>
              <a:rPr sz="1100" b="1" i="0">
                <a:solidFill>
                  <a:srgbClr val="D97706"/>
                </a:solidFill>
              </a:rPr>
              <a:t>Gap a cerrar</a:t>
            </a:r>
          </a:p>
        </p:txBody>
      </p:sp>
      <p:sp>
        <p:nvSpPr>
          <p:cNvPr id="48" name="TextBox 47"/>
          <p:cNvSpPr txBox="1"/>
          <p:nvPr/>
        </p:nvSpPr>
        <p:spPr>
          <a:xfrm>
            <a:off x="6126480" y="5394960"/>
            <a:ext cx="5486400" cy="777240"/>
          </a:xfrm>
          <a:prstGeom prst="rect">
            <a:avLst/>
          </a:prstGeom>
          <a:noFill/>
        </p:spPr>
        <p:txBody>
          <a:bodyPr wrap="square"/>
          <a:lstStyle/>
          <a:p>
            <a:pPr algn="l"/>
            <a:r>
              <a:rPr sz="1000" b="0" i="0">
                <a:solidFill>
                  <a:srgbClr val="1A1A2E"/>
                </a:solidFill>
              </a:rPr>
              <a:t>Más entrevistas con usuarios finales en mina. Los 4 canvas actuales son señal, no evidencia concluyente.</a:t>
            </a:r>
          </a:p>
        </p:txBody>
      </p:sp>
      <p:sp>
        <p:nvSpPr>
          <p:cNvPr id="49" name="TextBox 48"/>
          <p:cNvSpPr txBox="1"/>
          <p:nvPr/>
        </p:nvSpPr>
        <p:spPr>
          <a:xfrm>
            <a:off x="11643055" y="6537960"/>
            <a:ext cx="457200" cy="228600"/>
          </a:xfrm>
          <a:prstGeom prst="rect">
            <a:avLst/>
          </a:prstGeom>
          <a:noFill/>
        </p:spPr>
        <p:txBody>
          <a:bodyPr wrap="square"/>
          <a:lstStyle/>
          <a:p>
            <a:pPr algn="l"/>
            <a:r>
              <a:rPr sz="1000" b="0" i="0">
                <a:solidFill>
                  <a:srgbClr val="6B7280"/>
                </a:solidFil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lstStyle/>
          <a:p>
            <a:pPr algn="l"/>
            <a:r>
              <a:rPr sz="2200" b="1" i="0">
                <a:solidFill>
                  <a:srgbClr val="1A1A2E"/>
                </a:solidFill>
              </a:rPr>
              <a:t>Próximos Pasos</a:t>
            </a:r>
          </a:p>
        </p:txBody>
      </p:sp>
      <p:sp>
        <p:nvSpPr>
          <p:cNvPr id="3" name="TextBox 2"/>
          <p:cNvSpPr txBox="1"/>
          <p:nvPr/>
        </p:nvSpPr>
        <p:spPr>
          <a:xfrm>
            <a:off x="3657200" y="292608"/>
            <a:ext cx="1097280" cy="274320"/>
          </a:xfrm>
          <a:prstGeom prst="rect">
            <a:avLst/>
          </a:prstGeom>
          <a:noFill/>
        </p:spPr>
        <p:txBody>
          <a:bodyPr wrap="square"/>
          <a:lstStyle/>
          <a:p>
            <a:pPr algn="l"/>
            <a:r>
              <a:rPr sz="900" b="1" i="0">
                <a:solidFill>
                  <a:srgbClr val="16A34A"/>
                </a:solidFill>
              </a:rPr>
              <a:t>NUEVO</a:t>
            </a:r>
          </a:p>
        </p:txBody>
      </p:sp>
      <p:sp>
        <p:nvSpPr>
          <p:cNvPr id="4" name="Rectangle 3"/>
          <p:cNvSpPr/>
          <p:nvPr/>
        </p:nvSpPr>
        <p:spPr>
          <a:xfrm>
            <a:off x="457200" y="914400"/>
            <a:ext cx="3383280" cy="54864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14400"/>
            <a:ext cx="33832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50976"/>
            <a:ext cx="338328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87552"/>
            <a:ext cx="3200400" cy="228600"/>
          </a:xfrm>
          <a:prstGeom prst="rect">
            <a:avLst/>
          </a:prstGeom>
          <a:noFill/>
        </p:spPr>
        <p:txBody>
          <a:bodyPr wrap="square"/>
          <a:lstStyle/>
          <a:p>
            <a:pPr algn="l"/>
            <a:r>
              <a:rPr sz="1300" b="1" i="0">
                <a:solidFill>
                  <a:srgbClr val="FFFFFF"/>
                </a:solidFill>
              </a:rPr>
              <a:t>Moodboards</a:t>
            </a:r>
          </a:p>
        </p:txBody>
      </p:sp>
      <p:sp>
        <p:nvSpPr>
          <p:cNvPr id="8" name="TextBox 7"/>
          <p:cNvSpPr txBox="1"/>
          <p:nvPr/>
        </p:nvSpPr>
        <p:spPr>
          <a:xfrm>
            <a:off x="548640" y="1280160"/>
            <a:ext cx="3200400" cy="731520"/>
          </a:xfrm>
          <a:prstGeom prst="rect">
            <a:avLst/>
          </a:prstGeom>
          <a:noFill/>
        </p:spPr>
        <p:txBody>
          <a:bodyPr wrap="square"/>
          <a:lstStyle/>
          <a:p>
            <a:pPr algn="l"/>
            <a:r>
              <a:rPr sz="1100" b="0" i="0">
                <a:solidFill>
                  <a:srgbClr val="1A1A2E"/>
                </a:solidFill>
              </a:rPr>
              <a:t>Opciones A/B/C por cada pilar × dominio showcase.</a:t>
            </a:r>
          </a:p>
        </p:txBody>
      </p:sp>
      <p:sp>
        <p:nvSpPr>
          <p:cNvPr id="9" name="Rectangle 8"/>
          <p:cNvSpPr/>
          <p:nvPr/>
        </p:nvSpPr>
        <p:spPr>
          <a:xfrm>
            <a:off x="548640" y="2103120"/>
            <a:ext cx="32004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8600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94560"/>
            <a:ext cx="3108960" cy="320040"/>
          </a:xfrm>
          <a:prstGeom prst="rect">
            <a:avLst/>
          </a:prstGeom>
          <a:noFill/>
        </p:spPr>
        <p:txBody>
          <a:bodyPr wrap="square"/>
          <a:lstStyle/>
          <a:p>
            <a:pPr algn="l"/>
            <a:r>
              <a:rPr sz="1000" b="0" i="0">
                <a:solidFill>
                  <a:srgbClr val="1A1A2E"/>
                </a:solidFill>
              </a:rPr>
              <a:t>Quiet UI × Crisis: achromatic, exception-based</a:t>
            </a:r>
          </a:p>
        </p:txBody>
      </p:sp>
      <p:sp>
        <p:nvSpPr>
          <p:cNvPr id="12" name="Rectangle 11"/>
          <p:cNvSpPr/>
          <p:nvPr/>
        </p:nvSpPr>
        <p:spPr>
          <a:xfrm>
            <a:off x="548640" y="265176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0320"/>
            <a:ext cx="3108960" cy="320040"/>
          </a:xfrm>
          <a:prstGeom prst="rect">
            <a:avLst/>
          </a:prstGeom>
          <a:noFill/>
        </p:spPr>
        <p:txBody>
          <a:bodyPr wrap="square"/>
          <a:lstStyle/>
          <a:p>
            <a:pPr algn="l"/>
            <a:r>
              <a:rPr sz="1000" b="0" i="0">
                <a:solidFill>
                  <a:srgbClr val="1A1A2E"/>
                </a:solidFill>
              </a:rPr>
              <a:t>Time Sight × Anticipación: temporal layers</a:t>
            </a:r>
          </a:p>
        </p:txBody>
      </p:sp>
      <p:sp>
        <p:nvSpPr>
          <p:cNvPr id="14" name="Rectangle 13"/>
          <p:cNvSpPr/>
          <p:nvPr/>
        </p:nvSpPr>
        <p:spPr>
          <a:xfrm>
            <a:off x="548640" y="301752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26080"/>
            <a:ext cx="3108960" cy="320040"/>
          </a:xfrm>
          <a:prstGeom prst="rect">
            <a:avLst/>
          </a:prstGeom>
          <a:noFill/>
        </p:spPr>
        <p:txBody>
          <a:bodyPr wrap="square"/>
          <a:lstStyle/>
          <a:p>
            <a:pPr algn="l"/>
            <a:r>
              <a:rPr sz="1000" b="0" i="0">
                <a:solidFill>
                  <a:srgbClr val="1A1A2E"/>
                </a:solidFill>
              </a:rPr>
              <a:t>Omni Sense × Asistencia: WhatsApp-native</a:t>
            </a:r>
          </a:p>
        </p:txBody>
      </p:sp>
      <p:sp>
        <p:nvSpPr>
          <p:cNvPr id="16" name="Rectangle 15"/>
          <p:cNvSpPr/>
          <p:nvPr/>
        </p:nvSpPr>
        <p:spPr>
          <a:xfrm>
            <a:off x="548640" y="338328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91840"/>
            <a:ext cx="3108960" cy="320040"/>
          </a:xfrm>
          <a:prstGeom prst="rect">
            <a:avLst/>
          </a:prstGeom>
          <a:noFill/>
        </p:spPr>
        <p:txBody>
          <a:bodyPr wrap="square"/>
          <a:lstStyle/>
          <a:p>
            <a:pPr algn="l"/>
            <a:r>
              <a:rPr sz="1000" b="0" i="0">
                <a:solidFill>
                  <a:srgbClr val="1A1A2E"/>
                </a:solidFill>
              </a:rPr>
              <a:t>Multi-pilar × Alineación: executive reporting</a:t>
            </a:r>
          </a:p>
        </p:txBody>
      </p:sp>
      <p:sp>
        <p:nvSpPr>
          <p:cNvPr id="18" name="Rectangle 17"/>
          <p:cNvSpPr/>
          <p:nvPr/>
        </p:nvSpPr>
        <p:spPr>
          <a:xfrm>
            <a:off x="4114800" y="914400"/>
            <a:ext cx="3383280" cy="54864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0" y="914400"/>
            <a:ext cx="33832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0" y="950976"/>
            <a:ext cx="338328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987552"/>
            <a:ext cx="3200400" cy="228600"/>
          </a:xfrm>
          <a:prstGeom prst="rect">
            <a:avLst/>
          </a:prstGeom>
          <a:noFill/>
        </p:spPr>
        <p:txBody>
          <a:bodyPr wrap="square"/>
          <a:lstStyle/>
          <a:p>
            <a:pPr algn="l"/>
            <a:r>
              <a:rPr sz="1300" b="1" i="0">
                <a:solidFill>
                  <a:srgbClr val="FFFFFF"/>
                </a:solidFill>
              </a:rPr>
              <a:t>Prototipo Caso #1</a:t>
            </a:r>
          </a:p>
        </p:txBody>
      </p:sp>
      <p:sp>
        <p:nvSpPr>
          <p:cNvPr id="22" name="TextBox 21"/>
          <p:cNvSpPr txBox="1"/>
          <p:nvPr/>
        </p:nvSpPr>
        <p:spPr>
          <a:xfrm>
            <a:off x="4206240" y="1280160"/>
            <a:ext cx="3200400" cy="731520"/>
          </a:xfrm>
          <a:prstGeom prst="rect">
            <a:avLst/>
          </a:prstGeom>
          <a:noFill/>
        </p:spPr>
        <p:txBody>
          <a:bodyPr wrap="square"/>
          <a:lstStyle/>
          <a:p>
            <a:pPr algn="l"/>
            <a:r>
              <a:rPr sz="1100" b="0" i="0">
                <a:solidFill>
                  <a:srgbClr val="1A1A2E"/>
                </a:solidFill>
              </a:rPr>
              <a:t>Wireframe funcional del flujo D→A→R completo para Caída de Equipo Crítico.
Consola IROC silenciosa → alerta → análisis causal → recomendación rankeada → acción.</a:t>
            </a:r>
          </a:p>
        </p:txBody>
      </p:sp>
      <p:sp>
        <p:nvSpPr>
          <p:cNvPr id="23" name="Rectangle 22"/>
          <p:cNvSpPr/>
          <p:nvPr/>
        </p:nvSpPr>
        <p:spPr>
          <a:xfrm>
            <a:off x="4206240" y="2103120"/>
            <a:ext cx="32004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2286000"/>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2194560"/>
            <a:ext cx="3108960" cy="320040"/>
          </a:xfrm>
          <a:prstGeom prst="rect">
            <a:avLst/>
          </a:prstGeom>
          <a:noFill/>
        </p:spPr>
        <p:txBody>
          <a:bodyPr wrap="square"/>
          <a:lstStyle/>
          <a:p>
            <a:pPr algn="l"/>
            <a:r>
              <a:rPr sz="1000" b="0" i="0">
                <a:solidFill>
                  <a:srgbClr val="1A1A2E"/>
                </a:solidFill>
              </a:rPr>
              <a:t>Con principios Quiet UI aplicados.</a:t>
            </a:r>
          </a:p>
        </p:txBody>
      </p:sp>
      <p:sp>
        <p:nvSpPr>
          <p:cNvPr id="26" name="Rectangle 25"/>
          <p:cNvSpPr/>
          <p:nvPr/>
        </p:nvSpPr>
        <p:spPr>
          <a:xfrm>
            <a:off x="7772400" y="914400"/>
            <a:ext cx="3383280" cy="54864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0" y="914400"/>
            <a:ext cx="33832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0" y="950976"/>
            <a:ext cx="338328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987552"/>
            <a:ext cx="3200400" cy="228600"/>
          </a:xfrm>
          <a:prstGeom prst="rect">
            <a:avLst/>
          </a:prstGeom>
          <a:noFill/>
        </p:spPr>
        <p:txBody>
          <a:bodyPr wrap="square"/>
          <a:lstStyle/>
          <a:p>
            <a:pPr algn="l"/>
            <a:r>
              <a:rPr sz="1300" b="1" i="0">
                <a:solidFill>
                  <a:srgbClr val="FFFFFF"/>
                </a:solidFill>
              </a:rPr>
              <a:t>Entrevistas Etapa 3</a:t>
            </a:r>
          </a:p>
        </p:txBody>
      </p:sp>
      <p:sp>
        <p:nvSpPr>
          <p:cNvPr id="30" name="TextBox 29"/>
          <p:cNvSpPr txBox="1"/>
          <p:nvPr/>
        </p:nvSpPr>
        <p:spPr>
          <a:xfrm>
            <a:off x="7863840" y="1280160"/>
            <a:ext cx="3200400" cy="731520"/>
          </a:xfrm>
          <a:prstGeom prst="rect">
            <a:avLst/>
          </a:prstGeom>
          <a:noFill/>
        </p:spPr>
        <p:txBody>
          <a:bodyPr wrap="square"/>
          <a:lstStyle/>
          <a:p>
            <a:pPr algn="l"/>
            <a:r>
              <a:rPr sz="1100" b="0" i="0">
                <a:solidFill>
                  <a:srgbClr val="1A1A2E"/>
                </a:solidFill>
              </a:rPr>
              <a:t>Validar dominios y pilares con usuarios finales en terreno.</a:t>
            </a:r>
          </a:p>
        </p:txBody>
      </p:sp>
      <p:sp>
        <p:nvSpPr>
          <p:cNvPr id="31" name="Rectangle 30"/>
          <p:cNvSpPr/>
          <p:nvPr/>
        </p:nvSpPr>
        <p:spPr>
          <a:xfrm>
            <a:off x="7863840" y="2103120"/>
            <a:ext cx="32004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63840" y="228600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0" y="2194560"/>
            <a:ext cx="3108960" cy="320040"/>
          </a:xfrm>
          <a:prstGeom prst="rect">
            <a:avLst/>
          </a:prstGeom>
          <a:noFill/>
        </p:spPr>
        <p:txBody>
          <a:bodyPr wrap="square"/>
          <a:lstStyle/>
          <a:p>
            <a:pPr algn="l"/>
            <a:r>
              <a:rPr sz="1000" b="0" i="0">
                <a:solidFill>
                  <a:srgbClr val="1A1A2E"/>
                </a:solidFill>
              </a:rPr>
              <a:t>¿El operador se reconoce en "Crisis" y "Anticipación"?</a:t>
            </a:r>
          </a:p>
        </p:txBody>
      </p:sp>
      <p:sp>
        <p:nvSpPr>
          <p:cNvPr id="34" name="Rectangle 33"/>
          <p:cNvSpPr/>
          <p:nvPr/>
        </p:nvSpPr>
        <p:spPr>
          <a:xfrm>
            <a:off x="7863840" y="265176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0" y="2560320"/>
            <a:ext cx="3108960" cy="320040"/>
          </a:xfrm>
          <a:prstGeom prst="rect">
            <a:avLst/>
          </a:prstGeom>
          <a:noFill/>
        </p:spPr>
        <p:txBody>
          <a:bodyPr wrap="square"/>
          <a:lstStyle/>
          <a:p>
            <a:pPr algn="l"/>
            <a:r>
              <a:rPr sz="1000" b="0" i="0">
                <a:solidFill>
                  <a:srgbClr val="1A1A2E"/>
                </a:solidFill>
              </a:rPr>
              <a:t>¿La confianza en datos es barrera universal?</a:t>
            </a:r>
          </a:p>
        </p:txBody>
      </p:sp>
      <p:sp>
        <p:nvSpPr>
          <p:cNvPr id="36" name="Rectangle 35"/>
          <p:cNvSpPr/>
          <p:nvPr/>
        </p:nvSpPr>
        <p:spPr>
          <a:xfrm>
            <a:off x="7863840" y="301752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0" y="2926080"/>
            <a:ext cx="3108960" cy="320040"/>
          </a:xfrm>
          <a:prstGeom prst="rect">
            <a:avLst/>
          </a:prstGeom>
          <a:noFill/>
        </p:spPr>
        <p:txBody>
          <a:bodyPr wrap="square"/>
          <a:lstStyle/>
          <a:p>
            <a:pPr algn="l"/>
            <a:r>
              <a:rPr sz="1000" b="0" i="0">
                <a:solidFill>
                  <a:srgbClr val="1A1A2E"/>
                </a:solidFill>
              </a:rPr>
              <a:t>¿Qué canal usan realmente? (WhatsApp, radio, otro)</a:t>
            </a:r>
          </a:p>
        </p:txBody>
      </p:sp>
      <p:sp>
        <p:nvSpPr>
          <p:cNvPr id="38" name="TextBox 37"/>
          <p:cNvSpPr txBox="1"/>
          <p:nvPr/>
        </p:nvSpPr>
        <p:spPr>
          <a:xfrm>
            <a:off x="11643055" y="6537960"/>
            <a:ext cx="457200" cy="228600"/>
          </a:xfrm>
          <a:prstGeom prst="rect">
            <a:avLst/>
          </a:prstGeom>
          <a:noFill/>
        </p:spPr>
        <p:txBody>
          <a:bodyPr wrap="square"/>
          <a:lstStyle/>
          <a:p>
            <a:pPr algn="l"/>
            <a:r>
              <a:rPr sz="1000" b="0" i="0">
                <a:solidFill>
                  <a:srgbClr val="6B7280"/>
                </a:solidFil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lstStyle/>
          <a:p>
            <a:pPr algn="l"/>
            <a:r>
              <a:rPr sz="2200" b="1" i="0">
                <a:solidFill>
                  <a:srgbClr val="1A1A2E"/>
                </a:solidFill>
              </a:rPr>
              <a:t>Mapa de Definiciones</a:t>
            </a:r>
          </a:p>
        </p:txBody>
      </p:sp>
      <p:sp>
        <p:nvSpPr>
          <p:cNvPr id="3" name="TextBox 2"/>
          <p:cNvSpPr txBox="1"/>
          <p:nvPr/>
        </p:nvSpPr>
        <p:spPr>
          <a:xfrm>
            <a:off x="457200" y="850392"/>
            <a:ext cx="11430000" cy="292608"/>
          </a:xfrm>
          <a:prstGeom prst="rect">
            <a:avLst/>
          </a:prstGeom>
          <a:noFill/>
        </p:spPr>
        <p:txBody>
          <a:bodyPr wrap="square"/>
          <a:lstStyle/>
          <a:p>
            <a:pPr algn="l"/>
            <a:r>
              <a:rPr sz="1200" b="0" i="0">
                <a:solidFill>
                  <a:srgbClr val="6B7280"/>
                </a:solidFill>
              </a:rPr>
              <a:t>Glosario estratégico — términos clave v1 + incorporaciones v2.</a:t>
            </a:r>
          </a:p>
        </p:txBody>
      </p:sp>
      <p:sp>
        <p:nvSpPr>
          <p:cNvPr id="4" name="Rectangle 3"/>
          <p:cNvSpPr/>
          <p:nvPr/>
        </p:nvSpPr>
        <p:spPr>
          <a:xfrm>
            <a:off x="457200" y="128016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36576" cy="5486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25880"/>
            <a:ext cx="5029200" cy="201168"/>
          </a:xfrm>
          <a:prstGeom prst="rect">
            <a:avLst/>
          </a:prstGeom>
          <a:noFill/>
        </p:spPr>
        <p:txBody>
          <a:bodyPr wrap="square"/>
          <a:lstStyle/>
          <a:p>
            <a:pPr algn="l"/>
            <a:r>
              <a:rPr sz="1100" b="1" i="0">
                <a:solidFill>
                  <a:srgbClr val="1A1A2E"/>
                </a:solidFill>
              </a:rPr>
              <a:t>Tiempo Cero</a:t>
            </a:r>
          </a:p>
        </p:txBody>
      </p:sp>
      <p:sp>
        <p:nvSpPr>
          <p:cNvPr id="7" name="TextBox 6"/>
          <p:cNvSpPr txBox="1"/>
          <p:nvPr/>
        </p:nvSpPr>
        <p:spPr>
          <a:xfrm>
            <a:off x="548640" y="1554480"/>
            <a:ext cx="5029200" cy="228600"/>
          </a:xfrm>
          <a:prstGeom prst="rect">
            <a:avLst/>
          </a:prstGeom>
          <a:noFill/>
        </p:spPr>
        <p:txBody>
          <a:bodyPr wrap="square"/>
          <a:lstStyle/>
          <a:p>
            <a:pPr algn="l"/>
            <a:r>
              <a:rPr sz="1000" b="0" i="0">
                <a:solidFill>
                  <a:srgbClr val="6B7280"/>
                </a:solidFill>
              </a:rPr>
              <a:t>Compresión máxima del camino dato→decisión→acción. El valor central de la plataforma.</a:t>
            </a:r>
          </a:p>
        </p:txBody>
      </p:sp>
      <p:sp>
        <p:nvSpPr>
          <p:cNvPr id="8" name="Rectangle 7"/>
          <p:cNvSpPr/>
          <p:nvPr/>
        </p:nvSpPr>
        <p:spPr>
          <a:xfrm>
            <a:off x="5943600" y="128016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0" y="1280160"/>
            <a:ext cx="36576"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325880"/>
            <a:ext cx="5029200" cy="201168"/>
          </a:xfrm>
          <a:prstGeom prst="rect">
            <a:avLst/>
          </a:prstGeom>
          <a:noFill/>
        </p:spPr>
        <p:txBody>
          <a:bodyPr wrap="square"/>
          <a:lstStyle/>
          <a:p>
            <a:pPr algn="l"/>
            <a:r>
              <a:rPr sz="1100" b="1" i="0">
                <a:solidFill>
                  <a:srgbClr val="1A1A2E"/>
                </a:solidFill>
              </a:rPr>
              <a:t>Mejoramiento Continuo</a:t>
            </a:r>
          </a:p>
        </p:txBody>
      </p:sp>
      <p:sp>
        <p:nvSpPr>
          <p:cNvPr id="11" name="TextBox 10"/>
          <p:cNvSpPr txBox="1"/>
          <p:nvPr/>
        </p:nvSpPr>
        <p:spPr>
          <a:xfrm>
            <a:off x="6035040" y="1554480"/>
            <a:ext cx="5029200" cy="228600"/>
          </a:xfrm>
          <a:prstGeom prst="rect">
            <a:avLst/>
          </a:prstGeom>
          <a:noFill/>
        </p:spPr>
        <p:txBody>
          <a:bodyPr wrap="square"/>
          <a:lstStyle/>
          <a:p>
            <a:pPr algn="l"/>
            <a:r>
              <a:rPr sz="1000" b="0" i="0">
                <a:solidFill>
                  <a:srgbClr val="6B7280"/>
                </a:solidFill>
              </a:rPr>
              <a:t>No cumplir el plan — mejorar el plan turno a turno mediante feedback loop sistemático.</a:t>
            </a:r>
          </a:p>
        </p:txBody>
      </p:sp>
      <p:sp>
        <p:nvSpPr>
          <p:cNvPr id="12" name="Rectangle 11"/>
          <p:cNvSpPr/>
          <p:nvPr/>
        </p:nvSpPr>
        <p:spPr>
          <a:xfrm>
            <a:off x="457200" y="192024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36576"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5029200" cy="201168"/>
          </a:xfrm>
          <a:prstGeom prst="rect">
            <a:avLst/>
          </a:prstGeom>
          <a:noFill/>
        </p:spPr>
        <p:txBody>
          <a:bodyPr wrap="square"/>
          <a:lstStyle/>
          <a:p>
            <a:pPr algn="l"/>
            <a:r>
              <a:rPr sz="1100" b="1" i="0">
                <a:solidFill>
                  <a:srgbClr val="1A1A2E"/>
                </a:solidFill>
              </a:rPr>
              <a:t>Reconfiguración Estratégica</a:t>
            </a:r>
          </a:p>
        </p:txBody>
      </p:sp>
      <p:sp>
        <p:nvSpPr>
          <p:cNvPr id="15" name="TextBox 14"/>
          <p:cNvSpPr txBox="1"/>
          <p:nvPr/>
        </p:nvSpPr>
        <p:spPr>
          <a:xfrm>
            <a:off x="548640" y="2194560"/>
            <a:ext cx="5029200" cy="228600"/>
          </a:xfrm>
          <a:prstGeom prst="rect">
            <a:avLst/>
          </a:prstGeom>
          <a:noFill/>
        </p:spPr>
        <p:txBody>
          <a:bodyPr wrap="square"/>
          <a:lstStyle/>
          <a:p>
            <a:pPr algn="l"/>
            <a:r>
              <a:rPr sz="1000" b="0" i="0">
                <a:solidFill>
                  <a:srgbClr val="6B7280"/>
                </a:solidFill>
              </a:rPr>
              <a:t>Ajuste global del plan minero basado en patrones estructurales, no en incidentes aislados.</a:t>
            </a:r>
          </a:p>
        </p:txBody>
      </p:sp>
      <p:sp>
        <p:nvSpPr>
          <p:cNvPr id="16" name="Rectangle 15"/>
          <p:cNvSpPr/>
          <p:nvPr/>
        </p:nvSpPr>
        <p:spPr>
          <a:xfrm>
            <a:off x="5943600" y="192024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0" y="1920240"/>
            <a:ext cx="36576"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965960"/>
            <a:ext cx="5029200" cy="201168"/>
          </a:xfrm>
          <a:prstGeom prst="rect">
            <a:avLst/>
          </a:prstGeom>
          <a:noFill/>
        </p:spPr>
        <p:txBody>
          <a:bodyPr wrap="square"/>
          <a:lstStyle/>
          <a:p>
            <a:pPr algn="l"/>
            <a:r>
              <a:rPr sz="1100" b="1" i="0">
                <a:solidFill>
                  <a:srgbClr val="1A1A2E"/>
                </a:solidFill>
              </a:rPr>
              <a:t>Confianza en Datos</a:t>
            </a:r>
          </a:p>
        </p:txBody>
      </p:sp>
      <p:sp>
        <p:nvSpPr>
          <p:cNvPr id="19" name="TextBox 18"/>
          <p:cNvSpPr txBox="1"/>
          <p:nvPr/>
        </p:nvSpPr>
        <p:spPr>
          <a:xfrm>
            <a:off x="6035040" y="2194560"/>
            <a:ext cx="5029200" cy="228600"/>
          </a:xfrm>
          <a:prstGeom prst="rect">
            <a:avLst/>
          </a:prstGeom>
          <a:noFill/>
        </p:spPr>
        <p:txBody>
          <a:bodyPr wrap="square"/>
          <a:lstStyle/>
          <a:p>
            <a:pPr algn="l"/>
            <a:r>
              <a:rPr sz="1000" b="0" i="0">
                <a:solidFill>
                  <a:srgbClr val="6B7280"/>
                </a:solidFill>
              </a:rPr>
              <a:t>Prerrequisito fundacional. Si el dato no es creíble, el sistema no es adoptado.</a:t>
            </a:r>
          </a:p>
        </p:txBody>
      </p:sp>
      <p:sp>
        <p:nvSpPr>
          <p:cNvPr id="20" name="Rectangle 19"/>
          <p:cNvSpPr/>
          <p:nvPr/>
        </p:nvSpPr>
        <p:spPr>
          <a:xfrm>
            <a:off x="457200" y="256032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560320"/>
            <a:ext cx="36576" cy="5486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606040"/>
            <a:ext cx="5029200" cy="201168"/>
          </a:xfrm>
          <a:prstGeom prst="rect">
            <a:avLst/>
          </a:prstGeom>
          <a:noFill/>
        </p:spPr>
        <p:txBody>
          <a:bodyPr wrap="square"/>
          <a:lstStyle/>
          <a:p>
            <a:pPr algn="l"/>
            <a:r>
              <a:rPr sz="1100" b="1" i="0">
                <a:solidFill>
                  <a:srgbClr val="1A1A2E"/>
                </a:solidFill>
              </a:rPr>
              <a:t>Orchestra</a:t>
            </a:r>
          </a:p>
        </p:txBody>
      </p:sp>
      <p:sp>
        <p:nvSpPr>
          <p:cNvPr id="23" name="TextBox 22"/>
          <p:cNvSpPr txBox="1"/>
          <p:nvPr/>
        </p:nvSpPr>
        <p:spPr>
          <a:xfrm>
            <a:off x="548640" y="2834640"/>
            <a:ext cx="5029200" cy="228600"/>
          </a:xfrm>
          <a:prstGeom prst="rect">
            <a:avLst/>
          </a:prstGeom>
          <a:noFill/>
        </p:spPr>
        <p:txBody>
          <a:bodyPr wrap="square"/>
          <a:lstStyle/>
          <a:p>
            <a:pPr algn="l"/>
            <a:r>
              <a:rPr sz="1000" b="0" i="0">
                <a:solidFill>
                  <a:srgbClr val="6B7280"/>
                </a:solidFill>
              </a:rPr>
              <a:t>Motor de simulación que evalúa configuraciones alternativas del plan y proyecta impacto.</a:t>
            </a:r>
          </a:p>
        </p:txBody>
      </p:sp>
      <p:sp>
        <p:nvSpPr>
          <p:cNvPr id="24" name="Rectangle 23"/>
          <p:cNvSpPr/>
          <p:nvPr/>
        </p:nvSpPr>
        <p:spPr>
          <a:xfrm>
            <a:off x="5943600" y="256032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0" y="2560320"/>
            <a:ext cx="36576"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2606040"/>
            <a:ext cx="5029200" cy="201168"/>
          </a:xfrm>
          <a:prstGeom prst="rect">
            <a:avLst/>
          </a:prstGeom>
          <a:noFill/>
        </p:spPr>
        <p:txBody>
          <a:bodyPr wrap="square"/>
          <a:lstStyle/>
          <a:p>
            <a:pPr algn="l"/>
            <a:r>
              <a:rPr sz="1100" b="1" i="0">
                <a:solidFill>
                  <a:srgbClr val="1A1A2E"/>
                </a:solidFill>
              </a:rPr>
              <a:t>Time Scrubbing</a:t>
            </a:r>
          </a:p>
        </p:txBody>
      </p:sp>
      <p:sp>
        <p:nvSpPr>
          <p:cNvPr id="27" name="TextBox 26"/>
          <p:cNvSpPr txBox="1"/>
          <p:nvPr/>
        </p:nvSpPr>
        <p:spPr>
          <a:xfrm>
            <a:off x="6035040" y="2834640"/>
            <a:ext cx="5029200" cy="228600"/>
          </a:xfrm>
          <a:prstGeom prst="rect">
            <a:avLst/>
          </a:prstGeom>
          <a:noFill/>
        </p:spPr>
        <p:txBody>
          <a:bodyPr wrap="square"/>
          <a:lstStyle/>
          <a:p>
            <a:pPr algn="l"/>
            <a:r>
              <a:rPr sz="1000" b="0" i="0">
                <a:solidFill>
                  <a:srgbClr val="6B7280"/>
                </a:solidFill>
              </a:rPr>
              <a:t>Rebobinar el tiempo operacional para identificar el origen exacto de una desviación.</a:t>
            </a:r>
          </a:p>
        </p:txBody>
      </p:sp>
      <p:sp>
        <p:nvSpPr>
          <p:cNvPr id="28" name="Rectangle 27"/>
          <p:cNvSpPr/>
          <p:nvPr/>
        </p:nvSpPr>
        <p:spPr>
          <a:xfrm>
            <a:off x="457200" y="320040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200400"/>
            <a:ext cx="36576" cy="5486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246120"/>
            <a:ext cx="5029200" cy="201168"/>
          </a:xfrm>
          <a:prstGeom prst="rect">
            <a:avLst/>
          </a:prstGeom>
          <a:noFill/>
        </p:spPr>
        <p:txBody>
          <a:bodyPr wrap="square"/>
          <a:lstStyle/>
          <a:p>
            <a:pPr algn="l"/>
            <a:r>
              <a:rPr sz="1100" b="1" i="0">
                <a:solidFill>
                  <a:srgbClr val="1A1A2E"/>
                </a:solidFill>
              </a:rPr>
              <a:t>Quiet UI</a:t>
            </a:r>
          </a:p>
        </p:txBody>
      </p:sp>
      <p:sp>
        <p:nvSpPr>
          <p:cNvPr id="31" name="TextBox 30"/>
          <p:cNvSpPr txBox="1"/>
          <p:nvPr/>
        </p:nvSpPr>
        <p:spPr>
          <a:xfrm>
            <a:off x="548640" y="3474720"/>
            <a:ext cx="5029200" cy="228600"/>
          </a:xfrm>
          <a:prstGeom prst="rect">
            <a:avLst/>
          </a:prstGeom>
          <a:noFill/>
        </p:spPr>
        <p:txBody>
          <a:bodyPr wrap="square"/>
          <a:lstStyle/>
          <a:p>
            <a:pPr algn="l"/>
            <a:r>
              <a:rPr sz="1000" b="0" i="0">
                <a:solidFill>
                  <a:srgbClr val="6B7280"/>
                </a:solidFill>
              </a:rPr>
              <a:t>Silencio como default. Color y acción reservados para la excepción.</a:t>
            </a:r>
          </a:p>
        </p:txBody>
      </p:sp>
      <p:sp>
        <p:nvSpPr>
          <p:cNvPr id="32" name="Rectangle 31"/>
          <p:cNvSpPr/>
          <p:nvPr/>
        </p:nvSpPr>
        <p:spPr>
          <a:xfrm>
            <a:off x="5943600" y="320040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43600" y="3200400"/>
            <a:ext cx="36576" cy="5486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3246120"/>
            <a:ext cx="5029200" cy="201168"/>
          </a:xfrm>
          <a:prstGeom prst="rect">
            <a:avLst/>
          </a:prstGeom>
          <a:noFill/>
        </p:spPr>
        <p:txBody>
          <a:bodyPr wrap="square"/>
          <a:lstStyle/>
          <a:p>
            <a:pPr algn="l"/>
            <a:r>
              <a:rPr sz="1100" b="1" i="0">
                <a:solidFill>
                  <a:srgbClr val="1A1A2E"/>
                </a:solidFill>
              </a:rPr>
              <a:t>Clear Path</a:t>
            </a:r>
          </a:p>
        </p:txBody>
      </p:sp>
      <p:sp>
        <p:nvSpPr>
          <p:cNvPr id="35" name="TextBox 34"/>
          <p:cNvSpPr txBox="1"/>
          <p:nvPr/>
        </p:nvSpPr>
        <p:spPr>
          <a:xfrm>
            <a:off x="6035040" y="3474720"/>
            <a:ext cx="5029200" cy="228600"/>
          </a:xfrm>
          <a:prstGeom prst="rect">
            <a:avLst/>
          </a:prstGeom>
          <a:noFill/>
        </p:spPr>
        <p:txBody>
          <a:bodyPr wrap="square"/>
          <a:lstStyle/>
          <a:p>
            <a:pPr algn="l"/>
            <a:r>
              <a:rPr sz="1000" b="0" i="0">
                <a:solidFill>
                  <a:srgbClr val="6B7280"/>
                </a:solidFill>
              </a:rPr>
              <a:t>D→A→R: cada pantalla → acción concreta. Sin dato sin prescripción.</a:t>
            </a:r>
          </a:p>
        </p:txBody>
      </p:sp>
      <p:sp>
        <p:nvSpPr>
          <p:cNvPr id="36" name="Rectangle 35"/>
          <p:cNvSpPr/>
          <p:nvPr/>
        </p:nvSpPr>
        <p:spPr>
          <a:xfrm>
            <a:off x="457200" y="384048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3840480"/>
            <a:ext cx="36576"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3886200"/>
            <a:ext cx="5029200" cy="201168"/>
          </a:xfrm>
          <a:prstGeom prst="rect">
            <a:avLst/>
          </a:prstGeom>
          <a:noFill/>
        </p:spPr>
        <p:txBody>
          <a:bodyPr wrap="square"/>
          <a:lstStyle/>
          <a:p>
            <a:pPr algn="l"/>
            <a:r>
              <a:rPr sz="1100" b="1" i="0">
                <a:solidFill>
                  <a:srgbClr val="1A1A2E"/>
                </a:solidFill>
              </a:rPr>
              <a:t>Time Sight</a:t>
            </a:r>
          </a:p>
        </p:txBody>
      </p:sp>
      <p:sp>
        <p:nvSpPr>
          <p:cNvPr id="39" name="TextBox 38"/>
          <p:cNvSpPr txBox="1"/>
          <p:nvPr/>
        </p:nvSpPr>
        <p:spPr>
          <a:xfrm>
            <a:off x="548640" y="4114800"/>
            <a:ext cx="5029200" cy="228600"/>
          </a:xfrm>
          <a:prstGeom prst="rect">
            <a:avLst/>
          </a:prstGeom>
          <a:noFill/>
        </p:spPr>
        <p:txBody>
          <a:bodyPr wrap="square"/>
          <a:lstStyle/>
          <a:p>
            <a:pPr algn="l"/>
            <a:r>
              <a:rPr sz="1000" b="0" i="0">
                <a:solidFill>
                  <a:srgbClr val="6B7280"/>
                </a:solidFill>
              </a:rPr>
              <a:t>Consciencia temporal: pasado, presente y predicción en una sola vista.</a:t>
            </a:r>
          </a:p>
        </p:txBody>
      </p:sp>
      <p:sp>
        <p:nvSpPr>
          <p:cNvPr id="40" name="Rectangle 39"/>
          <p:cNvSpPr/>
          <p:nvPr/>
        </p:nvSpPr>
        <p:spPr>
          <a:xfrm>
            <a:off x="5943600" y="384048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43600" y="3840480"/>
            <a:ext cx="36576"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3886200"/>
            <a:ext cx="5029200" cy="201168"/>
          </a:xfrm>
          <a:prstGeom prst="rect">
            <a:avLst/>
          </a:prstGeom>
          <a:noFill/>
        </p:spPr>
        <p:txBody>
          <a:bodyPr wrap="square"/>
          <a:lstStyle/>
          <a:p>
            <a:pPr algn="l"/>
            <a:r>
              <a:rPr sz="1100" b="1" i="0">
                <a:solidFill>
                  <a:srgbClr val="1A1A2E"/>
                </a:solidFill>
              </a:rPr>
              <a:t>Omni Sense</a:t>
            </a:r>
          </a:p>
        </p:txBody>
      </p:sp>
      <p:sp>
        <p:nvSpPr>
          <p:cNvPr id="43" name="TextBox 42"/>
          <p:cNvSpPr txBox="1"/>
          <p:nvPr/>
        </p:nvSpPr>
        <p:spPr>
          <a:xfrm>
            <a:off x="6035040" y="4114800"/>
            <a:ext cx="5029200" cy="228600"/>
          </a:xfrm>
          <a:prstGeom prst="rect">
            <a:avLst/>
          </a:prstGeom>
          <a:noFill/>
        </p:spPr>
        <p:txBody>
          <a:bodyPr wrap="square"/>
          <a:lstStyle/>
          <a:p>
            <a:pPr algn="l"/>
            <a:r>
              <a:rPr sz="1000" b="0" i="0">
                <a:solidFill>
                  <a:srgbClr val="6B7280"/>
                </a:solidFill>
              </a:rPr>
              <a:t>Presencia multimodal: el sistema alcanza al usuario donde está — WhatsApp, radio, IROC.</a:t>
            </a:r>
          </a:p>
        </p:txBody>
      </p:sp>
      <p:sp>
        <p:nvSpPr>
          <p:cNvPr id="44" name="Rectangle 43"/>
          <p:cNvSpPr/>
          <p:nvPr/>
        </p:nvSpPr>
        <p:spPr>
          <a:xfrm>
            <a:off x="457200" y="448056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4480560"/>
            <a:ext cx="36576" cy="5486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4526280"/>
            <a:ext cx="5029200" cy="201168"/>
          </a:xfrm>
          <a:prstGeom prst="rect">
            <a:avLst/>
          </a:prstGeom>
          <a:noFill/>
        </p:spPr>
        <p:txBody>
          <a:bodyPr wrap="square"/>
          <a:lstStyle/>
          <a:p>
            <a:pPr algn="l"/>
            <a:r>
              <a:rPr sz="1100" b="1" i="0">
                <a:solidFill>
                  <a:srgbClr val="1A1A2E"/>
                </a:solidFill>
              </a:rPr>
              <a:t>D → A → R</a:t>
            </a:r>
          </a:p>
        </p:txBody>
      </p:sp>
      <p:sp>
        <p:nvSpPr>
          <p:cNvPr id="47" name="TextBox 46"/>
          <p:cNvSpPr txBox="1"/>
          <p:nvPr/>
        </p:nvSpPr>
        <p:spPr>
          <a:xfrm>
            <a:off x="548640" y="4754880"/>
            <a:ext cx="5029200" cy="228600"/>
          </a:xfrm>
          <a:prstGeom prst="rect">
            <a:avLst/>
          </a:prstGeom>
          <a:noFill/>
        </p:spPr>
        <p:txBody>
          <a:bodyPr wrap="square"/>
          <a:lstStyle/>
          <a:p>
            <a:pPr algn="l"/>
            <a:r>
              <a:rPr sz="1000" b="0" i="0">
                <a:solidFill>
                  <a:srgbClr val="6B7280"/>
                </a:solidFill>
              </a:rPr>
              <a:t>Detecta · Analiza · Recomienda. Flujo de valor de la plataforma.</a:t>
            </a:r>
          </a:p>
        </p:txBody>
      </p:sp>
      <p:sp>
        <p:nvSpPr>
          <p:cNvPr id="48" name="Rectangle 47"/>
          <p:cNvSpPr/>
          <p:nvPr/>
        </p:nvSpPr>
        <p:spPr>
          <a:xfrm>
            <a:off x="5943600" y="4480560"/>
            <a:ext cx="5212080" cy="5486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943600" y="4480560"/>
            <a:ext cx="36576" cy="548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40" y="4526280"/>
            <a:ext cx="5029200" cy="201168"/>
          </a:xfrm>
          <a:prstGeom prst="rect">
            <a:avLst/>
          </a:prstGeom>
          <a:noFill/>
        </p:spPr>
        <p:txBody>
          <a:bodyPr wrap="square"/>
          <a:lstStyle/>
          <a:p>
            <a:pPr algn="l"/>
            <a:r>
              <a:rPr sz="1100" b="1" i="0">
                <a:solidFill>
                  <a:srgbClr val="1A1A2E"/>
                </a:solidFill>
              </a:rPr>
              <a:t>Geometry Gap</a:t>
            </a:r>
          </a:p>
        </p:txBody>
      </p:sp>
      <p:sp>
        <p:nvSpPr>
          <p:cNvPr id="51" name="TextBox 50"/>
          <p:cNvSpPr txBox="1"/>
          <p:nvPr/>
        </p:nvSpPr>
        <p:spPr>
          <a:xfrm>
            <a:off x="6035040" y="4754880"/>
            <a:ext cx="5029200" cy="228600"/>
          </a:xfrm>
          <a:prstGeom prst="rect">
            <a:avLst/>
          </a:prstGeom>
          <a:noFill/>
        </p:spPr>
        <p:txBody>
          <a:bodyPr wrap="square"/>
          <a:lstStyle/>
          <a:p>
            <a:pPr algn="l"/>
            <a:r>
              <a:rPr sz="1000" b="0" i="0">
                <a:solidFill>
                  <a:srgbClr val="6B7280"/>
                </a:solidFill>
              </a:rPr>
              <a:t>Brecha #1 identificada: la espacialidad — dónde están las cosas — no está resuelta.</a:t>
            </a:r>
          </a:p>
        </p:txBody>
      </p:sp>
      <p:sp>
        <p:nvSpPr>
          <p:cNvPr id="52" name="TextBox 51"/>
          <p:cNvSpPr txBox="1"/>
          <p:nvPr/>
        </p:nvSpPr>
        <p:spPr>
          <a:xfrm>
            <a:off x="11643055" y="6537960"/>
            <a:ext cx="457200" cy="228600"/>
          </a:xfrm>
          <a:prstGeom prst="rect">
            <a:avLst/>
          </a:prstGeom>
          <a:noFill/>
        </p:spPr>
        <p:txBody>
          <a:bodyPr wrap="square"/>
          <a:lstStyle/>
          <a:p>
            <a:pPr algn="l"/>
            <a:r>
              <a:rPr sz="1000" b="0" i="0">
                <a:solidFill>
                  <a:srgbClr val="6B7280"/>
                </a:solidFil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02920"/>
          </a:xfrm>
          <a:prstGeom prst="rect">
            <a:avLst/>
          </a:prstGeom>
          <a:noFill/>
        </p:spPr>
        <p:txBody>
          <a:bodyPr wrap="square"/>
          <a:lstStyle/>
          <a:p>
            <a:pPr algn="l"/>
            <a:r>
              <a:rPr sz="2200" b="1" i="0">
                <a:solidFill>
                  <a:srgbClr val="1A1A2E"/>
                </a:solidFill>
              </a:rPr>
              <a:t>Apéndice: Benchmark por Pilar</a:t>
            </a:r>
          </a:p>
        </p:txBody>
      </p:sp>
      <p:sp>
        <p:nvSpPr>
          <p:cNvPr id="3" name="TextBox 2"/>
          <p:cNvSpPr txBox="1"/>
          <p:nvPr/>
        </p:nvSpPr>
        <p:spPr>
          <a:xfrm>
            <a:off x="457200" y="850392"/>
            <a:ext cx="11430000" cy="292608"/>
          </a:xfrm>
          <a:prstGeom prst="rect">
            <a:avLst/>
          </a:prstGeom>
          <a:noFill/>
        </p:spPr>
        <p:txBody>
          <a:bodyPr wrap="square"/>
          <a:lstStyle/>
          <a:p>
            <a:pPr algn="l"/>
            <a:r>
              <a:rPr sz="1200" b="0" i="0">
                <a:solidFill>
                  <a:srgbClr val="6B7280"/>
                </a:solidFill>
              </a:rPr>
              <a:t>Referencias de diseño e industria por pilar — movidas aquí como referencia detallada.</a:t>
            </a:r>
          </a:p>
        </p:txBody>
      </p:sp>
      <p:sp>
        <p:nvSpPr>
          <p:cNvPr id="4" name="Rectangle 3"/>
          <p:cNvSpPr/>
          <p:nvPr/>
        </p:nvSpPr>
        <p:spPr>
          <a:xfrm>
            <a:off x="457200" y="1188720"/>
            <a:ext cx="269748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26974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25296"/>
            <a:ext cx="269748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61872"/>
            <a:ext cx="2514600" cy="228600"/>
          </a:xfrm>
          <a:prstGeom prst="rect">
            <a:avLst/>
          </a:prstGeom>
          <a:noFill/>
        </p:spPr>
        <p:txBody>
          <a:bodyPr wrap="square"/>
          <a:lstStyle/>
          <a:p>
            <a:pPr algn="l"/>
            <a:r>
              <a:rPr sz="1200" b="1" i="0">
                <a:solidFill>
                  <a:srgbClr val="FFFFFF"/>
                </a:solidFill>
              </a:rPr>
              <a:t>Quiet UI</a:t>
            </a:r>
          </a:p>
        </p:txBody>
      </p:sp>
      <p:sp>
        <p:nvSpPr>
          <p:cNvPr id="8" name="Rectangle 7"/>
          <p:cNvSpPr/>
          <p:nvPr/>
        </p:nvSpPr>
        <p:spPr>
          <a:xfrm>
            <a:off x="548640" y="1554480"/>
            <a:ext cx="25146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2240280" cy="411480"/>
          </a:xfrm>
          <a:prstGeom prst="rect">
            <a:avLst/>
          </a:prstGeom>
          <a:noFill/>
        </p:spPr>
        <p:txBody>
          <a:bodyPr wrap="square"/>
          <a:lstStyle/>
          <a:p>
            <a:pPr algn="l"/>
            <a:r>
              <a:rPr sz="1000" b="0" i="0">
                <a:solidFill>
                  <a:srgbClr val="1A1A2E"/>
                </a:solidFill>
              </a:rPr>
              <a:t>CrowdStrike — gestión por excepción en SIEM</a:t>
            </a:r>
          </a:p>
        </p:txBody>
      </p:sp>
      <p:sp>
        <p:nvSpPr>
          <p:cNvPr id="11" name="Rectangle 10"/>
          <p:cNvSpPr/>
          <p:nvPr/>
        </p:nvSpPr>
        <p:spPr>
          <a:xfrm>
            <a:off x="548640" y="237744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86000"/>
            <a:ext cx="2240280" cy="411480"/>
          </a:xfrm>
          <a:prstGeom prst="rect">
            <a:avLst/>
          </a:prstGeom>
          <a:noFill/>
        </p:spPr>
        <p:txBody>
          <a:bodyPr wrap="square"/>
          <a:lstStyle/>
          <a:p>
            <a:pPr algn="l"/>
            <a:r>
              <a:rPr sz="1000" b="0" i="0">
                <a:solidFill>
                  <a:srgbClr val="1A1A2E"/>
                </a:solidFill>
              </a:rPr>
              <a:t>SentinelOne Storylines — silencio como default operativo</a:t>
            </a:r>
          </a:p>
        </p:txBody>
      </p:sp>
      <p:sp>
        <p:nvSpPr>
          <p:cNvPr id="13" name="Rectangle 12"/>
          <p:cNvSpPr/>
          <p:nvPr/>
        </p:nvSpPr>
        <p:spPr>
          <a:xfrm>
            <a:off x="548640" y="292608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34640"/>
            <a:ext cx="2240280" cy="411480"/>
          </a:xfrm>
          <a:prstGeom prst="rect">
            <a:avLst/>
          </a:prstGeom>
          <a:noFill/>
        </p:spPr>
        <p:txBody>
          <a:bodyPr wrap="square"/>
          <a:lstStyle/>
          <a:p>
            <a:pPr algn="l"/>
            <a:r>
              <a:rPr sz="1000" b="0" i="0">
                <a:solidFill>
                  <a:srgbClr val="1A1A2E"/>
                </a:solidFill>
              </a:rPr>
              <a:t>Linear — UI acromática con color solo en anomalías</a:t>
            </a:r>
          </a:p>
        </p:txBody>
      </p:sp>
      <p:sp>
        <p:nvSpPr>
          <p:cNvPr id="15" name="Rectangle 14"/>
          <p:cNvSpPr/>
          <p:nvPr/>
        </p:nvSpPr>
        <p:spPr>
          <a:xfrm>
            <a:off x="548640" y="347472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83280"/>
            <a:ext cx="2240280" cy="411480"/>
          </a:xfrm>
          <a:prstGeom prst="rect">
            <a:avLst/>
          </a:prstGeom>
          <a:noFill/>
        </p:spPr>
        <p:txBody>
          <a:bodyPr wrap="square"/>
          <a:lstStyle/>
          <a:p>
            <a:pPr algn="l"/>
            <a:r>
              <a:rPr sz="1000" b="0" i="0">
                <a:solidFill>
                  <a:srgbClr val="1A1A2E"/>
                </a:solidFill>
              </a:rPr>
              <a:t>Vercel v0 — señal mínima, zero noise</a:t>
            </a:r>
          </a:p>
        </p:txBody>
      </p:sp>
      <p:sp>
        <p:nvSpPr>
          <p:cNvPr id="17" name="Rectangle 16"/>
          <p:cNvSpPr/>
          <p:nvPr/>
        </p:nvSpPr>
        <p:spPr>
          <a:xfrm>
            <a:off x="3337560" y="1188720"/>
            <a:ext cx="269748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37560" y="1188720"/>
            <a:ext cx="269748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37560" y="1225296"/>
            <a:ext cx="2697480" cy="2926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9000" y="1261872"/>
            <a:ext cx="2514600" cy="228600"/>
          </a:xfrm>
          <a:prstGeom prst="rect">
            <a:avLst/>
          </a:prstGeom>
          <a:noFill/>
        </p:spPr>
        <p:txBody>
          <a:bodyPr wrap="square"/>
          <a:lstStyle/>
          <a:p>
            <a:pPr algn="l"/>
            <a:r>
              <a:rPr sz="1200" b="1" i="0">
                <a:solidFill>
                  <a:srgbClr val="FFFFFF"/>
                </a:solidFill>
              </a:rPr>
              <a:t>Clear Path</a:t>
            </a:r>
          </a:p>
        </p:txBody>
      </p:sp>
      <p:sp>
        <p:nvSpPr>
          <p:cNvPr id="21" name="Rectangle 20"/>
          <p:cNvSpPr/>
          <p:nvPr/>
        </p:nvSpPr>
        <p:spPr>
          <a:xfrm>
            <a:off x="3429000" y="1554480"/>
            <a:ext cx="25146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29000" y="182880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1737360"/>
            <a:ext cx="2240280" cy="411480"/>
          </a:xfrm>
          <a:prstGeom prst="rect">
            <a:avLst/>
          </a:prstGeom>
          <a:noFill/>
        </p:spPr>
        <p:txBody>
          <a:bodyPr wrap="square"/>
          <a:lstStyle/>
          <a:p>
            <a:pPr algn="l"/>
            <a:r>
              <a:rPr sz="1000" b="0" i="0">
                <a:solidFill>
                  <a:srgbClr val="1A1A2E"/>
                </a:solidFill>
              </a:rPr>
              <a:t>Vercel v0 — cada acción tiene paso siguiente claro</a:t>
            </a:r>
          </a:p>
        </p:txBody>
      </p:sp>
      <p:sp>
        <p:nvSpPr>
          <p:cNvPr id="24" name="Rectangle 23"/>
          <p:cNvSpPr/>
          <p:nvPr/>
        </p:nvSpPr>
        <p:spPr>
          <a:xfrm>
            <a:off x="3429000" y="237744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0440" y="2286000"/>
            <a:ext cx="2240280" cy="411480"/>
          </a:xfrm>
          <a:prstGeom prst="rect">
            <a:avLst/>
          </a:prstGeom>
          <a:noFill/>
        </p:spPr>
        <p:txBody>
          <a:bodyPr wrap="square"/>
          <a:lstStyle/>
          <a:p>
            <a:pPr algn="l"/>
            <a:r>
              <a:rPr sz="1000" b="0" i="0">
                <a:solidFill>
                  <a:srgbClr val="1A1A2E"/>
                </a:solidFill>
              </a:rPr>
              <a:t>Discord — copiloto conversacional integrado al flujo</a:t>
            </a:r>
          </a:p>
        </p:txBody>
      </p:sp>
      <p:sp>
        <p:nvSpPr>
          <p:cNvPr id="26" name="Rectangle 25"/>
          <p:cNvSpPr/>
          <p:nvPr/>
        </p:nvSpPr>
        <p:spPr>
          <a:xfrm>
            <a:off x="3429000" y="292608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40" y="2834640"/>
            <a:ext cx="2240280" cy="411480"/>
          </a:xfrm>
          <a:prstGeom prst="rect">
            <a:avLst/>
          </a:prstGeom>
          <a:noFill/>
        </p:spPr>
        <p:txBody>
          <a:bodyPr wrap="square"/>
          <a:lstStyle/>
          <a:p>
            <a:pPr algn="l"/>
            <a:r>
              <a:rPr sz="1000" b="0" i="0">
                <a:solidFill>
                  <a:srgbClr val="1A1A2E"/>
                </a:solidFill>
              </a:rPr>
              <a:t>Compound — recomendación proactiva contextual</a:t>
            </a:r>
          </a:p>
        </p:txBody>
      </p:sp>
      <p:sp>
        <p:nvSpPr>
          <p:cNvPr id="28" name="Rectangle 27"/>
          <p:cNvSpPr/>
          <p:nvPr/>
        </p:nvSpPr>
        <p:spPr>
          <a:xfrm>
            <a:off x="3429000" y="3474720"/>
            <a:ext cx="64008"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3383280"/>
            <a:ext cx="2240280" cy="411480"/>
          </a:xfrm>
          <a:prstGeom prst="rect">
            <a:avLst/>
          </a:prstGeom>
          <a:noFill/>
        </p:spPr>
        <p:txBody>
          <a:bodyPr wrap="square"/>
          <a:lstStyle/>
          <a:p>
            <a:pPr algn="l"/>
            <a:r>
              <a:rPr sz="1000" b="0" i="0">
                <a:solidFill>
                  <a:srgbClr val="1A1A2E"/>
                </a:solidFill>
              </a:rPr>
              <a:t>SentinelOne Purple AI — prescripción, no diagnóstico</a:t>
            </a:r>
          </a:p>
        </p:txBody>
      </p:sp>
      <p:sp>
        <p:nvSpPr>
          <p:cNvPr id="30" name="Rectangle 29"/>
          <p:cNvSpPr/>
          <p:nvPr/>
        </p:nvSpPr>
        <p:spPr>
          <a:xfrm>
            <a:off x="6217920" y="1188720"/>
            <a:ext cx="269748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1188720"/>
            <a:ext cx="269748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1225296"/>
            <a:ext cx="269748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1261872"/>
            <a:ext cx="2514600" cy="228600"/>
          </a:xfrm>
          <a:prstGeom prst="rect">
            <a:avLst/>
          </a:prstGeom>
          <a:noFill/>
        </p:spPr>
        <p:txBody>
          <a:bodyPr wrap="square"/>
          <a:lstStyle/>
          <a:p>
            <a:pPr algn="l"/>
            <a:r>
              <a:rPr sz="1200" b="1" i="0">
                <a:solidFill>
                  <a:srgbClr val="FFFFFF"/>
                </a:solidFill>
              </a:rPr>
              <a:t>Time Sight</a:t>
            </a:r>
          </a:p>
        </p:txBody>
      </p:sp>
      <p:sp>
        <p:nvSpPr>
          <p:cNvPr id="34" name="Rectangle 33"/>
          <p:cNvSpPr/>
          <p:nvPr/>
        </p:nvSpPr>
        <p:spPr>
          <a:xfrm>
            <a:off x="6309360" y="1554480"/>
            <a:ext cx="25146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1828800"/>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1737360"/>
            <a:ext cx="2240280" cy="411480"/>
          </a:xfrm>
          <a:prstGeom prst="rect">
            <a:avLst/>
          </a:prstGeom>
          <a:noFill/>
        </p:spPr>
        <p:txBody>
          <a:bodyPr wrap="square"/>
          <a:lstStyle/>
          <a:p>
            <a:pPr algn="l"/>
            <a:r>
              <a:rPr sz="1000" b="0" i="0">
                <a:solidFill>
                  <a:srgbClr val="1A1A2E"/>
                </a:solidFill>
              </a:rPr>
              <a:t>Chronosphere — trazabilidad temporal y causal</a:t>
            </a:r>
          </a:p>
        </p:txBody>
      </p:sp>
      <p:sp>
        <p:nvSpPr>
          <p:cNvPr id="37" name="Rectangle 36"/>
          <p:cNvSpPr/>
          <p:nvPr/>
        </p:nvSpPr>
        <p:spPr>
          <a:xfrm>
            <a:off x="6309360" y="2377440"/>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2286000"/>
            <a:ext cx="2240280" cy="411480"/>
          </a:xfrm>
          <a:prstGeom prst="rect">
            <a:avLst/>
          </a:prstGeom>
          <a:noFill/>
        </p:spPr>
        <p:txBody>
          <a:bodyPr wrap="square"/>
          <a:lstStyle/>
          <a:p>
            <a:pPr algn="l"/>
            <a:r>
              <a:rPr sz="1000" b="0" i="0">
                <a:solidFill>
                  <a:srgbClr val="1A1A2E"/>
                </a:solidFill>
              </a:rPr>
              <a:t>SentinelOne Storylines — cadena causal visual completa</a:t>
            </a:r>
          </a:p>
        </p:txBody>
      </p:sp>
      <p:sp>
        <p:nvSpPr>
          <p:cNvPr id="39" name="Rectangle 38"/>
          <p:cNvSpPr/>
          <p:nvPr/>
        </p:nvSpPr>
        <p:spPr>
          <a:xfrm>
            <a:off x="6309360" y="2926080"/>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2834640"/>
            <a:ext cx="2240280" cy="411480"/>
          </a:xfrm>
          <a:prstGeom prst="rect">
            <a:avLst/>
          </a:prstGeom>
          <a:noFill/>
        </p:spPr>
        <p:txBody>
          <a:bodyPr wrap="square"/>
          <a:lstStyle/>
          <a:p>
            <a:pPr algn="l"/>
            <a:r>
              <a:rPr sz="1000" b="0" i="0">
                <a:solidFill>
                  <a:srgbClr val="1A1A2E"/>
                </a:solidFill>
              </a:rPr>
              <a:t>Tesla Fleet — historial y predicción unificados</a:t>
            </a:r>
          </a:p>
        </p:txBody>
      </p:sp>
      <p:sp>
        <p:nvSpPr>
          <p:cNvPr id="41" name="Rectangle 40"/>
          <p:cNvSpPr/>
          <p:nvPr/>
        </p:nvSpPr>
        <p:spPr>
          <a:xfrm>
            <a:off x="6309360" y="3474720"/>
            <a:ext cx="64008"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3383280"/>
            <a:ext cx="2240280" cy="411480"/>
          </a:xfrm>
          <a:prstGeom prst="rect">
            <a:avLst/>
          </a:prstGeom>
          <a:noFill/>
        </p:spPr>
        <p:txBody>
          <a:bodyPr wrap="square"/>
          <a:lstStyle/>
          <a:p>
            <a:pPr algn="l"/>
            <a:r>
              <a:rPr sz="1000" b="0" i="0">
                <a:solidFill>
                  <a:srgbClr val="1A1A2E"/>
                </a:solidFill>
              </a:rPr>
              <a:t>Datadog Bits AI — correlación temporal automática</a:t>
            </a:r>
          </a:p>
        </p:txBody>
      </p:sp>
      <p:sp>
        <p:nvSpPr>
          <p:cNvPr id="43" name="Rectangle 42"/>
          <p:cNvSpPr/>
          <p:nvPr/>
        </p:nvSpPr>
        <p:spPr>
          <a:xfrm>
            <a:off x="9098280" y="1188720"/>
            <a:ext cx="2697480" cy="50292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98280" y="1188720"/>
            <a:ext cx="269748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98280" y="1225296"/>
            <a:ext cx="2697480" cy="2926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9720" y="1261872"/>
            <a:ext cx="2514600" cy="228600"/>
          </a:xfrm>
          <a:prstGeom prst="rect">
            <a:avLst/>
          </a:prstGeom>
          <a:noFill/>
        </p:spPr>
        <p:txBody>
          <a:bodyPr wrap="square"/>
          <a:lstStyle/>
          <a:p>
            <a:pPr algn="l"/>
            <a:r>
              <a:rPr sz="1200" b="1" i="0">
                <a:solidFill>
                  <a:srgbClr val="FFFFFF"/>
                </a:solidFill>
              </a:rPr>
              <a:t>Omni Sense</a:t>
            </a:r>
          </a:p>
        </p:txBody>
      </p:sp>
      <p:sp>
        <p:nvSpPr>
          <p:cNvPr id="47" name="Rectangle 46"/>
          <p:cNvSpPr/>
          <p:nvPr/>
        </p:nvSpPr>
        <p:spPr>
          <a:xfrm>
            <a:off x="9189720" y="1554480"/>
            <a:ext cx="2514600" cy="3657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89720" y="182880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81160" y="1737360"/>
            <a:ext cx="2240280" cy="411480"/>
          </a:xfrm>
          <a:prstGeom prst="rect">
            <a:avLst/>
          </a:prstGeom>
          <a:noFill/>
        </p:spPr>
        <p:txBody>
          <a:bodyPr wrap="square"/>
          <a:lstStyle/>
          <a:p>
            <a:pPr algn="l"/>
            <a:r>
              <a:rPr sz="1000" b="0" i="0">
                <a:solidFill>
                  <a:srgbClr val="1A1A2E"/>
                </a:solidFill>
              </a:rPr>
              <a:t>Samsara — push contextual por zona y perfil</a:t>
            </a:r>
          </a:p>
        </p:txBody>
      </p:sp>
      <p:sp>
        <p:nvSpPr>
          <p:cNvPr id="50" name="Rectangle 49"/>
          <p:cNvSpPr/>
          <p:nvPr/>
        </p:nvSpPr>
        <p:spPr>
          <a:xfrm>
            <a:off x="9189720" y="237744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81160" y="2286000"/>
            <a:ext cx="2240280" cy="411480"/>
          </a:xfrm>
          <a:prstGeom prst="rect">
            <a:avLst/>
          </a:prstGeom>
          <a:noFill/>
        </p:spPr>
        <p:txBody>
          <a:bodyPr wrap="square"/>
          <a:lstStyle/>
          <a:p>
            <a:pPr algn="l"/>
            <a:r>
              <a:rPr sz="1000" b="0" i="0">
                <a:solidFill>
                  <a:srgbClr val="1A1A2E"/>
                </a:solidFill>
              </a:rPr>
              <a:t>Motive — interfaz multimodal en terreno</a:t>
            </a:r>
          </a:p>
        </p:txBody>
      </p:sp>
      <p:sp>
        <p:nvSpPr>
          <p:cNvPr id="52" name="Rectangle 51"/>
          <p:cNvSpPr/>
          <p:nvPr/>
        </p:nvSpPr>
        <p:spPr>
          <a:xfrm>
            <a:off x="9189720" y="292608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81160" y="2834640"/>
            <a:ext cx="2240280" cy="411480"/>
          </a:xfrm>
          <a:prstGeom prst="rect">
            <a:avLst/>
          </a:prstGeom>
          <a:noFill/>
        </p:spPr>
        <p:txBody>
          <a:bodyPr wrap="square"/>
          <a:lstStyle/>
          <a:p>
            <a:pPr algn="l"/>
            <a:r>
              <a:rPr sz="1000" b="0" i="0">
                <a:solidFill>
                  <a:srgbClr val="1A1A2E"/>
                </a:solidFill>
              </a:rPr>
              <a:t>Anduril Lattice — fusión multisensor en tiempo real</a:t>
            </a:r>
          </a:p>
        </p:txBody>
      </p:sp>
      <p:sp>
        <p:nvSpPr>
          <p:cNvPr id="54" name="Rectangle 53"/>
          <p:cNvSpPr/>
          <p:nvPr/>
        </p:nvSpPr>
        <p:spPr>
          <a:xfrm>
            <a:off x="9189720" y="3474720"/>
            <a:ext cx="64008" cy="640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81160" y="3383280"/>
            <a:ext cx="2240280" cy="411480"/>
          </a:xfrm>
          <a:prstGeom prst="rect">
            <a:avLst/>
          </a:prstGeom>
          <a:noFill/>
        </p:spPr>
        <p:txBody>
          <a:bodyPr wrap="square"/>
          <a:lstStyle/>
          <a:p>
            <a:pPr algn="l"/>
            <a:r>
              <a:rPr sz="1000" b="0" i="0">
                <a:solidFill>
                  <a:srgbClr val="1A1A2E"/>
                </a:solidFill>
              </a:rPr>
              <a:t>SentinelOne Purple AI — respuesta por canal correcto</a:t>
            </a:r>
          </a:p>
        </p:txBody>
      </p:sp>
      <p:sp>
        <p:nvSpPr>
          <p:cNvPr id="56" name="Rectangle 55"/>
          <p:cNvSpPr/>
          <p:nvPr/>
        </p:nvSpPr>
        <p:spPr>
          <a:xfrm>
            <a:off x="457200" y="6309360"/>
            <a:ext cx="1124712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6400800"/>
            <a:ext cx="11064240" cy="228600"/>
          </a:xfrm>
          <a:prstGeom prst="rect">
            <a:avLst/>
          </a:prstGeom>
          <a:noFill/>
        </p:spPr>
        <p:txBody>
          <a:bodyPr wrap="square"/>
          <a:lstStyle/>
          <a:p>
            <a:pPr algn="l"/>
            <a:r>
              <a:rPr sz="1000" b="0" i="0">
                <a:solidFill>
                  <a:srgbClr val="6B7280"/>
                </a:solidFill>
              </a:rPr>
              <a:t>Nota: Estos benchmarks no se eliminan — se complementan con las nuevas slides por cruce pilar × dominio.</a:t>
            </a:r>
          </a:p>
        </p:txBody>
      </p:sp>
      <p:sp>
        <p:nvSpPr>
          <p:cNvPr id="58" name="TextBox 57"/>
          <p:cNvSpPr txBox="1"/>
          <p:nvPr/>
        </p:nvSpPr>
        <p:spPr>
          <a:xfrm>
            <a:off x="11643055" y="6537960"/>
            <a:ext cx="457200" cy="228600"/>
          </a:xfrm>
          <a:prstGeom prst="rect">
            <a:avLst/>
          </a:prstGeom>
          <a:noFill/>
        </p:spPr>
        <p:txBody>
          <a:bodyPr wrap="square"/>
          <a:lstStyle/>
          <a:p>
            <a:pPr algn="l"/>
            <a:r>
              <a:rPr sz="1000" b="0" i="0">
                <a:solidFill>
                  <a:srgbClr val="6B7280"/>
                </a:solidFil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91695" cy="6400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73152" cy="6729984"/>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45920"/>
            <a:ext cx="10058400" cy="548640"/>
          </a:xfrm>
          <a:prstGeom prst="rect">
            <a:avLst/>
          </a:prstGeom>
          <a:noFill/>
        </p:spPr>
        <p:txBody>
          <a:bodyPr wrap="square"/>
          <a:lstStyle/>
          <a:p>
            <a:pPr algn="l"/>
            <a:r>
              <a:rPr sz="1400" b="1" i="0">
                <a:solidFill>
                  <a:srgbClr val="6B7280"/>
                </a:solidFill>
              </a:rPr>
              <a:t>TIMINING CORE</a:t>
            </a:r>
          </a:p>
        </p:txBody>
      </p:sp>
      <p:sp>
        <p:nvSpPr>
          <p:cNvPr id="6" name="TextBox 5"/>
          <p:cNvSpPr txBox="1"/>
          <p:nvPr/>
        </p:nvSpPr>
        <p:spPr>
          <a:xfrm>
            <a:off x="1097280" y="2194560"/>
            <a:ext cx="10058400" cy="731520"/>
          </a:xfrm>
          <a:prstGeom prst="rect">
            <a:avLst/>
          </a:prstGeom>
          <a:noFill/>
        </p:spPr>
        <p:txBody>
          <a:bodyPr wrap="square"/>
          <a:lstStyle/>
          <a:p>
            <a:pPr algn="l"/>
            <a:r>
              <a:rPr sz="4200" b="1" i="0">
                <a:solidFill>
                  <a:srgbClr val="1A1A2E"/>
                </a:solidFill>
              </a:rPr>
              <a:t>La inteligencia que transforma</a:t>
            </a:r>
          </a:p>
        </p:txBody>
      </p:sp>
      <p:sp>
        <p:nvSpPr>
          <p:cNvPr id="7" name="TextBox 6"/>
          <p:cNvSpPr txBox="1"/>
          <p:nvPr/>
        </p:nvSpPr>
        <p:spPr>
          <a:xfrm>
            <a:off x="1097280" y="2926080"/>
            <a:ext cx="10058400" cy="731520"/>
          </a:xfrm>
          <a:prstGeom prst="rect">
            <a:avLst/>
          </a:prstGeom>
          <a:noFill/>
        </p:spPr>
        <p:txBody>
          <a:bodyPr wrap="square"/>
          <a:lstStyle/>
          <a:p>
            <a:pPr algn="l"/>
            <a:r>
              <a:rPr sz="4200" b="1" i="0">
                <a:solidFill>
                  <a:srgbClr val="0891B2"/>
                </a:solidFill>
              </a:rPr>
              <a:t>la operación en decisión.</a:t>
            </a:r>
          </a:p>
        </p:txBody>
      </p:sp>
      <p:sp>
        <p:nvSpPr>
          <p:cNvPr id="8" name="Rectangle 7"/>
          <p:cNvSpPr/>
          <p:nvPr/>
        </p:nvSpPr>
        <p:spPr>
          <a:xfrm>
            <a:off x="1097280" y="3749040"/>
            <a:ext cx="10058400" cy="36576"/>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840480"/>
            <a:ext cx="10058400" cy="457200"/>
          </a:xfrm>
          <a:prstGeom prst="rect">
            <a:avLst/>
          </a:prstGeom>
          <a:noFill/>
        </p:spPr>
        <p:txBody>
          <a:bodyPr wrap="square"/>
          <a:lstStyle/>
          <a:p>
            <a:pPr algn="l"/>
            <a:r>
              <a:rPr sz="1600" b="0" i="0">
                <a:solidFill>
                  <a:srgbClr val="6B7280"/>
                </a:solidFill>
              </a:rPr>
              <a:t>Touchpoint 2 — Semana 5</a:t>
            </a:r>
          </a:p>
        </p:txBody>
      </p:sp>
      <p:sp>
        <p:nvSpPr>
          <p:cNvPr id="10" name="TextBox 9"/>
          <p:cNvSpPr txBox="1"/>
          <p:nvPr/>
        </p:nvSpPr>
        <p:spPr>
          <a:xfrm>
            <a:off x="1097280" y="4388160"/>
            <a:ext cx="10058400" cy="365760"/>
          </a:xfrm>
          <a:prstGeom prst="rect">
            <a:avLst/>
          </a:prstGeom>
          <a:noFill/>
        </p:spPr>
        <p:txBody>
          <a:bodyPr wrap="square"/>
          <a:lstStyle/>
          <a:p>
            <a:pPr algn="l"/>
            <a:r>
              <a:rPr sz="1100" b="1" i="0">
                <a:solidFill>
                  <a:srgbClr val="6B7280"/>
                </a:solidFill>
              </a:rPr>
              <a:t>IDEMAX</a:t>
            </a:r>
          </a:p>
        </p:txBody>
      </p:sp>
      <p:sp>
        <p:nvSpPr>
          <p:cNvPr id="11" name="TextBox 10"/>
          <p:cNvSpPr txBox="1"/>
          <p:nvPr/>
        </p:nvSpPr>
        <p:spPr>
          <a:xfrm>
            <a:off x="11643055" y="6537960"/>
            <a:ext cx="457200" cy="228600"/>
          </a:xfrm>
          <a:prstGeom prst="rect">
            <a:avLst/>
          </a:prstGeom>
          <a:noFill/>
        </p:spPr>
        <p:txBody>
          <a:bodyPr wrap="square"/>
          <a:lstStyle/>
          <a:p>
            <a:pPr algn="l"/>
            <a:r>
              <a:rPr sz="1000" b="0" i="0">
                <a:solidFill>
                  <a:srgbClr val="6B7280"/>
                </a:solidFill>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